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Begrüßung: Mein Name ist [Name]. Ich präsentiere Kapitel 2 meiner Diplomarbeit: das hybride 12-V-Energiesystem für unseren Gewächshausprototyp. In den nächsten 7 Minuten erkläre ich: Warum PV-Hybrid? Wie haben wir dimensioniert? Welche Komponenten und Batterietechnologien wurden gewählt? Und lohnt sich das wirtschaftlich?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Erklärung: Das System versorgt einen 0,7-m²-Gewächshausprototyp. Das PV-Modul speist über den MPPT-Laderegler in die Batterie, der MultiPlus ist Wechselrichter + Ladegerät + Netzumschalter in einem. Der Cerbo GX sammelt alle Daten via MQTT.
Warum PV-Hybrid? Alle Alternativen wurden bewertet: Wärmequellen liefern keinen Strom, Kleinwind ist genehmigungspflichtig, reiner Netzbezug ist teurer. PV erzeugt direkt Strom, ist wartungsarm und skalierbar – mit Netz-Backup für den Winter.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Energiebedarf von ~780 Wh/Tag inkl. 20% Puffer bildet die Dimensionierungsgrundlage.
Das 180-W-PV-Modul liefert im Sommer das 1,7-fache des Bedarfs – Batterie wird täglich vollgeladen. Im Winter (bewölkt) nur 180 Wh – Differenz aus Batterie oder Netz.
Batterie: 1.200 Wh Nennkapazität, aber max. 50% Entladetiefe → 600 Wh nutzbar. Worst-Case: 3 bewölkte Tage → Tag 3 greift Netz-Backup.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Kernkomponenten wurden vom Projektsponsor bereitgestellt – daher Victron-Ökosystem. Alle kommunizieren über VE.Direct/VE.Bus mit dem Cerbo GX → MQTT an die App.
Batterieentscheidung: LiFePO4 wäre langfristig wirtschaftlicher (4000+ Zyklen, 100% nutzbar), aber darf unter 0°C nicht geladen werden – ohne Heizlösung nicht outdoor-tauglich. AGM funktioniert bis -20°C, ist hochstromfähig für MultiPlus-Anlauf, wartungsfrei und ohne BMS.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Fallbeispiel: 10 m² Dach, 2 kWp, Tirol.
4.800 € Investition → 4.132 kWh/Jahr → 1.033 € Einsparung bei 0,25 €/kWh → ROI 21,5 %, Amortisation 4,6 Jahre.
LCOE 0,08–0,12 €/kWh vs. 0,25 €/kWh Netzbezug – klarer Vorteil.
Hybridsystem ist optimal: gleiche Amortisation wie Insellösung, aber gesicherter Winterbetrieb. Netzeinspeisung lohnt sich kaum (6 ct/kWh Vergütung vs. 25 ct/kWh Eigenverbrauch).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Systemaufbau: PV über MPPT in Schrank, Netz als Backup über MultiPlus. Cerbo GX sendet Daten per MQTT. Hochstrom: 6mm², 230V: 1,5mm², abgesichert mit 30A.
Erreichte Ziele: Planung, Auslegung, Wirtschaftlichkeit vollständig. Schaltschrank betriebsbereit. Leider kein Testbetrieb möglich – Lieferverzögerungen (Batterie beschädigt, Sponsorkomponenten verzögert).
Ausblick: Validierung unter realen Bedingungen, Skalierung, optional Kleinwind, intelligente Laststeuerung via MQTT.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E22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109728" cy="5143500"/>
          </a:xfrm>
          <a:prstGeom prst="rect">
            <a:avLst/>
          </a:prstGeom>
          <a:solidFill>
            <a:srgbClr val="3AAA35"/>
          </a:solidFill>
          <a:ln/>
        </p:spPr>
      </p:sp>
      <p:sp>
        <p:nvSpPr>
          <p:cNvPr id="4" name="Shape 2"/>
          <p:cNvSpPr/>
          <p:nvPr/>
        </p:nvSpPr>
        <p:spPr>
          <a:xfrm>
            <a:off x="6995160" y="640080"/>
            <a:ext cx="1645920" cy="1645920"/>
          </a:xfrm>
          <a:prstGeom prst="ellipse">
            <a:avLst/>
          </a:prstGeom>
          <a:solidFill>
            <a:srgbClr val="1D4034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0" y="7315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5A62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☀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995160" y="2468880"/>
            <a:ext cx="1645920" cy="1645920"/>
          </a:xfrm>
          <a:prstGeom prst="ellipse">
            <a:avLst/>
          </a:prstGeom>
          <a:solidFill>
            <a:srgbClr val="1D4034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25603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🔋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Energiesystem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200400" cy="64008"/>
          </a:xfrm>
          <a:prstGeom prst="rect">
            <a:avLst/>
          </a:prstGeom>
          <a:solidFill>
            <a:srgbClr val="3AAA3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0136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Hybrides 12-V-PV-Energiesystem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D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einen Gewächshausprototyp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371600" cy="347472"/>
          </a:xfrm>
          <a:prstGeom prst="rect">
            <a:avLst>
              <a:gd name="adj" fmla="val 13158"/>
            </a:avLst>
          </a:prstGeom>
          <a:solidFill>
            <a:srgbClr val="3AAA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Diplomarbeit · HTL Anichstraße · 5. Jahrgang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Systemüberblick &amp; Energiequellenwahl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2.1 · 2.2 · 2.2.3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Energiesystem · Kap.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920240" cy="640080"/>
          </a:xfrm>
          <a:prstGeom prst="rect">
            <a:avLst/>
          </a:prstGeom>
          <a:solidFill>
            <a:srgbClr val="3AAA3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PV-Modul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W · 12 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1737360"/>
            <a:ext cx="0" cy="32004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057400"/>
            <a:ext cx="1920240" cy="594360"/>
          </a:xfrm>
          <a:prstGeom prst="rect">
            <a:avLst/>
          </a:prstGeom>
          <a:solidFill>
            <a:srgbClr val="1A4D7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057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Victron MultiPlus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12/800 (WR + Ladegerät)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350008"/>
            <a:ext cx="41148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057400"/>
            <a:ext cx="1645920" cy="594360"/>
          </a:xfrm>
          <a:prstGeom prst="rect">
            <a:avLst/>
          </a:prstGeom>
          <a:solidFill>
            <a:srgbClr val="7B4F1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2057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AGM Batterie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Ah · 12 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34440" y="2651760"/>
            <a:ext cx="0" cy="32004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71800"/>
            <a:ext cx="1920240" cy="5943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971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Gewächshaus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Sensorik · Pumpen · LEDs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2834640"/>
            <a:ext cx="1645920" cy="502920"/>
          </a:xfrm>
          <a:prstGeom prst="rect">
            <a:avLst/>
          </a:prstGeom>
          <a:solidFill>
            <a:srgbClr val="4A556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06040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Cerbo GX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· MQTT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" y="2176272"/>
            <a:ext cx="22860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215798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2350008"/>
            <a:ext cx="-18288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3152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Netz-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98448" y="1755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1005840"/>
            <a:ext cx="0" cy="384048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05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PV-Hybrid?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141732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417320"/>
            <a:ext cx="54864" cy="65836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5270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1481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Wärmepumpe / Biomasse / Fernwärme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17373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Strom – ungeeignet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18541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185416"/>
            <a:ext cx="54864" cy="65836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2951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57800" y="22494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Kleinwindanlage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25054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Genehmigungspflichtig, standortabhängig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95351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953512"/>
            <a:ext cx="54864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063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57800" y="30175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Reiner Netzbezug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3273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 Betriebskosten, keine Eigenproduktion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721608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721608"/>
            <a:ext cx="54864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8313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57800" y="3785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PV-Hybridsystem 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4041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Direktstrom, skalierbar, Netz-Backup im Winter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Systemauslegung &amp; Dimensionierung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2.3 – Energiebedarf · PV · Batterie · Worst-Case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Energiesystem · Kap.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Energiebedarf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Cerbo GX + MultiPlus Standby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09344"/>
            <a:ext cx="3200400" cy="20116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609344"/>
            <a:ext cx="1184148" cy="20116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609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Wh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8836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Sensoren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3200400" cy="20116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121408"/>
            <a:ext cx="384048" cy="201168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1214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Wh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LED-Beleuchtung (2 h)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3200400" cy="20116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633472"/>
            <a:ext cx="480060" cy="201168"/>
          </a:xfrm>
          <a:prstGeom prst="rect">
            <a:avLst/>
          </a:prstGeom>
          <a:solidFill>
            <a:srgbClr val="3AAA35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633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Wh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Heizlüfter (1 h)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3200400" cy="20116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145536"/>
            <a:ext cx="416052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Wh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4198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Sicherheitspuffer 20 %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3200400" cy="20116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657600"/>
            <a:ext cx="736092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657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Wh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977640"/>
            <a:ext cx="3840480" cy="384048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3977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Gesamt: ~780 Wh/Tag (inkl. 20 % Puffer)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1005840"/>
            <a:ext cx="0" cy="384048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0241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PV-Ertrag (saisonal)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80560" y="13898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 (sonnig)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1618488"/>
            <a:ext cx="3200400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0560" y="1618488"/>
            <a:ext cx="3200400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7726680" y="1618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1350 Wh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19751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(sonnig)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2203704"/>
            <a:ext cx="3200400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7" name="Shape 35"/>
          <p:cNvSpPr/>
          <p:nvPr/>
        </p:nvSpPr>
        <p:spPr>
          <a:xfrm>
            <a:off x="4480560" y="2203704"/>
            <a:ext cx="1056132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7726680" y="2203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Wh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80560" y="2560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(bewölkt)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80560" y="2788920"/>
            <a:ext cx="3200400" cy="25603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1" name="Shape 39"/>
          <p:cNvSpPr/>
          <p:nvPr/>
        </p:nvSpPr>
        <p:spPr>
          <a:xfrm>
            <a:off x="4480560" y="2788920"/>
            <a:ext cx="41605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7726680" y="2788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Wh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32552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&amp; Autonomie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480560" y="3584448"/>
            <a:ext cx="4343400" cy="329184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3584448"/>
            <a:ext cx="54864" cy="329184"/>
          </a:xfrm>
          <a:prstGeom prst="rect">
            <a:avLst/>
          </a:prstGeom>
          <a:solidFill>
            <a:srgbClr val="3AAA35"/>
          </a:solidFill>
          <a:ln/>
        </p:spPr>
      </p:sp>
      <p:sp>
        <p:nvSpPr>
          <p:cNvPr id="46" name="Text 44"/>
          <p:cNvSpPr/>
          <p:nvPr/>
        </p:nvSpPr>
        <p:spPr>
          <a:xfrm>
            <a:off x="4590288" y="3630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Nennkapazität: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36301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 Wh (100 Ah · 12 V)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80560" y="3968496"/>
            <a:ext cx="4343400" cy="329184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3968496"/>
            <a:ext cx="54864" cy="329184"/>
          </a:xfrm>
          <a:prstGeom prst="rect">
            <a:avLst/>
          </a:prstGeom>
          <a:solidFill>
            <a:srgbClr val="3AAA35"/>
          </a:solidFill>
          <a:ln/>
        </p:spPr>
      </p:sp>
      <p:sp>
        <p:nvSpPr>
          <p:cNvPr id="50" name="Text 48"/>
          <p:cNvSpPr/>
          <p:nvPr/>
        </p:nvSpPr>
        <p:spPr>
          <a:xfrm>
            <a:off x="4590288" y="40142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Nutzbar (50 % DoD):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4014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Wh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80560" y="4352544"/>
            <a:ext cx="4343400" cy="329184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53" name="Shape 51"/>
          <p:cNvSpPr/>
          <p:nvPr/>
        </p:nvSpPr>
        <p:spPr>
          <a:xfrm>
            <a:off x="4480560" y="4352544"/>
            <a:ext cx="54864" cy="329184"/>
          </a:xfrm>
          <a:prstGeom prst="rect">
            <a:avLst/>
          </a:prstGeom>
          <a:solidFill>
            <a:srgbClr val="3AAA35"/>
          </a:solidFill>
          <a:ln/>
        </p:spPr>
      </p:sp>
      <p:sp>
        <p:nvSpPr>
          <p:cNvPr id="54" name="Text 52"/>
          <p:cNvSpPr/>
          <p:nvPr/>
        </p:nvSpPr>
        <p:spPr>
          <a:xfrm>
            <a:off x="4590288" y="43982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Notbetrieb: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0" y="43982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 Tage (380 Wh/Tag)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80560" y="4736592"/>
            <a:ext cx="4343400" cy="329184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57" name="Shape 55"/>
          <p:cNvSpPr/>
          <p:nvPr/>
        </p:nvSpPr>
        <p:spPr>
          <a:xfrm>
            <a:off x="4480560" y="4736592"/>
            <a:ext cx="54864" cy="329184"/>
          </a:xfrm>
          <a:prstGeom prst="rect">
            <a:avLst/>
          </a:prstGeom>
          <a:solidFill>
            <a:srgbClr val="3AAA35"/>
          </a:solidFill>
          <a:ln/>
        </p:spPr>
      </p:sp>
      <p:sp>
        <p:nvSpPr>
          <p:cNvPr id="58" name="Text 56"/>
          <p:cNvSpPr/>
          <p:nvPr/>
        </p:nvSpPr>
        <p:spPr>
          <a:xfrm>
            <a:off x="4590288" y="47823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Netz-Backup ab: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47823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~20 % Ladezustand (Tag 3)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Systemkomponenten &amp; Batterietechnologien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2.4 · 2.5 – Victron-Ökosystem · AGM vs. LiFePO₄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Energiesystem · Kap.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Victron-Ökosystem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0690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89888"/>
            <a:ext cx="54864" cy="576072"/>
          </a:xfrm>
          <a:prstGeom prst="rect">
            <a:avLst/>
          </a:prstGeom>
          <a:solidFill>
            <a:srgbClr val="1A4D7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4630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453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MultiPlus 12/800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 700 W · Ladegerät 35 A · Netz-Backup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48256"/>
            <a:ext cx="40690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48256"/>
            <a:ext cx="54864" cy="576072"/>
          </a:xfrm>
          <a:prstGeom prst="rect">
            <a:avLst/>
          </a:prstGeom>
          <a:solidFill>
            <a:srgbClr val="2D7A1A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12140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" y="21122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MPPT 100/20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23408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Wirkungsgrad 98 % · 30 % Mehrertrag vs. PWM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06624"/>
            <a:ext cx="40690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06624"/>
            <a:ext cx="54864" cy="576072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77977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" y="2770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SmartShunt 500 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" y="2999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SoC-Berechnung · ±0,4 % Genauigkeit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40690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64992"/>
            <a:ext cx="54864" cy="57607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43814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0392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Cerbo GX + GX Touch 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" y="3657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· VRM-Portal · VE.Bus/VE.Direct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023360"/>
            <a:ext cx="40690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023360"/>
            <a:ext cx="54864" cy="576072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09651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0392" y="4087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12/12-9 DC/DC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" y="43159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Galv. Trennung · Sensorikversorgung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80560" y="1005840"/>
            <a:ext cx="0" cy="384048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0241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Batterietechnologie im Vergleich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17720" y="1389888"/>
            <a:ext cx="1463040" cy="32004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3898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Kriterium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1389888"/>
            <a:ext cx="1005840" cy="32004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13898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86600" y="1389888"/>
            <a:ext cx="1005840" cy="32004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0" y="13898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92440" y="1389888"/>
            <a:ext cx="100584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1" name="Text 39"/>
          <p:cNvSpPr/>
          <p:nvPr/>
        </p:nvSpPr>
        <p:spPr>
          <a:xfrm>
            <a:off x="8138160" y="13898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LiFePO₄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1709928"/>
            <a:ext cx="14630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2584" y="170992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Zyklen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0760" y="1709928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35624" y="170992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500–600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086600" y="1709928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41464" y="170992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700–800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092440" y="1709928"/>
            <a:ext cx="1005840" cy="347472"/>
          </a:xfrm>
          <a:prstGeom prst="rect">
            <a:avLst/>
          </a:prstGeom>
          <a:solidFill>
            <a:srgbClr val="EAF7E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47304" y="170992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4.000 ✓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17720" y="205740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72584" y="20574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Nutzb. Kap.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80760" y="205740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35624" y="205740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086600" y="205740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1464" y="205740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092440" y="2057400"/>
            <a:ext cx="1005840" cy="347472"/>
          </a:xfrm>
          <a:prstGeom prst="rect">
            <a:avLst/>
          </a:prstGeom>
          <a:solidFill>
            <a:srgbClr val="EAF7E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47304" y="205740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✓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17720" y="2404872"/>
            <a:ext cx="14630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2584" y="2404872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Lebensdauer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80760" y="2404872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35624" y="240487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Jahre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086600" y="2404872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41464" y="240487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Jahre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092440" y="2404872"/>
            <a:ext cx="1005840" cy="347472"/>
          </a:xfrm>
          <a:prstGeom prst="rect">
            <a:avLst/>
          </a:prstGeom>
          <a:solidFill>
            <a:srgbClr val="EAF7E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47304" y="240487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 Jahre ✓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617720" y="275234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72584" y="275234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Laden &lt;0 °C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080760" y="275234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35624" y="2752344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✓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086600" y="275234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41464" y="2752344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✓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092440" y="2752344"/>
            <a:ext cx="1005840" cy="347472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47304" y="2752344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✗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617720" y="3099816"/>
            <a:ext cx="14630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72584" y="309981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080760" y="3099816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35624" y="309981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✓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086600" y="3099816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41464" y="309981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✓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092440" y="3099816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147304" y="3099816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LT-Serie nötig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617720" y="3447288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72584" y="344728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nötig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080760" y="34472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35624" y="344728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✓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086600" y="34472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41464" y="344728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✓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8092440" y="344728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147304" y="344728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(integr.)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617720" y="3794760"/>
            <a:ext cx="14630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672584" y="379476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080760" y="3794760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35624" y="379476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 ✓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086600" y="3794760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141464" y="379476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8092440" y="3794760"/>
            <a:ext cx="1005840" cy="34747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147304" y="379476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4617720" y="4233672"/>
            <a:ext cx="4297680" cy="502920"/>
          </a:xfrm>
          <a:prstGeom prst="rect">
            <a:avLst/>
          </a:prstGeom>
          <a:solidFill>
            <a:srgbClr val="FFF8E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470916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AGM gewählt: ganzjährig outdoor-tauglich, ladbar bei Frost,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hochstromfähig, kein BMS – optimal für Schaltschrank im Freien.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Wirtschaftliche Analyse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2.6 – ROI · Amortisation · Systemvergleich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Energiesystem · Kap.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057400" cy="54864"/>
          </a:xfrm>
          <a:prstGeom prst="rect">
            <a:avLst/>
          </a:prstGeom>
          <a:solidFill>
            <a:srgbClr val="3AAA35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97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A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~21,5 %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70992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(Return on Investment)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1005840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005840"/>
            <a:ext cx="2057400" cy="54864"/>
          </a:xfrm>
          <a:prstGeom prst="rect">
            <a:avLst/>
          </a:prstGeom>
          <a:solidFill>
            <a:srgbClr val="1A4D7C"/>
          </a:solidFill>
          <a:ln/>
        </p:spPr>
      </p:sp>
      <p:sp>
        <p:nvSpPr>
          <p:cNvPr id="12" name="Text 10"/>
          <p:cNvSpPr/>
          <p:nvPr/>
        </p:nvSpPr>
        <p:spPr>
          <a:xfrm>
            <a:off x="2395728" y="1097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4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~4,6 J.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87168" y="170992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Amortisationszeit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(Hybridsystem)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62856" y="1005840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62856" y="1005840"/>
            <a:ext cx="2057400" cy="54864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6" name="Text 14"/>
          <p:cNvSpPr/>
          <p:nvPr/>
        </p:nvSpPr>
        <p:spPr>
          <a:xfrm>
            <a:off x="4562856" y="1097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4.800 €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54296" y="170992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kWp · 10 m² Dach)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9984" y="1005840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9984" y="1005840"/>
            <a:ext cx="20574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0" name="Text 18"/>
          <p:cNvSpPr/>
          <p:nvPr/>
        </p:nvSpPr>
        <p:spPr>
          <a:xfrm>
            <a:off x="6729984" y="1097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1.033 €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21424" y="170992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Jährl. Einsparung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(0,25 €/kWh · 4.132 kWh)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" y="2331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Systemvergleich: Insellösung vs. Hybrid vs. Netzeinspeisung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2697480"/>
            <a:ext cx="2286000" cy="310896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" y="269748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2697480"/>
            <a:ext cx="1920240" cy="310896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26" name="Text 24"/>
          <p:cNvSpPr/>
          <p:nvPr/>
        </p:nvSpPr>
        <p:spPr>
          <a:xfrm>
            <a:off x="2569464" y="26974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Insellösung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2697480"/>
            <a:ext cx="1920240" cy="310896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28" name="Text 26"/>
          <p:cNvSpPr/>
          <p:nvPr/>
        </p:nvSpPr>
        <p:spPr>
          <a:xfrm>
            <a:off x="4489704" y="26974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Hybridsystem 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2697480"/>
            <a:ext cx="1920240" cy="310896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9944" y="26974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Netzeinspeisung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008376"/>
            <a:ext cx="22860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" y="300837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14600" y="3008376"/>
            <a:ext cx="19202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9464" y="3008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4.000–5.600 €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34840" y="3008376"/>
            <a:ext cx="1920240" cy="329184"/>
          </a:xfrm>
          <a:prstGeom prst="rect">
            <a:avLst/>
          </a:prstGeom>
          <a:solidFill>
            <a:srgbClr val="EAF7E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9704" y="3008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4.000–5.600 €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55080" y="3008376"/>
            <a:ext cx="19202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9944" y="3008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2.000–3.600 €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337560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" y="333756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Jährl. Einsparung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14600" y="333756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9464" y="33375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~1.033 €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34840" y="3337560"/>
            <a:ext cx="1920240" cy="329184"/>
          </a:xfrm>
          <a:prstGeom prst="rect">
            <a:avLst/>
          </a:prstGeom>
          <a:solidFill>
            <a:srgbClr val="EAF7E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9704" y="33375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~1.033 €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55080" y="333756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9944" y="33375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250–455 €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3666744"/>
            <a:ext cx="22860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366674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Amortisationszeit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14600" y="3666744"/>
            <a:ext cx="19202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9464" y="366674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~4,6 Jahre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34840" y="3666744"/>
            <a:ext cx="1920240" cy="329184"/>
          </a:xfrm>
          <a:prstGeom prst="rect">
            <a:avLst/>
          </a:prstGeom>
          <a:solidFill>
            <a:srgbClr val="EAF7E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9704" y="366674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~4,6 Jahre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55080" y="3666744"/>
            <a:ext cx="19202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9944" y="366674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11–19 Jahre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" y="3995928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3464" y="399592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Winterbetrieb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14600" y="3995928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9464" y="39959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Eingeschränkt ✗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434840" y="3995928"/>
            <a:ext cx="1920240" cy="329184"/>
          </a:xfrm>
          <a:prstGeom prst="rect">
            <a:avLst/>
          </a:prstGeom>
          <a:solidFill>
            <a:srgbClr val="EAF7E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9704" y="39959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Gesichert ✓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55080" y="3995928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9944" y="39959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Gesichert ✓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28600" y="4325112"/>
            <a:ext cx="22860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3464" y="432511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LCOE (Erzeugungskosten)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514600" y="4325112"/>
            <a:ext cx="19202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9464" y="432511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434840" y="4325112"/>
            <a:ext cx="1920240" cy="329184"/>
          </a:xfrm>
          <a:prstGeom prst="rect">
            <a:avLst/>
          </a:prstGeom>
          <a:solidFill>
            <a:srgbClr val="EAF7E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9704" y="432511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0,08–0,12 €/kWh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55080" y="4325112"/>
            <a:ext cx="19202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9944" y="432511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Einspeisung 6 ct/kWh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Elektrische Planung &amp; Ausblick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2.7 · 2.8 – Systemaufbau · Energiepfad · Optimierungspotenzial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Energiesystem · Kap.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Energiepfad &amp; Systemstruktur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554480" cy="548640"/>
          </a:xfrm>
          <a:prstGeom prst="rect">
            <a:avLst/>
          </a:prstGeom>
          <a:solidFill>
            <a:srgbClr val="3AAA3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4173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PV-Panel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W · MC4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94560" y="1417320"/>
            <a:ext cx="1554480" cy="54864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67712" y="14173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 230V AC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(Backup)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3383280" cy="685800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331720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Verteilerschrank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(MultiPlus · AGM · MPPT · SmartShunt · Cerbo GX · Orion)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2286000" cy="5486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33375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Gewächshaus 12V DC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(Sensoren · Pumpen · LEDs · Heizlüfter)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80360" y="3337560"/>
            <a:ext cx="1371600" cy="548640"/>
          </a:xfrm>
          <a:prstGeom prst="rect">
            <a:avLst/>
          </a:prstGeom>
          <a:solidFill>
            <a:srgbClr val="4A556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53512" y="33375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VRM-Portal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43000" y="1965960"/>
            <a:ext cx="0" cy="365760"/>
          </a:xfrm>
          <a:prstGeom prst="line">
            <a:avLst/>
          </a:prstGeom>
          <a:noFill/>
          <a:ln w="25400">
            <a:solidFill>
              <a:srgbClr val="3AA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965960"/>
            <a:ext cx="0" cy="36576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508760" y="3017520"/>
            <a:ext cx="0" cy="32004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3017520"/>
            <a:ext cx="0" cy="320040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74320" y="4005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DC/PV  ╌╌ Netz/Daten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Verkabelung: 6 mm² (Hochstrom) · 1,5 mm² (230V) · Sicherung 30 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1005840"/>
            <a:ext cx="0" cy="384048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0241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Erreichte Ziele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1444752"/>
            <a:ext cx="201168" cy="201168"/>
          </a:xfrm>
          <a:prstGeom prst="ellipse">
            <a:avLst/>
          </a:prstGeom>
          <a:solidFill>
            <a:srgbClr val="3AAA35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1426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73752" y="1426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Systemauslegung &amp; Dimensionierung vollständig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792224"/>
            <a:ext cx="201168" cy="201168"/>
          </a:xfrm>
          <a:prstGeom prst="ellipse">
            <a:avLst/>
          </a:prstGeom>
          <a:solidFill>
            <a:srgbClr val="3AAA35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73752" y="1773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Komponenten ausgewählt &amp; begründet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2139696"/>
            <a:ext cx="201168" cy="201168"/>
          </a:xfrm>
          <a:prstGeom prst="ellipse">
            <a:avLst/>
          </a:prstGeom>
          <a:solidFill>
            <a:srgbClr val="3AAA35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3752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Wirtschaftlichkeitsanalyse: ROI 21,5 %, Amor. 4,6 J.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487168"/>
            <a:ext cx="201168" cy="201168"/>
          </a:xfrm>
          <a:prstGeom prst="ellipse">
            <a:avLst/>
          </a:prstGeom>
          <a:solidFill>
            <a:srgbClr val="3AAA35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73752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Verteilerschrank fertiggestellt &amp; betriebsbereit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2834640"/>
            <a:ext cx="201168" cy="201168"/>
          </a:xfrm>
          <a:prstGeom prst="ellipse">
            <a:avLst/>
          </a:prstGeom>
          <a:solidFill>
            <a:srgbClr val="3AAA35"/>
          </a:solidFill>
          <a:ln/>
        </p:spPr>
      </p:sp>
      <p:sp>
        <p:nvSpPr>
          <p:cNvPr id="38" name="Text 36"/>
          <p:cNvSpPr/>
          <p:nvPr/>
        </p:nvSpPr>
        <p:spPr>
          <a:xfrm>
            <a:off x="4617720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73752" y="2816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Elektrische Planung (Schaltplan mit KiCad 9.0)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3218688"/>
            <a:ext cx="4297680" cy="411480"/>
          </a:xfrm>
          <a:prstGeom prst="rect">
            <a:avLst/>
          </a:prstGeom>
          <a:solidFill>
            <a:srgbClr val="FFF8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236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4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Testbetrieb nicht möglich (Lieferverzögerungen bis 14.03.2025) → Werte auf Basis von Berechnungen &amp; Datenblättern.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17720" y="3730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Optimierungspotenzial &amp; Ausblick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17720" y="4069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Inbetriebnahme &amp; Messung unter realen Bedingungen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4343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Skalierung auf 24 V / 48 V-System bei größeren Anlagen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17720" y="46177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Kombination mit Kleinwind an windreichen Standorten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17720" y="4892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MQTT-gestützte intelligente Lastpriorisierung (App)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Energiesystem – Diplomarbeit</dc:title>
  <dc:subject>PptxGenJS Presentation</dc:subject>
  <dc:creator>PptxGenJS</dc:creator>
  <cp:lastModifiedBy>PptxGenJS</cp:lastModifiedBy>
  <cp:revision>1</cp:revision>
  <dcterms:created xsi:type="dcterms:W3CDTF">2026-04-08T11:08:12Z</dcterms:created>
  <dcterms:modified xsi:type="dcterms:W3CDTF">2026-04-08T11:08:12Z</dcterms:modified>
</cp:coreProperties>
</file>