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1.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4"/>
  </p:sldMasterIdLst>
  <p:notesMasterIdLst>
    <p:notesMasterId r:id="rId36"/>
  </p:notesMasterIdLst>
  <p:sldIdLst>
    <p:sldId id="302" r:id="rId5"/>
    <p:sldId id="303" r:id="rId6"/>
    <p:sldId id="304" r:id="rId7"/>
    <p:sldId id="264" r:id="rId8"/>
    <p:sldId id="305" r:id="rId9"/>
    <p:sldId id="263" r:id="rId10"/>
    <p:sldId id="306" r:id="rId11"/>
    <p:sldId id="308" r:id="rId12"/>
    <p:sldId id="273" r:id="rId13"/>
    <p:sldId id="309" r:id="rId14"/>
    <p:sldId id="310" r:id="rId15"/>
    <p:sldId id="256" r:id="rId16"/>
    <p:sldId id="258" r:id="rId17"/>
    <p:sldId id="261" r:id="rId18"/>
    <p:sldId id="262" r:id="rId19"/>
    <p:sldId id="297" r:id="rId20"/>
    <p:sldId id="300" r:id="rId21"/>
    <p:sldId id="296" r:id="rId22"/>
    <p:sldId id="323" r:id="rId23"/>
    <p:sldId id="311" r:id="rId24"/>
    <p:sldId id="312" r:id="rId25"/>
    <p:sldId id="313" r:id="rId26"/>
    <p:sldId id="314" r:id="rId27"/>
    <p:sldId id="315" r:id="rId28"/>
    <p:sldId id="316" r:id="rId29"/>
    <p:sldId id="317" r:id="rId30"/>
    <p:sldId id="318" r:id="rId31"/>
    <p:sldId id="319" r:id="rId32"/>
    <p:sldId id="320" r:id="rId33"/>
    <p:sldId id="321" r:id="rId34"/>
    <p:sldId id="322" r:id="rId35"/>
  </p:sldIdLst>
  <p:sldSz cx="9144000" cy="5143500" type="screen16x9"/>
  <p:notesSz cx="6858000" cy="9144000"/>
  <p:embeddedFontLst>
    <p:embeddedFont>
      <p:font typeface="Anaheim" panose="020B0604020202020204" charset="0"/>
      <p:regular r:id="rId37"/>
    </p:embeddedFont>
    <p:embeddedFont>
      <p:font typeface="Bebas Neue" panose="020B0606020202050201" pitchFamily="34" charset="0"/>
      <p:regular r:id="rId38"/>
    </p:embeddedFont>
    <p:embeddedFont>
      <p:font typeface="Roboto" panose="02000000000000000000" pitchFamily="2" charset="0"/>
      <p:regular r:id="rId39"/>
      <p:bold r:id="rId40"/>
      <p:italic r:id="rId41"/>
      <p:boldItalic r:id="rId42"/>
    </p:embeddedFont>
    <p:embeddedFont>
      <p:font typeface="Urbanist" panose="020B0604020202020204"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D005C"/>
    <a:srgbClr val="56007F"/>
    <a:srgbClr val="DEDEDE"/>
    <a:srgbClr val="D1D1D1"/>
    <a:srgbClr val="EDEDED"/>
    <a:srgbClr val="E6E6E6"/>
    <a:srgbClr val="F7F7F7"/>
    <a:srgbClr val="E0E0E0"/>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5A5849-7010-4BFF-39A1-EF0F12A60E5C}" v="349" dt="2024-04-21T10:22:15.368"/>
    <p1510:client id="{AEE6AA5C-2018-EA23-F925-87468732F951}" v="137" dt="2024-04-21T09:57:51.688"/>
  </p1510:revLst>
</p1510:revInfo>
</file>

<file path=ppt/tableStyles.xml><?xml version="1.0" encoding="utf-8"?>
<a:tblStyleLst xmlns:a="http://schemas.openxmlformats.org/drawingml/2006/main" def="{58E61C6C-CD56-42A6-8868-A3D0D82E4EA0}">
  <a:tblStyle styleId="{58E61C6C-CD56-42A6-8868-A3D0D82E4E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0903805-19CD-4958-9CF2-FC28728C74D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706" y="101"/>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Sehr geehrtes Prüfungskomitee, Sehr geehrte Frau Professor Reiterer, wertes Publikum,</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ich darf heute die Präsentation unserer Diplomarbeit „TechAccessories: Recht, Online-Handel und Marketing“ eröffnen. TechAccessories ist ein fiktives Unternehmen, das als unser Fallbeispiel funktioniert und Handyhüllen verkauft.</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46935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DE" sz="1800" kern="100" dirty="0">
                <a:effectLst/>
                <a:latin typeface="Calibri" panose="020F0502020204030204" pitchFamily="34" charset="0"/>
                <a:ea typeface="Calibri" panose="020F0502020204030204" pitchFamily="34" charset="0"/>
                <a:cs typeface="Arial" panose="020B0604020202020204" pitchFamily="34" charset="0"/>
              </a:rPr>
              <a:t>Ich habe mich im Laufe des Jahres mit der Erstellung der Produktkollektionen, sowie der Analyse und Entwicklung von passenden Marketingstrategien befassen dürfen.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085362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Als erste darf ich Ihnen einen groben Überblick über unsere Produkte geben. Wir haben uns dazu entschieden, drei Kollektionen zu entwerfen. Diese sind Basic, Trending und Personal Cover.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Der größte Unterscheid liegt im Design der Schutzhüllen, Basic Cover umfasst Standardmotive, die Trending Handyhüllen werden von uns entworfen. Die Personal Cover werden, wie der Name schon verrät, von unseren Kunden designed.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Die Preise reichen von € 9,99 bis hin zu € 15,99.</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885918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Eine Zielgruppe ist eine spezifische Gruppe von Personen, an die sich das Marketing richten soll.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Die Zielgruppe wird durch die Zielgruppenanalyse bestimmt.</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Die Zielgruppenanalyse besteht aus drei Wesentlichen Schritten.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Als erstes müssen Daten erhoben werden, dafür gibt es verschiedene Methoden, wie zum Beispiel die Befragung, den Produkttest oder den Testmarkt. Die Befragung war für uns am besten geeignet, da sie am kostengünstigsten ist, während sie gute Resultate liefert.</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Zweiter Schritt is das Einordnen in Kaufverhalten, demografische, psychografische und sozioökonomische Daten.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Mit den Ergebnissen der Zielgruppenanalyse werden primäre und sekundäre Buyers Personas erstellt. </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Eine Buyers Persona ist folgendermaßen aufgebaut:</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Name, Alter, Beruf/Merkmal und einer umfassenden Beschreibung.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Eine primäre Buyers Persona repräsentiert die Hauptzielgruppe, welche den meisten Effekt auf den Umsatz unseres Unternehmen haben wird.  Eine sekundäre Buyers Persona spiegelt die Nebenzielgruppen wider, davon kann es auch mehrere geben. Diese Gruppen haben nicht den größten Effekt auf den Umsatz, aber sollten dennoch nicht vernachlässigt werden.</a:t>
            </a:r>
          </a:p>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84d99d1a72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84d99d1a72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Die SWOT-Analyse und das 5-Forces-Modell dient der Analyse des Unternehmensumfeld in Bezug auf unternehmensinterne und externe Faktoren.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Der Produktlebenszyklus und die BCG-Matrix sind Produktfokussierte Marketingtools, da sie den jetzigen Status des Produktes am Markt angeben oder einen möglichen Verlauf darstellen. Die Instrumente sind abhängig voneinander, da die Produktphasen den Kategorien der BCG-Matrix entsprechen.</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Die für uns am relevantesten Marketingtools, sind aber das AIDA-Modell, welches primär die Kunden im Fokus hat und der Marketing-Mix, der einen Überblick über die Marketing-Situation verschafft. </a:t>
            </a: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AIDA steht für Attention, Interest, Desire und Action.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Der Kunde kann das Produkt nicht kaufen, wenn er nicht weiß, dass es existiert. Aufmerksamkeit wird durch Werbung in verschiedenen Kanälen generiert.</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Nachdem die Aufmerksamkeit des Kunden auf das Produkt gelenkt wurde, muss der Kunde davon überzeugt werden, dass unsere Smartphonehülle DIE Hülle für sein Smartphone ist. </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Da der Kunde das Produkt jetzt in seinem Gedächtnis hat, soll sein Verlangen zum Kauf geweckt werden. Dies kann durch gezielte emotionale oder rationale Marketingbotschaften erreicht werden. </a:t>
            </a: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Die letzte Phase des AIDA-Modells hat die Handlungsaufforderung als Fokus und den Erwerb des Produktes als Ziel. Die Entscheidung zum Kauf soll mit einem sogenannten „Call-to-Action“, also einer Aufforderung zum Handel,  erleichtert werden.</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Attention: durch die Präsentation unserer Trending-Hüllen auf Social-Media-Plattformen, kann die Aufmerksamkeit auf unsere Hüllen gelenkt werden.</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Interest: mithilfe von exklusiven Previews und Einladungen zu Online-Launch-Events wird das Interesse der Kunden geweckt.</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Desire: durch das gezielte Einsetzten von </a:t>
            </a:r>
            <a:r>
              <a:rPr lang="de-DE" sz="1800" kern="100" dirty="0" err="1">
                <a:effectLst/>
                <a:latin typeface="Calibri" panose="020F0502020204030204" pitchFamily="34" charset="0"/>
                <a:ea typeface="Calibri" panose="020F0502020204030204" pitchFamily="34" charset="0"/>
                <a:cs typeface="Arial" panose="020B0604020202020204" pitchFamily="34" charset="0"/>
              </a:rPr>
              <a:t>catchy</a:t>
            </a:r>
            <a:r>
              <a:rPr lang="de-DE" sz="1800" kern="100" dirty="0">
                <a:effectLst/>
                <a:latin typeface="Calibri" panose="020F0502020204030204" pitchFamily="34" charset="0"/>
                <a:ea typeface="Calibri" panose="020F0502020204030204" pitchFamily="34" charset="0"/>
                <a:cs typeface="Arial" panose="020B0604020202020204" pitchFamily="34" charset="0"/>
              </a:rPr>
              <a:t> Slogans, kann das Verlangen der Kunden entfacht werden.</a:t>
            </a:r>
          </a:p>
          <a:p>
            <a:pPr>
              <a:lnSpc>
                <a:spcPct val="107000"/>
              </a:lnSpc>
              <a:spcAft>
                <a:spcPts val="800"/>
              </a:spcAft>
            </a:pPr>
            <a:r>
              <a:rPr lang="de-DE" sz="1800" kern="100" dirty="0">
                <a:effectLst/>
                <a:latin typeface="Calibri" panose="020F0502020204030204" pitchFamily="34" charset="0"/>
                <a:ea typeface="Calibri" panose="020F0502020204030204" pitchFamily="34" charset="0"/>
                <a:cs typeface="Arial" panose="020B0604020202020204" pitchFamily="34" charset="0"/>
              </a:rPr>
              <a:t>Action: Durch einen einfachen Bestellvorgang oder einem Newcomer-Rabatt, wird der Kunde dazu gelenkt, die Bestellung und somit den Kauf abzuschließen.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73469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8661f04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8661f04b0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Product – die Produktpolitik, hierbei werden alle wichtigen Entscheidungen rund um das Produkt getätigt. In der Produktpolitik liegt der Fokus mitunter darauf, welcher Nutzen das Produkt für den Kunden haben kann.</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Price – Der Hauptfokus der Preispolitik liegt darin, den Preis und zukünftige Preiskonditionen für die Produkte des Unternehmen, in Bezug auf das Kundenverhalten, festzulegen. </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Place – Die Hauptaufgabe der Distributionspolitik ist es, zu entscheiden auf welchem Weg das Produkt vom Unternehmen zum Endverbraucher gelangt.</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Promotion – In der Kommunikationspolitik liegt das Hauptaugenmerk darauf, verschiedenste Maßnahmen einzusetzen, um den Kunden auf das Produkt aufmerksam zu machen. Hier kommt zum Beispiel das AIDA-Modell zum Einsatz.</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8661f04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8661f04b0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Product: Wir bieten dem Kunden ein breites Sortiment an stylishen Smartphonehüllen.</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Price: Durch einen erschwinglichen und wettbewerbsfähigen Preis von € 9,99 wird der Kunde zum Kauf verleitet.</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Place: Die Produkte werden im stationären Handel, in Verkaufsräumen an beliebten Standorten vertrieben.</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de-AT" sz="1800" kern="100" dirty="0">
                <a:effectLst/>
                <a:latin typeface="Calibri" panose="020F0502020204030204" pitchFamily="34" charset="0"/>
                <a:ea typeface="Calibri" panose="020F0502020204030204" pitchFamily="34" charset="0"/>
                <a:cs typeface="Arial" panose="020B0604020202020204" pitchFamily="34" charset="0"/>
              </a:rPr>
              <a:t>Promotion: Lokale Werbung, sowie Launch-Events im Store tragen zum Marketing bei.</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663147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AT" sz="1800" kern="100" dirty="0">
                <a:effectLst/>
                <a:latin typeface="Calibri" panose="020F0502020204030204" pitchFamily="34" charset="0"/>
                <a:ea typeface="Calibri" panose="020F0502020204030204" pitchFamily="34" charset="0"/>
                <a:cs typeface="Arial" panose="020B0604020202020204" pitchFamily="34" charset="0"/>
              </a:rPr>
              <a:t>Ich bedanke mich vielmals für Ihre Aufmerksamkeit und freue mich darauf, Ihre Fragen zu beantworten.</a:t>
            </a:r>
            <a:endParaRPr lang="de-DE" sz="1800" kern="1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6714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5952ba1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55952ba1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8306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55a22db0ba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55a22db0ba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4644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69090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288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8661f04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8661f04b0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2034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5952ba1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55952ba1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94942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8028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18661f04b0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18661f04b0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987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5952ba1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55952ba1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535457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5952ba1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55952ba1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860979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84d99d1a72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84d99d1a7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17961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5952ba17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55952ba17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189342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55952ba17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255952ba17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4326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179875" y="1660263"/>
            <a:ext cx="6784200" cy="2088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3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179875" y="3918688"/>
            <a:ext cx="6784200" cy="47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 name="Google Shape;20;p5"/>
          <p:cNvSpPr txBox="1">
            <a:spLocks noGrp="1"/>
          </p:cNvSpPr>
          <p:nvPr>
            <p:ph type="subTitle" idx="1"/>
          </p:nvPr>
        </p:nvSpPr>
        <p:spPr>
          <a:xfrm>
            <a:off x="5253862" y="2909825"/>
            <a:ext cx="2505600" cy="146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 name="Google Shape;21;p5"/>
          <p:cNvSpPr txBox="1">
            <a:spLocks noGrp="1"/>
          </p:cNvSpPr>
          <p:nvPr>
            <p:ph type="subTitle" idx="2"/>
          </p:nvPr>
        </p:nvSpPr>
        <p:spPr>
          <a:xfrm>
            <a:off x="1384538" y="2909825"/>
            <a:ext cx="2505600" cy="146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2" name="Google Shape;22;p5"/>
          <p:cNvSpPr txBox="1">
            <a:spLocks noGrp="1"/>
          </p:cNvSpPr>
          <p:nvPr>
            <p:ph type="subTitle" idx="3"/>
          </p:nvPr>
        </p:nvSpPr>
        <p:spPr>
          <a:xfrm>
            <a:off x="1384538" y="2383201"/>
            <a:ext cx="2505600" cy="526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3" name="Google Shape;23;p5"/>
          <p:cNvSpPr txBox="1">
            <a:spLocks noGrp="1"/>
          </p:cNvSpPr>
          <p:nvPr>
            <p:ph type="subTitle" idx="4"/>
          </p:nvPr>
        </p:nvSpPr>
        <p:spPr>
          <a:xfrm>
            <a:off x="5253863" y="2383201"/>
            <a:ext cx="2505600" cy="5265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6" name="Google Shape;36;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cxnSp>
        <p:nvCxnSpPr>
          <p:cNvPr id="37" name="Google Shape;37;p9"/>
          <p:cNvCxnSpPr/>
          <p:nvPr/>
        </p:nvCxnSpPr>
        <p:spPr>
          <a:xfrm>
            <a:off x="4571975" y="-12"/>
            <a:ext cx="0" cy="906000"/>
          </a:xfrm>
          <a:prstGeom prst="straightConnector1">
            <a:avLst/>
          </a:prstGeom>
          <a:noFill/>
          <a:ln w="28575" cap="flat" cmpd="sng">
            <a:solidFill>
              <a:schemeClr val="dk1"/>
            </a:solidFill>
            <a:prstDash val="solid"/>
            <a:round/>
            <a:headEnd type="none" w="med" len="med"/>
            <a:tailEnd type="none" w="med" len="med"/>
          </a:ln>
        </p:spPr>
      </p:cxnSp>
      <p:cxnSp>
        <p:nvCxnSpPr>
          <p:cNvPr id="38" name="Google Shape;38;p9"/>
          <p:cNvCxnSpPr/>
          <p:nvPr/>
        </p:nvCxnSpPr>
        <p:spPr>
          <a:xfrm>
            <a:off x="4571975" y="4237488"/>
            <a:ext cx="0" cy="906000"/>
          </a:xfrm>
          <a:prstGeom prst="straightConnector1">
            <a:avLst/>
          </a:prstGeom>
          <a:noFill/>
          <a:ln w="2857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a:spLocks noGrp="1"/>
          </p:cNvSpPr>
          <p:nvPr>
            <p:ph type="pic" idx="2"/>
          </p:nvPr>
        </p:nvSpPr>
        <p:spPr>
          <a:xfrm>
            <a:off x="0" y="0"/>
            <a:ext cx="9144000" cy="5143500"/>
          </a:xfrm>
          <a:prstGeom prst="rect">
            <a:avLst/>
          </a:prstGeom>
          <a:noFill/>
          <a:ln>
            <a:noFill/>
          </a:ln>
        </p:spPr>
      </p:sp>
      <p:sp>
        <p:nvSpPr>
          <p:cNvPr id="41" name="Google Shape;41;p10"/>
          <p:cNvSpPr txBox="1">
            <a:spLocks noGrp="1"/>
          </p:cNvSpPr>
          <p:nvPr>
            <p:ph type="title"/>
          </p:nvPr>
        </p:nvSpPr>
        <p:spPr>
          <a:xfrm>
            <a:off x="720000" y="4014450"/>
            <a:ext cx="7704000" cy="572700"/>
          </a:xfrm>
          <a:prstGeom prst="rect">
            <a:avLst/>
          </a:prstGeom>
          <a:solidFill>
            <a:schemeClr val="dk1"/>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4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7"/>
        <p:cNvGrpSpPr/>
        <p:nvPr/>
      </p:nvGrpSpPr>
      <p:grpSpPr>
        <a:xfrm>
          <a:off x="0" y="0"/>
          <a:ext cx="0" cy="0"/>
          <a:chOff x="0" y="0"/>
          <a:chExt cx="0" cy="0"/>
        </a:xfrm>
      </p:grpSpPr>
      <p:sp>
        <p:nvSpPr>
          <p:cNvPr id="48" name="Google Shape;48;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9" name="Google Shape;49;p13"/>
          <p:cNvSpPr txBox="1">
            <a:spLocks noGrp="1"/>
          </p:cNvSpPr>
          <p:nvPr>
            <p:ph type="title" idx="2" hasCustomPrompt="1"/>
          </p:nvPr>
        </p:nvSpPr>
        <p:spPr>
          <a:xfrm>
            <a:off x="1618650" y="1462500"/>
            <a:ext cx="734700" cy="5727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0" name="Google Shape;50;p13"/>
          <p:cNvSpPr txBox="1">
            <a:spLocks noGrp="1"/>
          </p:cNvSpPr>
          <p:nvPr>
            <p:ph type="title" idx="3" hasCustomPrompt="1"/>
          </p:nvPr>
        </p:nvSpPr>
        <p:spPr>
          <a:xfrm>
            <a:off x="1618650" y="3172403"/>
            <a:ext cx="734700" cy="5727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1" name="Google Shape;51;p13"/>
          <p:cNvSpPr txBox="1">
            <a:spLocks noGrp="1"/>
          </p:cNvSpPr>
          <p:nvPr>
            <p:ph type="title" idx="4" hasCustomPrompt="1"/>
          </p:nvPr>
        </p:nvSpPr>
        <p:spPr>
          <a:xfrm>
            <a:off x="4204650" y="1462500"/>
            <a:ext cx="734700" cy="5727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2" name="Google Shape;52;p13"/>
          <p:cNvSpPr txBox="1">
            <a:spLocks noGrp="1"/>
          </p:cNvSpPr>
          <p:nvPr>
            <p:ph type="title" idx="5" hasCustomPrompt="1"/>
          </p:nvPr>
        </p:nvSpPr>
        <p:spPr>
          <a:xfrm>
            <a:off x="4204650" y="3172403"/>
            <a:ext cx="734700" cy="5727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3" name="Google Shape;53;p13"/>
          <p:cNvSpPr txBox="1">
            <a:spLocks noGrp="1"/>
          </p:cNvSpPr>
          <p:nvPr>
            <p:ph type="title" idx="6" hasCustomPrompt="1"/>
          </p:nvPr>
        </p:nvSpPr>
        <p:spPr>
          <a:xfrm>
            <a:off x="6790650" y="1462500"/>
            <a:ext cx="734700" cy="5727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 name="Google Shape;54;p13"/>
          <p:cNvSpPr txBox="1">
            <a:spLocks noGrp="1"/>
          </p:cNvSpPr>
          <p:nvPr>
            <p:ph type="title" idx="7" hasCustomPrompt="1"/>
          </p:nvPr>
        </p:nvSpPr>
        <p:spPr>
          <a:xfrm>
            <a:off x="6790650" y="3172403"/>
            <a:ext cx="734700" cy="5727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 name="Google Shape;55;p13"/>
          <p:cNvSpPr txBox="1">
            <a:spLocks noGrp="1"/>
          </p:cNvSpPr>
          <p:nvPr>
            <p:ph type="subTitle" idx="1"/>
          </p:nvPr>
        </p:nvSpPr>
        <p:spPr>
          <a:xfrm>
            <a:off x="973950" y="2035200"/>
            <a:ext cx="2024100" cy="7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6" name="Google Shape;56;p13"/>
          <p:cNvSpPr txBox="1">
            <a:spLocks noGrp="1"/>
          </p:cNvSpPr>
          <p:nvPr>
            <p:ph type="subTitle" idx="8"/>
          </p:nvPr>
        </p:nvSpPr>
        <p:spPr>
          <a:xfrm>
            <a:off x="3559950" y="2035200"/>
            <a:ext cx="2024100" cy="7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7" name="Google Shape;57;p13"/>
          <p:cNvSpPr txBox="1">
            <a:spLocks noGrp="1"/>
          </p:cNvSpPr>
          <p:nvPr>
            <p:ph type="subTitle" idx="9"/>
          </p:nvPr>
        </p:nvSpPr>
        <p:spPr>
          <a:xfrm>
            <a:off x="6145950" y="2035200"/>
            <a:ext cx="2024100" cy="7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8" name="Google Shape;58;p13"/>
          <p:cNvSpPr txBox="1">
            <a:spLocks noGrp="1"/>
          </p:cNvSpPr>
          <p:nvPr>
            <p:ph type="subTitle" idx="13"/>
          </p:nvPr>
        </p:nvSpPr>
        <p:spPr>
          <a:xfrm>
            <a:off x="973950" y="3745100"/>
            <a:ext cx="2024100" cy="7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59" name="Google Shape;59;p13"/>
          <p:cNvSpPr txBox="1">
            <a:spLocks noGrp="1"/>
          </p:cNvSpPr>
          <p:nvPr>
            <p:ph type="subTitle" idx="14"/>
          </p:nvPr>
        </p:nvSpPr>
        <p:spPr>
          <a:xfrm>
            <a:off x="3559950" y="3745100"/>
            <a:ext cx="2024100" cy="7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0" name="Google Shape;60;p13"/>
          <p:cNvSpPr txBox="1">
            <a:spLocks noGrp="1"/>
          </p:cNvSpPr>
          <p:nvPr>
            <p:ph type="subTitle" idx="15"/>
          </p:nvPr>
        </p:nvSpPr>
        <p:spPr>
          <a:xfrm>
            <a:off x="6145950" y="3745100"/>
            <a:ext cx="2024100" cy="7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 name="Google Shape;72;p16"/>
          <p:cNvSpPr txBox="1">
            <a:spLocks noGrp="1"/>
          </p:cNvSpPr>
          <p:nvPr>
            <p:ph type="subTitle" idx="1"/>
          </p:nvPr>
        </p:nvSpPr>
        <p:spPr>
          <a:xfrm>
            <a:off x="720000" y="2848775"/>
            <a:ext cx="2333700" cy="15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3" name="Google Shape;73;p16"/>
          <p:cNvSpPr txBox="1">
            <a:spLocks noGrp="1"/>
          </p:cNvSpPr>
          <p:nvPr>
            <p:ph type="subTitle" idx="2"/>
          </p:nvPr>
        </p:nvSpPr>
        <p:spPr>
          <a:xfrm>
            <a:off x="3405149" y="2848775"/>
            <a:ext cx="2333700" cy="15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4" name="Google Shape;74;p16"/>
          <p:cNvSpPr txBox="1">
            <a:spLocks noGrp="1"/>
          </p:cNvSpPr>
          <p:nvPr>
            <p:ph type="subTitle" idx="3"/>
          </p:nvPr>
        </p:nvSpPr>
        <p:spPr>
          <a:xfrm>
            <a:off x="6090305" y="2848775"/>
            <a:ext cx="2333700" cy="15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75" name="Google Shape;75;p16"/>
          <p:cNvSpPr txBox="1">
            <a:spLocks noGrp="1"/>
          </p:cNvSpPr>
          <p:nvPr>
            <p:ph type="subTitle" idx="4"/>
          </p:nvPr>
        </p:nvSpPr>
        <p:spPr>
          <a:xfrm>
            <a:off x="720000" y="2353575"/>
            <a:ext cx="2333700" cy="495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6" name="Google Shape;76;p16"/>
          <p:cNvSpPr txBox="1">
            <a:spLocks noGrp="1"/>
          </p:cNvSpPr>
          <p:nvPr>
            <p:ph type="subTitle" idx="5"/>
          </p:nvPr>
        </p:nvSpPr>
        <p:spPr>
          <a:xfrm>
            <a:off x="3405151" y="2353575"/>
            <a:ext cx="2333700" cy="495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77" name="Google Shape;77;p16"/>
          <p:cNvSpPr txBox="1">
            <a:spLocks noGrp="1"/>
          </p:cNvSpPr>
          <p:nvPr>
            <p:ph type="subTitle" idx="6"/>
          </p:nvPr>
        </p:nvSpPr>
        <p:spPr>
          <a:xfrm>
            <a:off x="6090302" y="2353575"/>
            <a:ext cx="2333700" cy="4953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0" name="Google Shape;90;p18"/>
          <p:cNvSpPr txBox="1">
            <a:spLocks noGrp="1"/>
          </p:cNvSpPr>
          <p:nvPr>
            <p:ph type="subTitle" idx="1"/>
          </p:nvPr>
        </p:nvSpPr>
        <p:spPr>
          <a:xfrm>
            <a:off x="720000" y="1645848"/>
            <a:ext cx="22335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1" name="Google Shape;91;p18"/>
          <p:cNvSpPr txBox="1">
            <a:spLocks noGrp="1"/>
          </p:cNvSpPr>
          <p:nvPr>
            <p:ph type="subTitle" idx="2"/>
          </p:nvPr>
        </p:nvSpPr>
        <p:spPr>
          <a:xfrm>
            <a:off x="3455250" y="1645848"/>
            <a:ext cx="22335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2" name="Google Shape;92;p18"/>
          <p:cNvSpPr txBox="1">
            <a:spLocks noGrp="1"/>
          </p:cNvSpPr>
          <p:nvPr>
            <p:ph type="subTitle" idx="3"/>
          </p:nvPr>
        </p:nvSpPr>
        <p:spPr>
          <a:xfrm>
            <a:off x="720000" y="3440454"/>
            <a:ext cx="22335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3" name="Google Shape;93;p18"/>
          <p:cNvSpPr txBox="1">
            <a:spLocks noGrp="1"/>
          </p:cNvSpPr>
          <p:nvPr>
            <p:ph type="subTitle" idx="4"/>
          </p:nvPr>
        </p:nvSpPr>
        <p:spPr>
          <a:xfrm>
            <a:off x="3455250" y="3440454"/>
            <a:ext cx="22335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4" name="Google Shape;94;p18"/>
          <p:cNvSpPr txBox="1">
            <a:spLocks noGrp="1"/>
          </p:cNvSpPr>
          <p:nvPr>
            <p:ph type="subTitle" idx="5"/>
          </p:nvPr>
        </p:nvSpPr>
        <p:spPr>
          <a:xfrm>
            <a:off x="6190500" y="1645848"/>
            <a:ext cx="22335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5" name="Google Shape;95;p18"/>
          <p:cNvSpPr txBox="1">
            <a:spLocks noGrp="1"/>
          </p:cNvSpPr>
          <p:nvPr>
            <p:ph type="subTitle" idx="6"/>
          </p:nvPr>
        </p:nvSpPr>
        <p:spPr>
          <a:xfrm>
            <a:off x="6190500" y="3440454"/>
            <a:ext cx="2233500" cy="116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96" name="Google Shape;96;p18"/>
          <p:cNvSpPr txBox="1">
            <a:spLocks noGrp="1"/>
          </p:cNvSpPr>
          <p:nvPr>
            <p:ph type="subTitle" idx="7"/>
          </p:nvPr>
        </p:nvSpPr>
        <p:spPr>
          <a:xfrm>
            <a:off x="720000" y="1153938"/>
            <a:ext cx="2233500" cy="49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7" name="Google Shape;97;p18"/>
          <p:cNvSpPr txBox="1">
            <a:spLocks noGrp="1"/>
          </p:cNvSpPr>
          <p:nvPr>
            <p:ph type="subTitle" idx="8"/>
          </p:nvPr>
        </p:nvSpPr>
        <p:spPr>
          <a:xfrm>
            <a:off x="3455250" y="1153938"/>
            <a:ext cx="2231100" cy="49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8" name="Google Shape;98;p18"/>
          <p:cNvSpPr txBox="1">
            <a:spLocks noGrp="1"/>
          </p:cNvSpPr>
          <p:nvPr>
            <p:ph type="subTitle" idx="9"/>
          </p:nvPr>
        </p:nvSpPr>
        <p:spPr>
          <a:xfrm>
            <a:off x="6190500" y="1153938"/>
            <a:ext cx="2231100" cy="49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99" name="Google Shape;99;p18"/>
          <p:cNvSpPr txBox="1">
            <a:spLocks noGrp="1"/>
          </p:cNvSpPr>
          <p:nvPr>
            <p:ph type="subTitle" idx="13"/>
          </p:nvPr>
        </p:nvSpPr>
        <p:spPr>
          <a:xfrm>
            <a:off x="720000" y="2945448"/>
            <a:ext cx="2233500" cy="49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0" name="Google Shape;100;p18"/>
          <p:cNvSpPr txBox="1">
            <a:spLocks noGrp="1"/>
          </p:cNvSpPr>
          <p:nvPr>
            <p:ph type="subTitle" idx="14"/>
          </p:nvPr>
        </p:nvSpPr>
        <p:spPr>
          <a:xfrm>
            <a:off x="3455250" y="2945455"/>
            <a:ext cx="2231100" cy="49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1" name="Google Shape;101;p18"/>
          <p:cNvSpPr txBox="1">
            <a:spLocks noGrp="1"/>
          </p:cNvSpPr>
          <p:nvPr>
            <p:ph type="subTitle" idx="15"/>
          </p:nvPr>
        </p:nvSpPr>
        <p:spPr>
          <a:xfrm>
            <a:off x="6190500" y="2945455"/>
            <a:ext cx="2231100" cy="495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405415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0" name="Google Shape;80;p17"/>
          <p:cNvSpPr txBox="1">
            <a:spLocks noGrp="1"/>
          </p:cNvSpPr>
          <p:nvPr>
            <p:ph type="subTitle" idx="1"/>
          </p:nvPr>
        </p:nvSpPr>
        <p:spPr>
          <a:xfrm>
            <a:off x="720000" y="1735625"/>
            <a:ext cx="3146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1" name="Google Shape;81;p17"/>
          <p:cNvSpPr txBox="1">
            <a:spLocks noGrp="1"/>
          </p:cNvSpPr>
          <p:nvPr>
            <p:ph type="subTitle" idx="2"/>
          </p:nvPr>
        </p:nvSpPr>
        <p:spPr>
          <a:xfrm>
            <a:off x="4632773" y="1735625"/>
            <a:ext cx="3146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2" name="Google Shape;82;p17"/>
          <p:cNvSpPr txBox="1">
            <a:spLocks noGrp="1"/>
          </p:cNvSpPr>
          <p:nvPr>
            <p:ph type="subTitle" idx="3"/>
          </p:nvPr>
        </p:nvSpPr>
        <p:spPr>
          <a:xfrm>
            <a:off x="720000" y="3396200"/>
            <a:ext cx="3146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3" name="Google Shape;83;p17"/>
          <p:cNvSpPr txBox="1">
            <a:spLocks noGrp="1"/>
          </p:cNvSpPr>
          <p:nvPr>
            <p:ph type="subTitle" idx="4"/>
          </p:nvPr>
        </p:nvSpPr>
        <p:spPr>
          <a:xfrm>
            <a:off x="4632773" y="3396200"/>
            <a:ext cx="3146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84" name="Google Shape;84;p17"/>
          <p:cNvSpPr txBox="1">
            <a:spLocks noGrp="1"/>
          </p:cNvSpPr>
          <p:nvPr>
            <p:ph type="subTitle" idx="5"/>
          </p:nvPr>
        </p:nvSpPr>
        <p:spPr>
          <a:xfrm>
            <a:off x="720000" y="1282675"/>
            <a:ext cx="3146700" cy="460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5" name="Google Shape;85;p17"/>
          <p:cNvSpPr txBox="1">
            <a:spLocks noGrp="1"/>
          </p:cNvSpPr>
          <p:nvPr>
            <p:ph type="subTitle" idx="6"/>
          </p:nvPr>
        </p:nvSpPr>
        <p:spPr>
          <a:xfrm>
            <a:off x="720000" y="2943425"/>
            <a:ext cx="3146700" cy="460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6" name="Google Shape;86;p17"/>
          <p:cNvSpPr txBox="1">
            <a:spLocks noGrp="1"/>
          </p:cNvSpPr>
          <p:nvPr>
            <p:ph type="subTitle" idx="7"/>
          </p:nvPr>
        </p:nvSpPr>
        <p:spPr>
          <a:xfrm>
            <a:off x="4632748" y="1282675"/>
            <a:ext cx="3146700" cy="460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87" name="Google Shape;87;p17"/>
          <p:cNvSpPr txBox="1">
            <a:spLocks noGrp="1"/>
          </p:cNvSpPr>
          <p:nvPr>
            <p:ph type="subTitle" idx="8"/>
          </p:nvPr>
        </p:nvSpPr>
        <p:spPr>
          <a:xfrm>
            <a:off x="4632748" y="2943425"/>
            <a:ext cx="3146700" cy="460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solidFill>
                  <a:schemeClr val="dk1"/>
                </a:solidFill>
                <a:latin typeface="Urbanist"/>
                <a:ea typeface="Urbanist"/>
                <a:cs typeface="Urbanist"/>
                <a:sym typeface="Urbanist"/>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2584415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Urbanist"/>
              <a:buNone/>
              <a:defRPr sz="3000" b="1">
                <a:solidFill>
                  <a:schemeClr val="dk1"/>
                </a:solidFill>
                <a:latin typeface="Urbanist"/>
                <a:ea typeface="Urbanist"/>
                <a:cs typeface="Urbanist"/>
                <a:sym typeface="Urbanist"/>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1pPr>
            <a:lvl2pPr marL="914400" lvl="1"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2pPr>
            <a:lvl3pPr marL="1371600" lvl="2"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3pPr>
            <a:lvl4pPr marL="1828800" lvl="3"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4pPr>
            <a:lvl5pPr marL="2286000" lvl="4"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5pPr>
            <a:lvl6pPr marL="2743200" lvl="5"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6pPr>
            <a:lvl7pPr marL="3200400" lvl="6"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7pPr>
            <a:lvl8pPr marL="3657600" lvl="7"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8pPr>
            <a:lvl9pPr marL="4114800" lvl="8" indent="-304800">
              <a:lnSpc>
                <a:spcPct val="100000"/>
              </a:lnSpc>
              <a:spcBef>
                <a:spcPts val="0"/>
              </a:spcBef>
              <a:spcAft>
                <a:spcPts val="0"/>
              </a:spcAft>
              <a:buClr>
                <a:schemeClr val="dk1"/>
              </a:buClr>
              <a:buSzPts val="1200"/>
              <a:buFont typeface="Roboto"/>
              <a:buChar char="■"/>
              <a:defRPr sz="1200">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5" r:id="rId4"/>
    <p:sldLayoutId id="2147483656" r:id="rId5"/>
    <p:sldLayoutId id="2147483658" r:id="rId6"/>
    <p:sldLayoutId id="2147483659" r:id="rId7"/>
    <p:sldLayoutId id="2147483662" r:id="rId8"/>
    <p:sldLayoutId id="2147483672" r:id="rId9"/>
    <p:sldLayoutId id="214748367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DED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txBox="1">
            <a:spLocks noGrp="1"/>
          </p:cNvSpPr>
          <p:nvPr>
            <p:ph type="ctrTitle"/>
          </p:nvPr>
        </p:nvSpPr>
        <p:spPr>
          <a:xfrm>
            <a:off x="450477" y="1652811"/>
            <a:ext cx="8243046" cy="2026352"/>
          </a:xfrm>
          <a:prstGeom prst="rect">
            <a:avLst/>
          </a:prstGeom>
          <a:noFill/>
        </p:spPr>
        <p:txBody>
          <a:bodyPr spcFirstLastPara="1" wrap="square" lIns="91425" tIns="91425" rIns="91425" bIns="91425" anchor="b" anchorCtr="0">
            <a:noAutofit/>
          </a:bodyPr>
          <a:lstStyle/>
          <a:p>
            <a:r>
              <a:rPr lang="en" dirty="0" err="1">
                <a:solidFill>
                  <a:schemeClr val="bg1">
                    <a:lumMod val="10000"/>
                  </a:schemeClr>
                </a:solidFill>
              </a:rPr>
              <a:t>TechAccessories</a:t>
            </a:r>
            <a:br>
              <a:rPr lang="en" dirty="0">
                <a:solidFill>
                  <a:schemeClr val="bg1">
                    <a:lumMod val="10000"/>
                  </a:schemeClr>
                </a:solidFill>
              </a:rPr>
            </a:br>
            <a:r>
              <a:rPr lang="en" sz="3600" dirty="0">
                <a:solidFill>
                  <a:schemeClr val="bg1">
                    <a:lumMod val="10000"/>
                  </a:schemeClr>
                </a:solidFill>
              </a:rPr>
              <a:t>Recht, Online-Handel und Marketing</a:t>
            </a:r>
            <a:endParaRPr lang="en-US" dirty="0">
              <a:solidFill>
                <a:schemeClr val="bg1">
                  <a:lumMod val="10000"/>
                </a:schemeClr>
              </a:solidFill>
            </a:endParaRPr>
          </a:p>
        </p:txBody>
      </p:sp>
      <p:sp>
        <p:nvSpPr>
          <p:cNvPr id="131" name="Google Shape;131;p26"/>
          <p:cNvSpPr txBox="1">
            <a:spLocks noGrp="1"/>
          </p:cNvSpPr>
          <p:nvPr>
            <p:ph type="subTitle" idx="1"/>
          </p:nvPr>
        </p:nvSpPr>
        <p:spPr>
          <a:xfrm>
            <a:off x="1179875" y="3918688"/>
            <a:ext cx="6784200" cy="475800"/>
          </a:xfrm>
          <a:prstGeom prst="rect">
            <a:avLst/>
          </a:prstGeom>
        </p:spPr>
        <p:txBody>
          <a:bodyPr spcFirstLastPara="1" wrap="square" lIns="91425" tIns="91425" rIns="91425" bIns="91425" anchor="t" anchorCtr="0">
            <a:noAutofit/>
          </a:bodyPr>
          <a:lstStyle/>
          <a:p>
            <a:pPr marL="0" indent="0"/>
            <a:r>
              <a:rPr lang="en" dirty="0">
                <a:solidFill>
                  <a:schemeClr val="bg1">
                    <a:lumMod val="10000"/>
                  </a:schemeClr>
                </a:solidFill>
              </a:rPr>
              <a:t>Julia Biechl, Eva Bobchev, Jonas Kirchmair</a:t>
            </a:r>
            <a:endParaRPr lang="en-US" dirty="0">
              <a:solidFill>
                <a:schemeClr val="bg1">
                  <a:lumMod val="10000"/>
                </a:schemeClr>
              </a:solidFill>
            </a:endParaRPr>
          </a:p>
        </p:txBody>
      </p:sp>
      <p:cxnSp>
        <p:nvCxnSpPr>
          <p:cNvPr id="132" name="Google Shape;132;p26"/>
          <p:cNvCxnSpPr>
            <a:cxnSpLocks/>
            <a:endCxn id="130" idx="0"/>
          </p:cNvCxnSpPr>
          <p:nvPr/>
        </p:nvCxnSpPr>
        <p:spPr>
          <a:xfrm flipH="1">
            <a:off x="4572000" y="419963"/>
            <a:ext cx="6698" cy="1232848"/>
          </a:xfrm>
          <a:prstGeom prst="straightConnector1">
            <a:avLst/>
          </a:prstGeom>
          <a:noFill/>
          <a:ln w="28575" cap="flat" cmpd="sng">
            <a:solidFill>
              <a:srgbClr val="000000"/>
            </a:solidFill>
            <a:prstDash val="solid"/>
            <a:round/>
            <a:headEnd type="none" w="med" len="med"/>
            <a:tailEnd type="none" w="med" len="med"/>
          </a:ln>
        </p:spPr>
      </p:cxnSp>
      <p:sp>
        <p:nvSpPr>
          <p:cNvPr id="133" name="Google Shape;133;p26"/>
          <p:cNvSpPr/>
          <p:nvPr/>
        </p:nvSpPr>
        <p:spPr>
          <a:xfrm>
            <a:off x="6171050" y="1016363"/>
            <a:ext cx="574800" cy="574800"/>
          </a:xfrm>
          <a:prstGeom prst="ellipse">
            <a:avLst/>
          </a:pr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6"/>
          <p:cNvSpPr/>
          <p:nvPr/>
        </p:nvSpPr>
        <p:spPr>
          <a:xfrm>
            <a:off x="4175975" y="72275"/>
            <a:ext cx="792000" cy="792000"/>
          </a:xfrm>
          <a:prstGeom prst="ellipse">
            <a:avLst/>
          </a:pr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6"/>
          <p:cNvSpPr/>
          <p:nvPr/>
        </p:nvSpPr>
        <p:spPr>
          <a:xfrm>
            <a:off x="5417701" y="295950"/>
            <a:ext cx="651300" cy="651300"/>
          </a:xfrm>
          <a:prstGeom prst="ellipse">
            <a:avLst/>
          </a:pr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p:nvPr/>
        </p:nvSpPr>
        <p:spPr>
          <a:xfrm>
            <a:off x="3074952" y="295950"/>
            <a:ext cx="651300" cy="651300"/>
          </a:xfrm>
          <a:prstGeom prst="ellipse">
            <a:avLst/>
          </a:pr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6"/>
          <p:cNvSpPr/>
          <p:nvPr/>
        </p:nvSpPr>
        <p:spPr>
          <a:xfrm>
            <a:off x="2398100" y="1016363"/>
            <a:ext cx="574800" cy="574800"/>
          </a:xfrm>
          <a:prstGeom prst="ellipse">
            <a:avLst/>
          </a:pr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26"/>
          <p:cNvGrpSpPr/>
          <p:nvPr/>
        </p:nvGrpSpPr>
        <p:grpSpPr>
          <a:xfrm>
            <a:off x="4315262" y="207323"/>
            <a:ext cx="513333" cy="521904"/>
            <a:chOff x="850092" y="3352934"/>
            <a:chExt cx="369517" cy="375660"/>
          </a:xfrm>
        </p:grpSpPr>
        <p:sp>
          <p:nvSpPr>
            <p:cNvPr id="139" name="Google Shape;139;p26"/>
            <p:cNvSpPr/>
            <p:nvPr/>
          </p:nvSpPr>
          <p:spPr>
            <a:xfrm>
              <a:off x="969859" y="3475692"/>
              <a:ext cx="53088" cy="53088"/>
            </a:xfrm>
            <a:custGeom>
              <a:avLst/>
              <a:gdLst/>
              <a:ahLst/>
              <a:cxnLst/>
              <a:rect l="l" t="t" r="r" b="b"/>
              <a:pathLst>
                <a:path w="1668" h="1668" extrusionOk="0">
                  <a:moveTo>
                    <a:pt x="834" y="346"/>
                  </a:moveTo>
                  <a:cubicBezTo>
                    <a:pt x="1108" y="346"/>
                    <a:pt x="1322" y="560"/>
                    <a:pt x="1322" y="834"/>
                  </a:cubicBezTo>
                  <a:cubicBezTo>
                    <a:pt x="1322" y="1096"/>
                    <a:pt x="1108" y="1322"/>
                    <a:pt x="834" y="1322"/>
                  </a:cubicBezTo>
                  <a:cubicBezTo>
                    <a:pt x="548" y="1322"/>
                    <a:pt x="346" y="1096"/>
                    <a:pt x="346" y="834"/>
                  </a:cubicBezTo>
                  <a:cubicBezTo>
                    <a:pt x="346" y="560"/>
                    <a:pt x="572" y="346"/>
                    <a:pt x="834" y="346"/>
                  </a:cubicBezTo>
                  <a:close/>
                  <a:moveTo>
                    <a:pt x="834" y="1"/>
                  </a:moveTo>
                  <a:cubicBezTo>
                    <a:pt x="369" y="1"/>
                    <a:pt x="0" y="370"/>
                    <a:pt x="0" y="834"/>
                  </a:cubicBezTo>
                  <a:cubicBezTo>
                    <a:pt x="0" y="1299"/>
                    <a:pt x="369" y="1668"/>
                    <a:pt x="834" y="1668"/>
                  </a:cubicBezTo>
                  <a:cubicBezTo>
                    <a:pt x="1298" y="1668"/>
                    <a:pt x="1667" y="1299"/>
                    <a:pt x="1667" y="834"/>
                  </a:cubicBezTo>
                  <a:cubicBezTo>
                    <a:pt x="1667" y="370"/>
                    <a:pt x="1298" y="1"/>
                    <a:pt x="8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1046786" y="3552237"/>
              <a:ext cx="53088" cy="53088"/>
            </a:xfrm>
            <a:custGeom>
              <a:avLst/>
              <a:gdLst/>
              <a:ahLst/>
              <a:cxnLst/>
              <a:rect l="l" t="t" r="r" b="b"/>
              <a:pathLst>
                <a:path w="1668" h="1668" extrusionOk="0">
                  <a:moveTo>
                    <a:pt x="834" y="346"/>
                  </a:moveTo>
                  <a:cubicBezTo>
                    <a:pt x="1096" y="346"/>
                    <a:pt x="1322" y="572"/>
                    <a:pt x="1322" y="834"/>
                  </a:cubicBezTo>
                  <a:cubicBezTo>
                    <a:pt x="1322" y="1108"/>
                    <a:pt x="1096" y="1334"/>
                    <a:pt x="834" y="1334"/>
                  </a:cubicBezTo>
                  <a:cubicBezTo>
                    <a:pt x="560" y="1334"/>
                    <a:pt x="334" y="1108"/>
                    <a:pt x="334" y="834"/>
                  </a:cubicBezTo>
                  <a:cubicBezTo>
                    <a:pt x="334" y="572"/>
                    <a:pt x="560" y="346"/>
                    <a:pt x="834" y="346"/>
                  </a:cubicBezTo>
                  <a:close/>
                  <a:moveTo>
                    <a:pt x="834" y="1"/>
                  </a:moveTo>
                  <a:cubicBezTo>
                    <a:pt x="369" y="1"/>
                    <a:pt x="0" y="382"/>
                    <a:pt x="0" y="834"/>
                  </a:cubicBezTo>
                  <a:cubicBezTo>
                    <a:pt x="0" y="1299"/>
                    <a:pt x="369" y="1668"/>
                    <a:pt x="834" y="1668"/>
                  </a:cubicBezTo>
                  <a:cubicBezTo>
                    <a:pt x="1286" y="1668"/>
                    <a:pt x="1667" y="1299"/>
                    <a:pt x="1667" y="834"/>
                  </a:cubicBezTo>
                  <a:cubicBezTo>
                    <a:pt x="1667" y="382"/>
                    <a:pt x="1286" y="1"/>
                    <a:pt x="83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984245" y="3485272"/>
              <a:ext cx="106527" cy="104999"/>
            </a:xfrm>
            <a:custGeom>
              <a:avLst/>
              <a:gdLst/>
              <a:ahLst/>
              <a:cxnLst/>
              <a:rect l="l" t="t" r="r" b="b"/>
              <a:pathLst>
                <a:path w="3347" h="3299" extrusionOk="0">
                  <a:moveTo>
                    <a:pt x="3160" y="0"/>
                  </a:moveTo>
                  <a:cubicBezTo>
                    <a:pt x="3117" y="0"/>
                    <a:pt x="3073" y="15"/>
                    <a:pt x="3037" y="45"/>
                  </a:cubicBezTo>
                  <a:lnTo>
                    <a:pt x="72" y="2998"/>
                  </a:lnTo>
                  <a:cubicBezTo>
                    <a:pt x="1" y="3081"/>
                    <a:pt x="1" y="3176"/>
                    <a:pt x="72" y="3236"/>
                  </a:cubicBezTo>
                  <a:cubicBezTo>
                    <a:pt x="108" y="3278"/>
                    <a:pt x="152" y="3298"/>
                    <a:pt x="196" y="3298"/>
                  </a:cubicBezTo>
                  <a:cubicBezTo>
                    <a:pt x="239" y="3298"/>
                    <a:pt x="280" y="3278"/>
                    <a:pt x="310" y="3236"/>
                  </a:cubicBezTo>
                  <a:lnTo>
                    <a:pt x="3275" y="283"/>
                  </a:lnTo>
                  <a:cubicBezTo>
                    <a:pt x="3346" y="200"/>
                    <a:pt x="3346" y="105"/>
                    <a:pt x="3275" y="45"/>
                  </a:cubicBezTo>
                  <a:cubicBezTo>
                    <a:pt x="3245" y="15"/>
                    <a:pt x="3203" y="0"/>
                    <a:pt x="316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922850" y="3428715"/>
              <a:ext cx="223620" cy="223620"/>
            </a:xfrm>
            <a:custGeom>
              <a:avLst/>
              <a:gdLst/>
              <a:ahLst/>
              <a:cxnLst/>
              <a:rect l="l" t="t" r="r" b="b"/>
              <a:pathLst>
                <a:path w="7026" h="7026" extrusionOk="0">
                  <a:moveTo>
                    <a:pt x="3513" y="0"/>
                  </a:moveTo>
                  <a:cubicBezTo>
                    <a:pt x="1584" y="0"/>
                    <a:pt x="1" y="1584"/>
                    <a:pt x="1" y="3513"/>
                  </a:cubicBezTo>
                  <a:cubicBezTo>
                    <a:pt x="1" y="5453"/>
                    <a:pt x="1584" y="7025"/>
                    <a:pt x="3513" y="7025"/>
                  </a:cubicBezTo>
                  <a:cubicBezTo>
                    <a:pt x="5454" y="7025"/>
                    <a:pt x="7026" y="5453"/>
                    <a:pt x="7026" y="3513"/>
                  </a:cubicBezTo>
                  <a:cubicBezTo>
                    <a:pt x="7026" y="1834"/>
                    <a:pt x="5835" y="393"/>
                    <a:pt x="4204" y="60"/>
                  </a:cubicBezTo>
                  <a:cubicBezTo>
                    <a:pt x="4196" y="59"/>
                    <a:pt x="4188" y="58"/>
                    <a:pt x="4180" y="58"/>
                  </a:cubicBezTo>
                  <a:cubicBezTo>
                    <a:pt x="4095" y="58"/>
                    <a:pt x="4022" y="115"/>
                    <a:pt x="3989" y="191"/>
                  </a:cubicBezTo>
                  <a:cubicBezTo>
                    <a:pt x="3978" y="286"/>
                    <a:pt x="4037" y="369"/>
                    <a:pt x="4132" y="405"/>
                  </a:cubicBezTo>
                  <a:cubicBezTo>
                    <a:pt x="5597" y="703"/>
                    <a:pt x="6692" y="2001"/>
                    <a:pt x="6692" y="3513"/>
                  </a:cubicBezTo>
                  <a:cubicBezTo>
                    <a:pt x="6692" y="5251"/>
                    <a:pt x="5263" y="6680"/>
                    <a:pt x="3513" y="6680"/>
                  </a:cubicBezTo>
                  <a:cubicBezTo>
                    <a:pt x="1775" y="6680"/>
                    <a:pt x="346" y="5251"/>
                    <a:pt x="346" y="3513"/>
                  </a:cubicBezTo>
                  <a:cubicBezTo>
                    <a:pt x="346" y="1774"/>
                    <a:pt x="1775" y="346"/>
                    <a:pt x="3513" y="346"/>
                  </a:cubicBezTo>
                  <a:cubicBezTo>
                    <a:pt x="3608" y="346"/>
                    <a:pt x="3692" y="274"/>
                    <a:pt x="3692" y="167"/>
                  </a:cubicBezTo>
                  <a:cubicBezTo>
                    <a:pt x="3680" y="72"/>
                    <a:pt x="3608" y="0"/>
                    <a:pt x="351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850092" y="3352934"/>
              <a:ext cx="369517" cy="375660"/>
            </a:xfrm>
            <a:custGeom>
              <a:avLst/>
              <a:gdLst/>
              <a:ahLst/>
              <a:cxnLst/>
              <a:rect l="l" t="t" r="r" b="b"/>
              <a:pathLst>
                <a:path w="11610" h="11803" extrusionOk="0">
                  <a:moveTo>
                    <a:pt x="5804" y="0"/>
                  </a:moveTo>
                  <a:cubicBezTo>
                    <a:pt x="5801" y="0"/>
                    <a:pt x="5799" y="0"/>
                    <a:pt x="5799" y="0"/>
                  </a:cubicBezTo>
                  <a:cubicBezTo>
                    <a:pt x="5585" y="0"/>
                    <a:pt x="5371" y="119"/>
                    <a:pt x="5252" y="310"/>
                  </a:cubicBezTo>
                  <a:lnTo>
                    <a:pt x="4573" y="1453"/>
                  </a:lnTo>
                  <a:cubicBezTo>
                    <a:pt x="4515" y="1551"/>
                    <a:pt x="4424" y="1605"/>
                    <a:pt x="4326" y="1605"/>
                  </a:cubicBezTo>
                  <a:cubicBezTo>
                    <a:pt x="4281" y="1605"/>
                    <a:pt x="4236" y="1594"/>
                    <a:pt x="4192" y="1572"/>
                  </a:cubicBezTo>
                  <a:lnTo>
                    <a:pt x="2977" y="1060"/>
                  </a:lnTo>
                  <a:cubicBezTo>
                    <a:pt x="2889" y="1020"/>
                    <a:pt x="2800" y="1002"/>
                    <a:pt x="2713" y="1002"/>
                  </a:cubicBezTo>
                  <a:cubicBezTo>
                    <a:pt x="2355" y="1002"/>
                    <a:pt x="2046" y="1312"/>
                    <a:pt x="2084" y="1715"/>
                  </a:cubicBezTo>
                  <a:lnTo>
                    <a:pt x="2204" y="3036"/>
                  </a:lnTo>
                  <a:cubicBezTo>
                    <a:pt x="2215" y="3179"/>
                    <a:pt x="2108" y="3322"/>
                    <a:pt x="1965" y="3346"/>
                  </a:cubicBezTo>
                  <a:lnTo>
                    <a:pt x="668" y="3643"/>
                  </a:lnTo>
                  <a:cubicBezTo>
                    <a:pt x="191" y="3751"/>
                    <a:pt x="1" y="4334"/>
                    <a:pt x="322" y="4703"/>
                  </a:cubicBezTo>
                  <a:lnTo>
                    <a:pt x="1203" y="5703"/>
                  </a:lnTo>
                  <a:cubicBezTo>
                    <a:pt x="1311" y="5822"/>
                    <a:pt x="1311" y="5989"/>
                    <a:pt x="1203" y="6084"/>
                  </a:cubicBezTo>
                  <a:lnTo>
                    <a:pt x="322" y="7084"/>
                  </a:lnTo>
                  <a:cubicBezTo>
                    <a:pt x="179" y="7263"/>
                    <a:pt x="132" y="7489"/>
                    <a:pt x="191" y="7715"/>
                  </a:cubicBezTo>
                  <a:cubicBezTo>
                    <a:pt x="263" y="7930"/>
                    <a:pt x="441" y="8084"/>
                    <a:pt x="668" y="8144"/>
                  </a:cubicBezTo>
                  <a:lnTo>
                    <a:pt x="1025" y="8215"/>
                  </a:lnTo>
                  <a:cubicBezTo>
                    <a:pt x="1033" y="8216"/>
                    <a:pt x="1041" y="8217"/>
                    <a:pt x="1049" y="8217"/>
                  </a:cubicBezTo>
                  <a:cubicBezTo>
                    <a:pt x="1136" y="8217"/>
                    <a:pt x="1217" y="8161"/>
                    <a:pt x="1239" y="8084"/>
                  </a:cubicBezTo>
                  <a:cubicBezTo>
                    <a:pt x="1251" y="7989"/>
                    <a:pt x="1192" y="7894"/>
                    <a:pt x="1096" y="7870"/>
                  </a:cubicBezTo>
                  <a:lnTo>
                    <a:pt x="739" y="7799"/>
                  </a:lnTo>
                  <a:cubicBezTo>
                    <a:pt x="644" y="7775"/>
                    <a:pt x="560" y="7692"/>
                    <a:pt x="525" y="7608"/>
                  </a:cubicBezTo>
                  <a:cubicBezTo>
                    <a:pt x="489" y="7501"/>
                    <a:pt x="501" y="7394"/>
                    <a:pt x="584" y="7322"/>
                  </a:cubicBezTo>
                  <a:lnTo>
                    <a:pt x="1453" y="6322"/>
                  </a:lnTo>
                  <a:cubicBezTo>
                    <a:pt x="1668" y="6084"/>
                    <a:pt x="1668" y="5715"/>
                    <a:pt x="1453" y="5477"/>
                  </a:cubicBezTo>
                  <a:lnTo>
                    <a:pt x="584" y="4477"/>
                  </a:lnTo>
                  <a:cubicBezTo>
                    <a:pt x="430" y="4322"/>
                    <a:pt x="525" y="4048"/>
                    <a:pt x="739" y="3989"/>
                  </a:cubicBezTo>
                  <a:lnTo>
                    <a:pt x="2037" y="3691"/>
                  </a:lnTo>
                  <a:cubicBezTo>
                    <a:pt x="2346" y="3620"/>
                    <a:pt x="2573" y="3322"/>
                    <a:pt x="2549" y="3012"/>
                  </a:cubicBezTo>
                  <a:lnTo>
                    <a:pt x="2430" y="1679"/>
                  </a:lnTo>
                  <a:cubicBezTo>
                    <a:pt x="2410" y="1503"/>
                    <a:pt x="2559" y="1359"/>
                    <a:pt x="2731" y="1359"/>
                  </a:cubicBezTo>
                  <a:cubicBezTo>
                    <a:pt x="2769" y="1359"/>
                    <a:pt x="2808" y="1366"/>
                    <a:pt x="2846" y="1381"/>
                  </a:cubicBezTo>
                  <a:lnTo>
                    <a:pt x="4061" y="1905"/>
                  </a:lnTo>
                  <a:cubicBezTo>
                    <a:pt x="4143" y="1941"/>
                    <a:pt x="4229" y="1958"/>
                    <a:pt x="4314" y="1958"/>
                  </a:cubicBezTo>
                  <a:cubicBezTo>
                    <a:pt x="4536" y="1958"/>
                    <a:pt x="4750" y="1841"/>
                    <a:pt x="4871" y="1643"/>
                  </a:cubicBezTo>
                  <a:lnTo>
                    <a:pt x="5549" y="488"/>
                  </a:lnTo>
                  <a:cubicBezTo>
                    <a:pt x="5609" y="393"/>
                    <a:pt x="5710" y="345"/>
                    <a:pt x="5810" y="345"/>
                  </a:cubicBezTo>
                  <a:cubicBezTo>
                    <a:pt x="5909" y="345"/>
                    <a:pt x="6008" y="393"/>
                    <a:pt x="6061" y="488"/>
                  </a:cubicBezTo>
                  <a:lnTo>
                    <a:pt x="6740" y="1643"/>
                  </a:lnTo>
                  <a:cubicBezTo>
                    <a:pt x="6861" y="1842"/>
                    <a:pt x="7077" y="1953"/>
                    <a:pt x="7300" y="1953"/>
                  </a:cubicBezTo>
                  <a:cubicBezTo>
                    <a:pt x="7383" y="1953"/>
                    <a:pt x="7468" y="1938"/>
                    <a:pt x="7549" y="1905"/>
                  </a:cubicBezTo>
                  <a:lnTo>
                    <a:pt x="8764" y="1381"/>
                  </a:lnTo>
                  <a:cubicBezTo>
                    <a:pt x="8802" y="1366"/>
                    <a:pt x="8841" y="1359"/>
                    <a:pt x="8878" y="1359"/>
                  </a:cubicBezTo>
                  <a:cubicBezTo>
                    <a:pt x="9048" y="1359"/>
                    <a:pt x="9190" y="1503"/>
                    <a:pt x="9181" y="1679"/>
                  </a:cubicBezTo>
                  <a:lnTo>
                    <a:pt x="9062" y="3012"/>
                  </a:lnTo>
                  <a:cubicBezTo>
                    <a:pt x="9038" y="3334"/>
                    <a:pt x="9240" y="3620"/>
                    <a:pt x="9574" y="3691"/>
                  </a:cubicBezTo>
                  <a:lnTo>
                    <a:pt x="10859" y="3989"/>
                  </a:lnTo>
                  <a:cubicBezTo>
                    <a:pt x="11086" y="4036"/>
                    <a:pt x="11181" y="4298"/>
                    <a:pt x="11026" y="4477"/>
                  </a:cubicBezTo>
                  <a:lnTo>
                    <a:pt x="10145" y="5477"/>
                  </a:lnTo>
                  <a:cubicBezTo>
                    <a:pt x="9943" y="5715"/>
                    <a:pt x="9943" y="6084"/>
                    <a:pt x="10145" y="6322"/>
                  </a:cubicBezTo>
                  <a:lnTo>
                    <a:pt x="11026" y="7322"/>
                  </a:lnTo>
                  <a:cubicBezTo>
                    <a:pt x="11181" y="7489"/>
                    <a:pt x="11086" y="7751"/>
                    <a:pt x="10859" y="7811"/>
                  </a:cubicBezTo>
                  <a:lnTo>
                    <a:pt x="9574" y="8108"/>
                  </a:lnTo>
                  <a:cubicBezTo>
                    <a:pt x="9252" y="8192"/>
                    <a:pt x="9038" y="8489"/>
                    <a:pt x="9062" y="8799"/>
                  </a:cubicBezTo>
                  <a:lnTo>
                    <a:pt x="9181" y="10120"/>
                  </a:lnTo>
                  <a:cubicBezTo>
                    <a:pt x="9190" y="10302"/>
                    <a:pt x="9054" y="10445"/>
                    <a:pt x="8889" y="10445"/>
                  </a:cubicBezTo>
                  <a:cubicBezTo>
                    <a:pt x="8848" y="10445"/>
                    <a:pt x="8806" y="10437"/>
                    <a:pt x="8764" y="10418"/>
                  </a:cubicBezTo>
                  <a:lnTo>
                    <a:pt x="7549" y="9894"/>
                  </a:lnTo>
                  <a:cubicBezTo>
                    <a:pt x="7468" y="9858"/>
                    <a:pt x="7382" y="9841"/>
                    <a:pt x="7298" y="9841"/>
                  </a:cubicBezTo>
                  <a:cubicBezTo>
                    <a:pt x="7076" y="9841"/>
                    <a:pt x="6861" y="9961"/>
                    <a:pt x="6740" y="10168"/>
                  </a:cubicBezTo>
                  <a:lnTo>
                    <a:pt x="6061" y="11311"/>
                  </a:lnTo>
                  <a:cubicBezTo>
                    <a:pt x="6002" y="11406"/>
                    <a:pt x="5900" y="11454"/>
                    <a:pt x="5801" y="11454"/>
                  </a:cubicBezTo>
                  <a:cubicBezTo>
                    <a:pt x="5701" y="11454"/>
                    <a:pt x="5603" y="11406"/>
                    <a:pt x="5549" y="11311"/>
                  </a:cubicBezTo>
                  <a:lnTo>
                    <a:pt x="4871" y="10168"/>
                  </a:lnTo>
                  <a:cubicBezTo>
                    <a:pt x="4749" y="9960"/>
                    <a:pt x="4533" y="9846"/>
                    <a:pt x="4309" y="9846"/>
                  </a:cubicBezTo>
                  <a:cubicBezTo>
                    <a:pt x="4226" y="9846"/>
                    <a:pt x="4142" y="9862"/>
                    <a:pt x="4061" y="9894"/>
                  </a:cubicBezTo>
                  <a:lnTo>
                    <a:pt x="2846" y="10418"/>
                  </a:lnTo>
                  <a:cubicBezTo>
                    <a:pt x="2804" y="10437"/>
                    <a:pt x="2762" y="10445"/>
                    <a:pt x="2721" y="10445"/>
                  </a:cubicBezTo>
                  <a:cubicBezTo>
                    <a:pt x="2553" y="10445"/>
                    <a:pt x="2411" y="10302"/>
                    <a:pt x="2430" y="10120"/>
                  </a:cubicBezTo>
                  <a:lnTo>
                    <a:pt x="2549" y="8799"/>
                  </a:lnTo>
                  <a:cubicBezTo>
                    <a:pt x="2573" y="8465"/>
                    <a:pt x="2370" y="8192"/>
                    <a:pt x="2037" y="8108"/>
                  </a:cubicBezTo>
                  <a:lnTo>
                    <a:pt x="1727" y="8037"/>
                  </a:lnTo>
                  <a:cubicBezTo>
                    <a:pt x="1719" y="8036"/>
                    <a:pt x="1711" y="8035"/>
                    <a:pt x="1703" y="8035"/>
                  </a:cubicBezTo>
                  <a:cubicBezTo>
                    <a:pt x="1616" y="8035"/>
                    <a:pt x="1535" y="8092"/>
                    <a:pt x="1513" y="8168"/>
                  </a:cubicBezTo>
                  <a:cubicBezTo>
                    <a:pt x="1501" y="8263"/>
                    <a:pt x="1561" y="8370"/>
                    <a:pt x="1656" y="8382"/>
                  </a:cubicBezTo>
                  <a:lnTo>
                    <a:pt x="1965" y="8454"/>
                  </a:lnTo>
                  <a:cubicBezTo>
                    <a:pt x="2108" y="8489"/>
                    <a:pt x="2204" y="8620"/>
                    <a:pt x="2204" y="8763"/>
                  </a:cubicBezTo>
                  <a:lnTo>
                    <a:pt x="2084" y="10097"/>
                  </a:lnTo>
                  <a:cubicBezTo>
                    <a:pt x="2046" y="10493"/>
                    <a:pt x="2361" y="10804"/>
                    <a:pt x="2723" y="10804"/>
                  </a:cubicBezTo>
                  <a:cubicBezTo>
                    <a:pt x="2807" y="10804"/>
                    <a:pt x="2893" y="10787"/>
                    <a:pt x="2977" y="10751"/>
                  </a:cubicBezTo>
                  <a:lnTo>
                    <a:pt x="4192" y="10228"/>
                  </a:lnTo>
                  <a:cubicBezTo>
                    <a:pt x="4230" y="10212"/>
                    <a:pt x="4269" y="10204"/>
                    <a:pt x="4308" y="10204"/>
                  </a:cubicBezTo>
                  <a:cubicBezTo>
                    <a:pt x="4413" y="10204"/>
                    <a:pt x="4512" y="10259"/>
                    <a:pt x="4573" y="10347"/>
                  </a:cubicBezTo>
                  <a:lnTo>
                    <a:pt x="5252" y="11490"/>
                  </a:lnTo>
                  <a:cubicBezTo>
                    <a:pt x="5377" y="11698"/>
                    <a:pt x="5594" y="11802"/>
                    <a:pt x="5810" y="11802"/>
                  </a:cubicBezTo>
                  <a:cubicBezTo>
                    <a:pt x="6025" y="11802"/>
                    <a:pt x="6240" y="11698"/>
                    <a:pt x="6359" y="11490"/>
                  </a:cubicBezTo>
                  <a:lnTo>
                    <a:pt x="7037" y="10347"/>
                  </a:lnTo>
                  <a:cubicBezTo>
                    <a:pt x="7088" y="10253"/>
                    <a:pt x="7188" y="10202"/>
                    <a:pt x="7288" y="10202"/>
                  </a:cubicBezTo>
                  <a:cubicBezTo>
                    <a:pt x="7328" y="10202"/>
                    <a:pt x="7369" y="10211"/>
                    <a:pt x="7407" y="10228"/>
                  </a:cubicBezTo>
                  <a:lnTo>
                    <a:pt x="8633" y="10751"/>
                  </a:lnTo>
                  <a:cubicBezTo>
                    <a:pt x="8715" y="10787"/>
                    <a:pt x="8800" y="10804"/>
                    <a:pt x="8883" y="10804"/>
                  </a:cubicBezTo>
                  <a:cubicBezTo>
                    <a:pt x="9242" y="10804"/>
                    <a:pt x="9565" y="10493"/>
                    <a:pt x="9526" y="10097"/>
                  </a:cubicBezTo>
                  <a:lnTo>
                    <a:pt x="9407" y="8763"/>
                  </a:lnTo>
                  <a:cubicBezTo>
                    <a:pt x="9395" y="8620"/>
                    <a:pt x="9490" y="8489"/>
                    <a:pt x="9645" y="8454"/>
                  </a:cubicBezTo>
                  <a:lnTo>
                    <a:pt x="10943" y="8156"/>
                  </a:lnTo>
                  <a:cubicBezTo>
                    <a:pt x="11419" y="8049"/>
                    <a:pt x="11609" y="7477"/>
                    <a:pt x="11276" y="7096"/>
                  </a:cubicBezTo>
                  <a:lnTo>
                    <a:pt x="10407" y="6084"/>
                  </a:lnTo>
                  <a:cubicBezTo>
                    <a:pt x="10300" y="5965"/>
                    <a:pt x="10300" y="5810"/>
                    <a:pt x="10407" y="5703"/>
                  </a:cubicBezTo>
                  <a:lnTo>
                    <a:pt x="11276" y="4703"/>
                  </a:lnTo>
                  <a:cubicBezTo>
                    <a:pt x="11609" y="4334"/>
                    <a:pt x="11419" y="3751"/>
                    <a:pt x="10943" y="3643"/>
                  </a:cubicBezTo>
                  <a:lnTo>
                    <a:pt x="9645" y="3346"/>
                  </a:lnTo>
                  <a:cubicBezTo>
                    <a:pt x="9490" y="3322"/>
                    <a:pt x="9407" y="3179"/>
                    <a:pt x="9407" y="3036"/>
                  </a:cubicBezTo>
                  <a:lnTo>
                    <a:pt x="9526" y="1715"/>
                  </a:lnTo>
                  <a:cubicBezTo>
                    <a:pt x="9564" y="1312"/>
                    <a:pt x="9248" y="1002"/>
                    <a:pt x="8893" y="1002"/>
                  </a:cubicBezTo>
                  <a:cubicBezTo>
                    <a:pt x="8807" y="1002"/>
                    <a:pt x="8719" y="1020"/>
                    <a:pt x="8633" y="1060"/>
                  </a:cubicBezTo>
                  <a:lnTo>
                    <a:pt x="7407" y="1572"/>
                  </a:lnTo>
                  <a:cubicBezTo>
                    <a:pt x="7371" y="1588"/>
                    <a:pt x="7334" y="1595"/>
                    <a:pt x="7296" y="1595"/>
                  </a:cubicBezTo>
                  <a:cubicBezTo>
                    <a:pt x="7193" y="1595"/>
                    <a:pt x="7090" y="1540"/>
                    <a:pt x="7037" y="1453"/>
                  </a:cubicBezTo>
                  <a:lnTo>
                    <a:pt x="6359" y="310"/>
                  </a:lnTo>
                  <a:cubicBezTo>
                    <a:pt x="6170" y="10"/>
                    <a:pt x="5848" y="0"/>
                    <a:pt x="58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26"/>
          <p:cNvSpPr/>
          <p:nvPr/>
        </p:nvSpPr>
        <p:spPr>
          <a:xfrm>
            <a:off x="2499420" y="1117695"/>
            <a:ext cx="372159" cy="372159"/>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26"/>
          <p:cNvGrpSpPr/>
          <p:nvPr/>
        </p:nvGrpSpPr>
        <p:grpSpPr>
          <a:xfrm>
            <a:off x="5575721" y="453189"/>
            <a:ext cx="336492" cy="336854"/>
            <a:chOff x="3539102" y="2427549"/>
            <a:chExt cx="355099" cy="355481"/>
          </a:xfrm>
        </p:grpSpPr>
        <p:sp>
          <p:nvSpPr>
            <p:cNvPr id="146" name="Google Shape;146;p26"/>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26"/>
          <p:cNvGrpSpPr/>
          <p:nvPr/>
        </p:nvGrpSpPr>
        <p:grpSpPr>
          <a:xfrm>
            <a:off x="3199894" y="439413"/>
            <a:ext cx="402374" cy="362502"/>
            <a:chOff x="3988156" y="3380210"/>
            <a:chExt cx="353954" cy="318880"/>
          </a:xfrm>
        </p:grpSpPr>
        <p:sp>
          <p:nvSpPr>
            <p:cNvPr id="149" name="Google Shape;149;p26"/>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26"/>
          <p:cNvGrpSpPr/>
          <p:nvPr/>
        </p:nvGrpSpPr>
        <p:grpSpPr>
          <a:xfrm>
            <a:off x="6312295" y="1136251"/>
            <a:ext cx="336512" cy="335048"/>
            <a:chOff x="3996113" y="4291176"/>
            <a:chExt cx="336512" cy="335048"/>
          </a:xfrm>
        </p:grpSpPr>
        <p:sp>
          <p:nvSpPr>
            <p:cNvPr id="155" name="Google Shape;155;p26"/>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46400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txBox="1">
            <a:spLocks noGrp="1"/>
          </p:cNvSpPr>
          <p:nvPr>
            <p:ph type="ctrTitle"/>
          </p:nvPr>
        </p:nvSpPr>
        <p:spPr>
          <a:xfrm>
            <a:off x="1179875" y="1660263"/>
            <a:ext cx="6784200" cy="2088000"/>
          </a:xfrm>
          <a:prstGeom prst="rect">
            <a:avLst/>
          </a:prstGeom>
          <a:noFill/>
        </p:spPr>
        <p:txBody>
          <a:bodyPr spcFirstLastPara="1" wrap="square" lIns="91425" tIns="91425" rIns="91425" bIns="91425" anchor="b" anchorCtr="0">
            <a:noAutofit/>
          </a:bodyPr>
          <a:lstStyle/>
          <a:p>
            <a:pPr marL="0" lvl="0" indent="0" algn="ctr" rtl="0">
              <a:spcBef>
                <a:spcPts val="0"/>
              </a:spcBef>
              <a:spcAft>
                <a:spcPts val="0"/>
              </a:spcAft>
              <a:buNone/>
            </a:pPr>
            <a:r>
              <a:rPr lang="en" err="1">
                <a:solidFill>
                  <a:srgbClr val="56007F"/>
                </a:solidFill>
              </a:rPr>
              <a:t>TechAccessories</a:t>
            </a:r>
            <a:br>
              <a:rPr lang="en" dirty="0"/>
            </a:br>
            <a:r>
              <a:rPr lang="en" sz="4000" dirty="0">
                <a:solidFill>
                  <a:srgbClr val="56007F"/>
                </a:solidFill>
              </a:rPr>
              <a:t>Marketing</a:t>
            </a:r>
            <a:endParaRPr lang="en-US" dirty="0">
              <a:solidFill>
                <a:srgbClr val="56007F"/>
              </a:solidFill>
            </a:endParaRPr>
          </a:p>
        </p:txBody>
      </p:sp>
      <p:sp>
        <p:nvSpPr>
          <p:cNvPr id="131" name="Google Shape;131;p26"/>
          <p:cNvSpPr txBox="1">
            <a:spLocks noGrp="1"/>
          </p:cNvSpPr>
          <p:nvPr>
            <p:ph type="subTitle" idx="1"/>
          </p:nvPr>
        </p:nvSpPr>
        <p:spPr>
          <a:xfrm>
            <a:off x="1179875" y="3918688"/>
            <a:ext cx="6784200" cy="475800"/>
          </a:xfrm>
          <a:prstGeom prst="rect">
            <a:avLst/>
          </a:prstGeom>
        </p:spPr>
        <p:txBody>
          <a:bodyPr spcFirstLastPara="1" wrap="square" lIns="91425" tIns="91425" rIns="91425" bIns="91425" anchor="t" anchorCtr="0">
            <a:noAutofit/>
          </a:bodyPr>
          <a:lstStyle/>
          <a:p>
            <a:pPr marL="0" indent="0"/>
            <a:r>
              <a:rPr lang="en" dirty="0" err="1">
                <a:solidFill>
                  <a:srgbClr val="56007F"/>
                </a:solidFill>
              </a:rPr>
              <a:t>Diplomarbeitspräsentation</a:t>
            </a:r>
            <a:r>
              <a:rPr lang="en" dirty="0">
                <a:solidFill>
                  <a:srgbClr val="56007F"/>
                </a:solidFill>
              </a:rPr>
              <a:t> von Julia Biechl</a:t>
            </a:r>
            <a:endParaRPr lang="en-US" dirty="0">
              <a:solidFill>
                <a:srgbClr val="56007F"/>
              </a:solidFill>
            </a:endParaRPr>
          </a:p>
        </p:txBody>
      </p:sp>
      <p:cxnSp>
        <p:nvCxnSpPr>
          <p:cNvPr id="132" name="Google Shape;132;p26"/>
          <p:cNvCxnSpPr>
            <a:endCxn id="130" idx="0"/>
          </p:cNvCxnSpPr>
          <p:nvPr/>
        </p:nvCxnSpPr>
        <p:spPr>
          <a:xfrm>
            <a:off x="4571975" y="489063"/>
            <a:ext cx="0" cy="1171200"/>
          </a:xfrm>
          <a:prstGeom prst="straightConnector1">
            <a:avLst/>
          </a:prstGeom>
          <a:noFill/>
          <a:ln w="28575" cap="flat" cmpd="sng">
            <a:solidFill>
              <a:srgbClr val="56007F"/>
            </a:solidFill>
            <a:prstDash val="solid"/>
            <a:round/>
            <a:headEnd type="none" w="med" len="med"/>
            <a:tailEnd type="none" w="med" len="med"/>
          </a:ln>
        </p:spPr>
      </p:cxnSp>
      <p:sp>
        <p:nvSpPr>
          <p:cNvPr id="133" name="Google Shape;133;p26"/>
          <p:cNvSpPr/>
          <p:nvPr/>
        </p:nvSpPr>
        <p:spPr>
          <a:xfrm>
            <a:off x="6171050" y="1016363"/>
            <a:ext cx="574800" cy="574800"/>
          </a:xfrm>
          <a:prstGeom prst="ellipse">
            <a:avLst/>
          </a:prstGeom>
          <a:solidFill>
            <a:srgbClr val="EFE9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6"/>
          <p:cNvSpPr/>
          <p:nvPr/>
        </p:nvSpPr>
        <p:spPr>
          <a:xfrm>
            <a:off x="4175975" y="72275"/>
            <a:ext cx="792000" cy="792000"/>
          </a:xfrm>
          <a:prstGeom prst="ellipse">
            <a:avLst/>
          </a:prstGeom>
          <a:solidFill>
            <a:srgbClr val="EFE9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6"/>
          <p:cNvSpPr/>
          <p:nvPr/>
        </p:nvSpPr>
        <p:spPr>
          <a:xfrm>
            <a:off x="5417701" y="295950"/>
            <a:ext cx="651300" cy="651300"/>
          </a:xfrm>
          <a:prstGeom prst="ellipse">
            <a:avLst/>
          </a:prstGeom>
          <a:solidFill>
            <a:srgbClr val="EFE9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p:nvPr/>
        </p:nvSpPr>
        <p:spPr>
          <a:xfrm>
            <a:off x="3074952" y="295950"/>
            <a:ext cx="651300" cy="651300"/>
          </a:xfrm>
          <a:prstGeom prst="ellipse">
            <a:avLst/>
          </a:prstGeom>
          <a:solidFill>
            <a:srgbClr val="EFE9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6"/>
          <p:cNvSpPr/>
          <p:nvPr/>
        </p:nvSpPr>
        <p:spPr>
          <a:xfrm>
            <a:off x="2398100" y="1016363"/>
            <a:ext cx="574800" cy="574800"/>
          </a:xfrm>
          <a:prstGeom prst="ellipse">
            <a:avLst/>
          </a:prstGeom>
          <a:solidFill>
            <a:srgbClr val="EFE9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26"/>
          <p:cNvGrpSpPr/>
          <p:nvPr/>
        </p:nvGrpSpPr>
        <p:grpSpPr>
          <a:xfrm>
            <a:off x="4315262" y="207323"/>
            <a:ext cx="513333" cy="521904"/>
            <a:chOff x="850092" y="3352934"/>
            <a:chExt cx="369517" cy="375660"/>
          </a:xfrm>
        </p:grpSpPr>
        <p:sp>
          <p:nvSpPr>
            <p:cNvPr id="139" name="Google Shape;139;p26"/>
            <p:cNvSpPr/>
            <p:nvPr/>
          </p:nvSpPr>
          <p:spPr>
            <a:xfrm>
              <a:off x="969859" y="3475692"/>
              <a:ext cx="53088" cy="53088"/>
            </a:xfrm>
            <a:custGeom>
              <a:avLst/>
              <a:gdLst/>
              <a:ahLst/>
              <a:cxnLst/>
              <a:rect l="l" t="t" r="r" b="b"/>
              <a:pathLst>
                <a:path w="1668" h="1668" extrusionOk="0">
                  <a:moveTo>
                    <a:pt x="834" y="346"/>
                  </a:moveTo>
                  <a:cubicBezTo>
                    <a:pt x="1108" y="346"/>
                    <a:pt x="1322" y="560"/>
                    <a:pt x="1322" y="834"/>
                  </a:cubicBezTo>
                  <a:cubicBezTo>
                    <a:pt x="1322" y="1096"/>
                    <a:pt x="1108" y="1322"/>
                    <a:pt x="834" y="1322"/>
                  </a:cubicBezTo>
                  <a:cubicBezTo>
                    <a:pt x="548" y="1322"/>
                    <a:pt x="346" y="1096"/>
                    <a:pt x="346" y="834"/>
                  </a:cubicBezTo>
                  <a:cubicBezTo>
                    <a:pt x="346" y="560"/>
                    <a:pt x="572" y="346"/>
                    <a:pt x="834" y="346"/>
                  </a:cubicBezTo>
                  <a:close/>
                  <a:moveTo>
                    <a:pt x="834" y="1"/>
                  </a:moveTo>
                  <a:cubicBezTo>
                    <a:pt x="369" y="1"/>
                    <a:pt x="0" y="370"/>
                    <a:pt x="0" y="834"/>
                  </a:cubicBezTo>
                  <a:cubicBezTo>
                    <a:pt x="0" y="1299"/>
                    <a:pt x="369" y="1668"/>
                    <a:pt x="834" y="1668"/>
                  </a:cubicBezTo>
                  <a:cubicBezTo>
                    <a:pt x="1298" y="1668"/>
                    <a:pt x="1667" y="1299"/>
                    <a:pt x="1667" y="834"/>
                  </a:cubicBezTo>
                  <a:cubicBezTo>
                    <a:pt x="1667" y="370"/>
                    <a:pt x="1298" y="1"/>
                    <a:pt x="834"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1046786" y="3552237"/>
              <a:ext cx="53088" cy="53088"/>
            </a:xfrm>
            <a:custGeom>
              <a:avLst/>
              <a:gdLst/>
              <a:ahLst/>
              <a:cxnLst/>
              <a:rect l="l" t="t" r="r" b="b"/>
              <a:pathLst>
                <a:path w="1668" h="1668" extrusionOk="0">
                  <a:moveTo>
                    <a:pt x="834" y="346"/>
                  </a:moveTo>
                  <a:cubicBezTo>
                    <a:pt x="1096" y="346"/>
                    <a:pt x="1322" y="572"/>
                    <a:pt x="1322" y="834"/>
                  </a:cubicBezTo>
                  <a:cubicBezTo>
                    <a:pt x="1322" y="1108"/>
                    <a:pt x="1096" y="1334"/>
                    <a:pt x="834" y="1334"/>
                  </a:cubicBezTo>
                  <a:cubicBezTo>
                    <a:pt x="560" y="1334"/>
                    <a:pt x="334" y="1108"/>
                    <a:pt x="334" y="834"/>
                  </a:cubicBezTo>
                  <a:cubicBezTo>
                    <a:pt x="334" y="572"/>
                    <a:pt x="560" y="346"/>
                    <a:pt x="834" y="346"/>
                  </a:cubicBezTo>
                  <a:close/>
                  <a:moveTo>
                    <a:pt x="834" y="1"/>
                  </a:moveTo>
                  <a:cubicBezTo>
                    <a:pt x="369" y="1"/>
                    <a:pt x="0" y="382"/>
                    <a:pt x="0" y="834"/>
                  </a:cubicBezTo>
                  <a:cubicBezTo>
                    <a:pt x="0" y="1299"/>
                    <a:pt x="369" y="1668"/>
                    <a:pt x="834" y="1668"/>
                  </a:cubicBezTo>
                  <a:cubicBezTo>
                    <a:pt x="1286" y="1668"/>
                    <a:pt x="1667" y="1299"/>
                    <a:pt x="1667" y="834"/>
                  </a:cubicBezTo>
                  <a:cubicBezTo>
                    <a:pt x="1667" y="382"/>
                    <a:pt x="1286" y="1"/>
                    <a:pt x="834"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984245" y="3485272"/>
              <a:ext cx="106527" cy="104999"/>
            </a:xfrm>
            <a:custGeom>
              <a:avLst/>
              <a:gdLst/>
              <a:ahLst/>
              <a:cxnLst/>
              <a:rect l="l" t="t" r="r" b="b"/>
              <a:pathLst>
                <a:path w="3347" h="3299" extrusionOk="0">
                  <a:moveTo>
                    <a:pt x="3160" y="0"/>
                  </a:moveTo>
                  <a:cubicBezTo>
                    <a:pt x="3117" y="0"/>
                    <a:pt x="3073" y="15"/>
                    <a:pt x="3037" y="45"/>
                  </a:cubicBezTo>
                  <a:lnTo>
                    <a:pt x="72" y="2998"/>
                  </a:lnTo>
                  <a:cubicBezTo>
                    <a:pt x="1" y="3081"/>
                    <a:pt x="1" y="3176"/>
                    <a:pt x="72" y="3236"/>
                  </a:cubicBezTo>
                  <a:cubicBezTo>
                    <a:pt x="108" y="3278"/>
                    <a:pt x="152" y="3298"/>
                    <a:pt x="196" y="3298"/>
                  </a:cubicBezTo>
                  <a:cubicBezTo>
                    <a:pt x="239" y="3298"/>
                    <a:pt x="280" y="3278"/>
                    <a:pt x="310" y="3236"/>
                  </a:cubicBezTo>
                  <a:lnTo>
                    <a:pt x="3275" y="283"/>
                  </a:lnTo>
                  <a:cubicBezTo>
                    <a:pt x="3346" y="200"/>
                    <a:pt x="3346" y="105"/>
                    <a:pt x="3275" y="45"/>
                  </a:cubicBezTo>
                  <a:cubicBezTo>
                    <a:pt x="3245" y="15"/>
                    <a:pt x="3203" y="0"/>
                    <a:pt x="3160"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922850" y="3428715"/>
              <a:ext cx="223620" cy="223620"/>
            </a:xfrm>
            <a:custGeom>
              <a:avLst/>
              <a:gdLst/>
              <a:ahLst/>
              <a:cxnLst/>
              <a:rect l="l" t="t" r="r" b="b"/>
              <a:pathLst>
                <a:path w="7026" h="7026" extrusionOk="0">
                  <a:moveTo>
                    <a:pt x="3513" y="0"/>
                  </a:moveTo>
                  <a:cubicBezTo>
                    <a:pt x="1584" y="0"/>
                    <a:pt x="1" y="1584"/>
                    <a:pt x="1" y="3513"/>
                  </a:cubicBezTo>
                  <a:cubicBezTo>
                    <a:pt x="1" y="5453"/>
                    <a:pt x="1584" y="7025"/>
                    <a:pt x="3513" y="7025"/>
                  </a:cubicBezTo>
                  <a:cubicBezTo>
                    <a:pt x="5454" y="7025"/>
                    <a:pt x="7026" y="5453"/>
                    <a:pt x="7026" y="3513"/>
                  </a:cubicBezTo>
                  <a:cubicBezTo>
                    <a:pt x="7026" y="1834"/>
                    <a:pt x="5835" y="393"/>
                    <a:pt x="4204" y="60"/>
                  </a:cubicBezTo>
                  <a:cubicBezTo>
                    <a:pt x="4196" y="59"/>
                    <a:pt x="4188" y="58"/>
                    <a:pt x="4180" y="58"/>
                  </a:cubicBezTo>
                  <a:cubicBezTo>
                    <a:pt x="4095" y="58"/>
                    <a:pt x="4022" y="115"/>
                    <a:pt x="3989" y="191"/>
                  </a:cubicBezTo>
                  <a:cubicBezTo>
                    <a:pt x="3978" y="286"/>
                    <a:pt x="4037" y="369"/>
                    <a:pt x="4132" y="405"/>
                  </a:cubicBezTo>
                  <a:cubicBezTo>
                    <a:pt x="5597" y="703"/>
                    <a:pt x="6692" y="2001"/>
                    <a:pt x="6692" y="3513"/>
                  </a:cubicBezTo>
                  <a:cubicBezTo>
                    <a:pt x="6692" y="5251"/>
                    <a:pt x="5263" y="6680"/>
                    <a:pt x="3513" y="6680"/>
                  </a:cubicBezTo>
                  <a:cubicBezTo>
                    <a:pt x="1775" y="6680"/>
                    <a:pt x="346" y="5251"/>
                    <a:pt x="346" y="3513"/>
                  </a:cubicBezTo>
                  <a:cubicBezTo>
                    <a:pt x="346" y="1774"/>
                    <a:pt x="1775" y="346"/>
                    <a:pt x="3513" y="346"/>
                  </a:cubicBezTo>
                  <a:cubicBezTo>
                    <a:pt x="3608" y="346"/>
                    <a:pt x="3692" y="274"/>
                    <a:pt x="3692" y="167"/>
                  </a:cubicBezTo>
                  <a:cubicBezTo>
                    <a:pt x="3680" y="72"/>
                    <a:pt x="3608" y="0"/>
                    <a:pt x="3513"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850092" y="3352934"/>
              <a:ext cx="369517" cy="375660"/>
            </a:xfrm>
            <a:custGeom>
              <a:avLst/>
              <a:gdLst/>
              <a:ahLst/>
              <a:cxnLst/>
              <a:rect l="l" t="t" r="r" b="b"/>
              <a:pathLst>
                <a:path w="11610" h="11803" extrusionOk="0">
                  <a:moveTo>
                    <a:pt x="5804" y="0"/>
                  </a:moveTo>
                  <a:cubicBezTo>
                    <a:pt x="5801" y="0"/>
                    <a:pt x="5799" y="0"/>
                    <a:pt x="5799" y="0"/>
                  </a:cubicBezTo>
                  <a:cubicBezTo>
                    <a:pt x="5585" y="0"/>
                    <a:pt x="5371" y="119"/>
                    <a:pt x="5252" y="310"/>
                  </a:cubicBezTo>
                  <a:lnTo>
                    <a:pt x="4573" y="1453"/>
                  </a:lnTo>
                  <a:cubicBezTo>
                    <a:pt x="4515" y="1551"/>
                    <a:pt x="4424" y="1605"/>
                    <a:pt x="4326" y="1605"/>
                  </a:cubicBezTo>
                  <a:cubicBezTo>
                    <a:pt x="4281" y="1605"/>
                    <a:pt x="4236" y="1594"/>
                    <a:pt x="4192" y="1572"/>
                  </a:cubicBezTo>
                  <a:lnTo>
                    <a:pt x="2977" y="1060"/>
                  </a:lnTo>
                  <a:cubicBezTo>
                    <a:pt x="2889" y="1020"/>
                    <a:pt x="2800" y="1002"/>
                    <a:pt x="2713" y="1002"/>
                  </a:cubicBezTo>
                  <a:cubicBezTo>
                    <a:pt x="2355" y="1002"/>
                    <a:pt x="2046" y="1312"/>
                    <a:pt x="2084" y="1715"/>
                  </a:cubicBezTo>
                  <a:lnTo>
                    <a:pt x="2204" y="3036"/>
                  </a:lnTo>
                  <a:cubicBezTo>
                    <a:pt x="2215" y="3179"/>
                    <a:pt x="2108" y="3322"/>
                    <a:pt x="1965" y="3346"/>
                  </a:cubicBezTo>
                  <a:lnTo>
                    <a:pt x="668" y="3643"/>
                  </a:lnTo>
                  <a:cubicBezTo>
                    <a:pt x="191" y="3751"/>
                    <a:pt x="1" y="4334"/>
                    <a:pt x="322" y="4703"/>
                  </a:cubicBezTo>
                  <a:lnTo>
                    <a:pt x="1203" y="5703"/>
                  </a:lnTo>
                  <a:cubicBezTo>
                    <a:pt x="1311" y="5822"/>
                    <a:pt x="1311" y="5989"/>
                    <a:pt x="1203" y="6084"/>
                  </a:cubicBezTo>
                  <a:lnTo>
                    <a:pt x="322" y="7084"/>
                  </a:lnTo>
                  <a:cubicBezTo>
                    <a:pt x="179" y="7263"/>
                    <a:pt x="132" y="7489"/>
                    <a:pt x="191" y="7715"/>
                  </a:cubicBezTo>
                  <a:cubicBezTo>
                    <a:pt x="263" y="7930"/>
                    <a:pt x="441" y="8084"/>
                    <a:pt x="668" y="8144"/>
                  </a:cubicBezTo>
                  <a:lnTo>
                    <a:pt x="1025" y="8215"/>
                  </a:lnTo>
                  <a:cubicBezTo>
                    <a:pt x="1033" y="8216"/>
                    <a:pt x="1041" y="8217"/>
                    <a:pt x="1049" y="8217"/>
                  </a:cubicBezTo>
                  <a:cubicBezTo>
                    <a:pt x="1136" y="8217"/>
                    <a:pt x="1217" y="8161"/>
                    <a:pt x="1239" y="8084"/>
                  </a:cubicBezTo>
                  <a:cubicBezTo>
                    <a:pt x="1251" y="7989"/>
                    <a:pt x="1192" y="7894"/>
                    <a:pt x="1096" y="7870"/>
                  </a:cubicBezTo>
                  <a:lnTo>
                    <a:pt x="739" y="7799"/>
                  </a:lnTo>
                  <a:cubicBezTo>
                    <a:pt x="644" y="7775"/>
                    <a:pt x="560" y="7692"/>
                    <a:pt x="525" y="7608"/>
                  </a:cubicBezTo>
                  <a:cubicBezTo>
                    <a:pt x="489" y="7501"/>
                    <a:pt x="501" y="7394"/>
                    <a:pt x="584" y="7322"/>
                  </a:cubicBezTo>
                  <a:lnTo>
                    <a:pt x="1453" y="6322"/>
                  </a:lnTo>
                  <a:cubicBezTo>
                    <a:pt x="1668" y="6084"/>
                    <a:pt x="1668" y="5715"/>
                    <a:pt x="1453" y="5477"/>
                  </a:cubicBezTo>
                  <a:lnTo>
                    <a:pt x="584" y="4477"/>
                  </a:lnTo>
                  <a:cubicBezTo>
                    <a:pt x="430" y="4322"/>
                    <a:pt x="525" y="4048"/>
                    <a:pt x="739" y="3989"/>
                  </a:cubicBezTo>
                  <a:lnTo>
                    <a:pt x="2037" y="3691"/>
                  </a:lnTo>
                  <a:cubicBezTo>
                    <a:pt x="2346" y="3620"/>
                    <a:pt x="2573" y="3322"/>
                    <a:pt x="2549" y="3012"/>
                  </a:cubicBezTo>
                  <a:lnTo>
                    <a:pt x="2430" y="1679"/>
                  </a:lnTo>
                  <a:cubicBezTo>
                    <a:pt x="2410" y="1503"/>
                    <a:pt x="2559" y="1359"/>
                    <a:pt x="2731" y="1359"/>
                  </a:cubicBezTo>
                  <a:cubicBezTo>
                    <a:pt x="2769" y="1359"/>
                    <a:pt x="2808" y="1366"/>
                    <a:pt x="2846" y="1381"/>
                  </a:cubicBezTo>
                  <a:lnTo>
                    <a:pt x="4061" y="1905"/>
                  </a:lnTo>
                  <a:cubicBezTo>
                    <a:pt x="4143" y="1941"/>
                    <a:pt x="4229" y="1958"/>
                    <a:pt x="4314" y="1958"/>
                  </a:cubicBezTo>
                  <a:cubicBezTo>
                    <a:pt x="4536" y="1958"/>
                    <a:pt x="4750" y="1841"/>
                    <a:pt x="4871" y="1643"/>
                  </a:cubicBezTo>
                  <a:lnTo>
                    <a:pt x="5549" y="488"/>
                  </a:lnTo>
                  <a:cubicBezTo>
                    <a:pt x="5609" y="393"/>
                    <a:pt x="5710" y="345"/>
                    <a:pt x="5810" y="345"/>
                  </a:cubicBezTo>
                  <a:cubicBezTo>
                    <a:pt x="5909" y="345"/>
                    <a:pt x="6008" y="393"/>
                    <a:pt x="6061" y="488"/>
                  </a:cubicBezTo>
                  <a:lnTo>
                    <a:pt x="6740" y="1643"/>
                  </a:lnTo>
                  <a:cubicBezTo>
                    <a:pt x="6861" y="1842"/>
                    <a:pt x="7077" y="1953"/>
                    <a:pt x="7300" y="1953"/>
                  </a:cubicBezTo>
                  <a:cubicBezTo>
                    <a:pt x="7383" y="1953"/>
                    <a:pt x="7468" y="1938"/>
                    <a:pt x="7549" y="1905"/>
                  </a:cubicBezTo>
                  <a:lnTo>
                    <a:pt x="8764" y="1381"/>
                  </a:lnTo>
                  <a:cubicBezTo>
                    <a:pt x="8802" y="1366"/>
                    <a:pt x="8841" y="1359"/>
                    <a:pt x="8878" y="1359"/>
                  </a:cubicBezTo>
                  <a:cubicBezTo>
                    <a:pt x="9048" y="1359"/>
                    <a:pt x="9190" y="1503"/>
                    <a:pt x="9181" y="1679"/>
                  </a:cubicBezTo>
                  <a:lnTo>
                    <a:pt x="9062" y="3012"/>
                  </a:lnTo>
                  <a:cubicBezTo>
                    <a:pt x="9038" y="3334"/>
                    <a:pt x="9240" y="3620"/>
                    <a:pt x="9574" y="3691"/>
                  </a:cubicBezTo>
                  <a:lnTo>
                    <a:pt x="10859" y="3989"/>
                  </a:lnTo>
                  <a:cubicBezTo>
                    <a:pt x="11086" y="4036"/>
                    <a:pt x="11181" y="4298"/>
                    <a:pt x="11026" y="4477"/>
                  </a:cubicBezTo>
                  <a:lnTo>
                    <a:pt x="10145" y="5477"/>
                  </a:lnTo>
                  <a:cubicBezTo>
                    <a:pt x="9943" y="5715"/>
                    <a:pt x="9943" y="6084"/>
                    <a:pt x="10145" y="6322"/>
                  </a:cubicBezTo>
                  <a:lnTo>
                    <a:pt x="11026" y="7322"/>
                  </a:lnTo>
                  <a:cubicBezTo>
                    <a:pt x="11181" y="7489"/>
                    <a:pt x="11086" y="7751"/>
                    <a:pt x="10859" y="7811"/>
                  </a:cubicBezTo>
                  <a:lnTo>
                    <a:pt x="9574" y="8108"/>
                  </a:lnTo>
                  <a:cubicBezTo>
                    <a:pt x="9252" y="8192"/>
                    <a:pt x="9038" y="8489"/>
                    <a:pt x="9062" y="8799"/>
                  </a:cubicBezTo>
                  <a:lnTo>
                    <a:pt x="9181" y="10120"/>
                  </a:lnTo>
                  <a:cubicBezTo>
                    <a:pt x="9190" y="10302"/>
                    <a:pt x="9054" y="10445"/>
                    <a:pt x="8889" y="10445"/>
                  </a:cubicBezTo>
                  <a:cubicBezTo>
                    <a:pt x="8848" y="10445"/>
                    <a:pt x="8806" y="10437"/>
                    <a:pt x="8764" y="10418"/>
                  </a:cubicBezTo>
                  <a:lnTo>
                    <a:pt x="7549" y="9894"/>
                  </a:lnTo>
                  <a:cubicBezTo>
                    <a:pt x="7468" y="9858"/>
                    <a:pt x="7382" y="9841"/>
                    <a:pt x="7298" y="9841"/>
                  </a:cubicBezTo>
                  <a:cubicBezTo>
                    <a:pt x="7076" y="9841"/>
                    <a:pt x="6861" y="9961"/>
                    <a:pt x="6740" y="10168"/>
                  </a:cubicBezTo>
                  <a:lnTo>
                    <a:pt x="6061" y="11311"/>
                  </a:lnTo>
                  <a:cubicBezTo>
                    <a:pt x="6002" y="11406"/>
                    <a:pt x="5900" y="11454"/>
                    <a:pt x="5801" y="11454"/>
                  </a:cubicBezTo>
                  <a:cubicBezTo>
                    <a:pt x="5701" y="11454"/>
                    <a:pt x="5603" y="11406"/>
                    <a:pt x="5549" y="11311"/>
                  </a:cubicBezTo>
                  <a:lnTo>
                    <a:pt x="4871" y="10168"/>
                  </a:lnTo>
                  <a:cubicBezTo>
                    <a:pt x="4749" y="9960"/>
                    <a:pt x="4533" y="9846"/>
                    <a:pt x="4309" y="9846"/>
                  </a:cubicBezTo>
                  <a:cubicBezTo>
                    <a:pt x="4226" y="9846"/>
                    <a:pt x="4142" y="9862"/>
                    <a:pt x="4061" y="9894"/>
                  </a:cubicBezTo>
                  <a:lnTo>
                    <a:pt x="2846" y="10418"/>
                  </a:lnTo>
                  <a:cubicBezTo>
                    <a:pt x="2804" y="10437"/>
                    <a:pt x="2762" y="10445"/>
                    <a:pt x="2721" y="10445"/>
                  </a:cubicBezTo>
                  <a:cubicBezTo>
                    <a:pt x="2553" y="10445"/>
                    <a:pt x="2411" y="10302"/>
                    <a:pt x="2430" y="10120"/>
                  </a:cubicBezTo>
                  <a:lnTo>
                    <a:pt x="2549" y="8799"/>
                  </a:lnTo>
                  <a:cubicBezTo>
                    <a:pt x="2573" y="8465"/>
                    <a:pt x="2370" y="8192"/>
                    <a:pt x="2037" y="8108"/>
                  </a:cubicBezTo>
                  <a:lnTo>
                    <a:pt x="1727" y="8037"/>
                  </a:lnTo>
                  <a:cubicBezTo>
                    <a:pt x="1719" y="8036"/>
                    <a:pt x="1711" y="8035"/>
                    <a:pt x="1703" y="8035"/>
                  </a:cubicBezTo>
                  <a:cubicBezTo>
                    <a:pt x="1616" y="8035"/>
                    <a:pt x="1535" y="8092"/>
                    <a:pt x="1513" y="8168"/>
                  </a:cubicBezTo>
                  <a:cubicBezTo>
                    <a:pt x="1501" y="8263"/>
                    <a:pt x="1561" y="8370"/>
                    <a:pt x="1656" y="8382"/>
                  </a:cubicBezTo>
                  <a:lnTo>
                    <a:pt x="1965" y="8454"/>
                  </a:lnTo>
                  <a:cubicBezTo>
                    <a:pt x="2108" y="8489"/>
                    <a:pt x="2204" y="8620"/>
                    <a:pt x="2204" y="8763"/>
                  </a:cubicBezTo>
                  <a:lnTo>
                    <a:pt x="2084" y="10097"/>
                  </a:lnTo>
                  <a:cubicBezTo>
                    <a:pt x="2046" y="10493"/>
                    <a:pt x="2361" y="10804"/>
                    <a:pt x="2723" y="10804"/>
                  </a:cubicBezTo>
                  <a:cubicBezTo>
                    <a:pt x="2807" y="10804"/>
                    <a:pt x="2893" y="10787"/>
                    <a:pt x="2977" y="10751"/>
                  </a:cubicBezTo>
                  <a:lnTo>
                    <a:pt x="4192" y="10228"/>
                  </a:lnTo>
                  <a:cubicBezTo>
                    <a:pt x="4230" y="10212"/>
                    <a:pt x="4269" y="10204"/>
                    <a:pt x="4308" y="10204"/>
                  </a:cubicBezTo>
                  <a:cubicBezTo>
                    <a:pt x="4413" y="10204"/>
                    <a:pt x="4512" y="10259"/>
                    <a:pt x="4573" y="10347"/>
                  </a:cubicBezTo>
                  <a:lnTo>
                    <a:pt x="5252" y="11490"/>
                  </a:lnTo>
                  <a:cubicBezTo>
                    <a:pt x="5377" y="11698"/>
                    <a:pt x="5594" y="11802"/>
                    <a:pt x="5810" y="11802"/>
                  </a:cubicBezTo>
                  <a:cubicBezTo>
                    <a:pt x="6025" y="11802"/>
                    <a:pt x="6240" y="11698"/>
                    <a:pt x="6359" y="11490"/>
                  </a:cubicBezTo>
                  <a:lnTo>
                    <a:pt x="7037" y="10347"/>
                  </a:lnTo>
                  <a:cubicBezTo>
                    <a:pt x="7088" y="10253"/>
                    <a:pt x="7188" y="10202"/>
                    <a:pt x="7288" y="10202"/>
                  </a:cubicBezTo>
                  <a:cubicBezTo>
                    <a:pt x="7328" y="10202"/>
                    <a:pt x="7369" y="10211"/>
                    <a:pt x="7407" y="10228"/>
                  </a:cubicBezTo>
                  <a:lnTo>
                    <a:pt x="8633" y="10751"/>
                  </a:lnTo>
                  <a:cubicBezTo>
                    <a:pt x="8715" y="10787"/>
                    <a:pt x="8800" y="10804"/>
                    <a:pt x="8883" y="10804"/>
                  </a:cubicBezTo>
                  <a:cubicBezTo>
                    <a:pt x="9242" y="10804"/>
                    <a:pt x="9565" y="10493"/>
                    <a:pt x="9526" y="10097"/>
                  </a:cubicBezTo>
                  <a:lnTo>
                    <a:pt x="9407" y="8763"/>
                  </a:lnTo>
                  <a:cubicBezTo>
                    <a:pt x="9395" y="8620"/>
                    <a:pt x="9490" y="8489"/>
                    <a:pt x="9645" y="8454"/>
                  </a:cubicBezTo>
                  <a:lnTo>
                    <a:pt x="10943" y="8156"/>
                  </a:lnTo>
                  <a:cubicBezTo>
                    <a:pt x="11419" y="8049"/>
                    <a:pt x="11609" y="7477"/>
                    <a:pt x="11276" y="7096"/>
                  </a:cubicBezTo>
                  <a:lnTo>
                    <a:pt x="10407" y="6084"/>
                  </a:lnTo>
                  <a:cubicBezTo>
                    <a:pt x="10300" y="5965"/>
                    <a:pt x="10300" y="5810"/>
                    <a:pt x="10407" y="5703"/>
                  </a:cubicBezTo>
                  <a:lnTo>
                    <a:pt x="11276" y="4703"/>
                  </a:lnTo>
                  <a:cubicBezTo>
                    <a:pt x="11609" y="4334"/>
                    <a:pt x="11419" y="3751"/>
                    <a:pt x="10943" y="3643"/>
                  </a:cubicBezTo>
                  <a:lnTo>
                    <a:pt x="9645" y="3346"/>
                  </a:lnTo>
                  <a:cubicBezTo>
                    <a:pt x="9490" y="3322"/>
                    <a:pt x="9407" y="3179"/>
                    <a:pt x="9407" y="3036"/>
                  </a:cubicBezTo>
                  <a:lnTo>
                    <a:pt x="9526" y="1715"/>
                  </a:lnTo>
                  <a:cubicBezTo>
                    <a:pt x="9564" y="1312"/>
                    <a:pt x="9248" y="1002"/>
                    <a:pt x="8893" y="1002"/>
                  </a:cubicBezTo>
                  <a:cubicBezTo>
                    <a:pt x="8807" y="1002"/>
                    <a:pt x="8719" y="1020"/>
                    <a:pt x="8633" y="1060"/>
                  </a:cubicBezTo>
                  <a:lnTo>
                    <a:pt x="7407" y="1572"/>
                  </a:lnTo>
                  <a:cubicBezTo>
                    <a:pt x="7371" y="1588"/>
                    <a:pt x="7334" y="1595"/>
                    <a:pt x="7296" y="1595"/>
                  </a:cubicBezTo>
                  <a:cubicBezTo>
                    <a:pt x="7193" y="1595"/>
                    <a:pt x="7090" y="1540"/>
                    <a:pt x="7037" y="1453"/>
                  </a:cubicBezTo>
                  <a:lnTo>
                    <a:pt x="6359" y="310"/>
                  </a:lnTo>
                  <a:cubicBezTo>
                    <a:pt x="6170" y="10"/>
                    <a:pt x="5848" y="0"/>
                    <a:pt x="5804"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26"/>
          <p:cNvSpPr/>
          <p:nvPr/>
        </p:nvSpPr>
        <p:spPr>
          <a:xfrm>
            <a:off x="2499420" y="1117695"/>
            <a:ext cx="372159" cy="372159"/>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26"/>
          <p:cNvGrpSpPr/>
          <p:nvPr/>
        </p:nvGrpSpPr>
        <p:grpSpPr>
          <a:xfrm>
            <a:off x="5575721" y="453189"/>
            <a:ext cx="336492" cy="336854"/>
            <a:chOff x="3539102" y="2427549"/>
            <a:chExt cx="355099" cy="355481"/>
          </a:xfrm>
        </p:grpSpPr>
        <p:sp>
          <p:nvSpPr>
            <p:cNvPr id="146" name="Google Shape;146;p26"/>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26"/>
          <p:cNvGrpSpPr/>
          <p:nvPr/>
        </p:nvGrpSpPr>
        <p:grpSpPr>
          <a:xfrm>
            <a:off x="3199894" y="439413"/>
            <a:ext cx="402374" cy="362502"/>
            <a:chOff x="3988156" y="3380210"/>
            <a:chExt cx="353954" cy="318880"/>
          </a:xfrm>
        </p:grpSpPr>
        <p:sp>
          <p:nvSpPr>
            <p:cNvPr id="149" name="Google Shape;149;p26"/>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26"/>
          <p:cNvGrpSpPr/>
          <p:nvPr/>
        </p:nvGrpSpPr>
        <p:grpSpPr>
          <a:xfrm>
            <a:off x="6312295" y="1136251"/>
            <a:ext cx="336512" cy="335048"/>
            <a:chOff x="3996113" y="4291176"/>
            <a:chExt cx="336512" cy="335048"/>
          </a:xfrm>
        </p:grpSpPr>
        <p:sp>
          <p:nvSpPr>
            <p:cNvPr id="155" name="Google Shape;155;p26"/>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rgbClr val="5600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9778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0" name="Google Shape;210;p31"/>
          <p:cNvSpPr txBox="1">
            <a:spLocks noGrp="1"/>
          </p:cNvSpPr>
          <p:nvPr>
            <p:ph type="title"/>
          </p:nvPr>
        </p:nvSpPr>
        <p:spPr>
          <a:xfrm>
            <a:off x="581566" y="388543"/>
            <a:ext cx="7980868"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dirty="0">
                <a:solidFill>
                  <a:srgbClr val="56007F"/>
                </a:solidFill>
              </a:rPr>
              <a:t>Überblick – Produkte</a:t>
            </a:r>
          </a:p>
        </p:txBody>
      </p:sp>
      <p:graphicFrame>
        <p:nvGraphicFramePr>
          <p:cNvPr id="2" name="Tabelle 1">
            <a:extLst>
              <a:ext uri="{FF2B5EF4-FFF2-40B4-BE49-F238E27FC236}">
                <a16:creationId xmlns:a16="http://schemas.microsoft.com/office/drawing/2014/main" id="{911ABAE8-843B-8391-116F-469FFA2D02A0}"/>
              </a:ext>
            </a:extLst>
          </p:cNvPr>
          <p:cNvGraphicFramePr>
            <a:graphicFrameLocks noGrp="1"/>
          </p:cNvGraphicFramePr>
          <p:nvPr>
            <p:extLst>
              <p:ext uri="{D42A27DB-BD31-4B8C-83A1-F6EECF244321}">
                <p14:modId xmlns:p14="http://schemas.microsoft.com/office/powerpoint/2010/main" val="1337185543"/>
              </p:ext>
            </p:extLst>
          </p:nvPr>
        </p:nvGraphicFramePr>
        <p:xfrm>
          <a:off x="235324" y="1252799"/>
          <a:ext cx="8634356" cy="3408095"/>
        </p:xfrm>
        <a:graphic>
          <a:graphicData uri="http://schemas.openxmlformats.org/drawingml/2006/table">
            <a:tbl>
              <a:tblPr firstRow="1" bandRow="1">
                <a:tableStyleId>{69012ECD-51FC-41F1-AA8D-1B2483CD663E}</a:tableStyleId>
              </a:tblPr>
              <a:tblGrid>
                <a:gridCol w="1808972">
                  <a:extLst>
                    <a:ext uri="{9D8B030D-6E8A-4147-A177-3AD203B41FA5}">
                      <a16:colId xmlns:a16="http://schemas.microsoft.com/office/drawing/2014/main" val="551408303"/>
                    </a:ext>
                  </a:extLst>
                </a:gridCol>
                <a:gridCol w="1925940">
                  <a:extLst>
                    <a:ext uri="{9D8B030D-6E8A-4147-A177-3AD203B41FA5}">
                      <a16:colId xmlns:a16="http://schemas.microsoft.com/office/drawing/2014/main" val="764262971"/>
                    </a:ext>
                  </a:extLst>
                </a:gridCol>
                <a:gridCol w="2449722">
                  <a:extLst>
                    <a:ext uri="{9D8B030D-6E8A-4147-A177-3AD203B41FA5}">
                      <a16:colId xmlns:a16="http://schemas.microsoft.com/office/drawing/2014/main" val="1337282039"/>
                    </a:ext>
                  </a:extLst>
                </a:gridCol>
                <a:gridCol w="2449722">
                  <a:extLst>
                    <a:ext uri="{9D8B030D-6E8A-4147-A177-3AD203B41FA5}">
                      <a16:colId xmlns:a16="http://schemas.microsoft.com/office/drawing/2014/main" val="343675794"/>
                    </a:ext>
                  </a:extLst>
                </a:gridCol>
              </a:tblGrid>
              <a:tr h="441867">
                <a:tc>
                  <a:txBody>
                    <a:bodyPr/>
                    <a:lstStyle/>
                    <a:p>
                      <a:r>
                        <a:rPr lang="de-DE" dirty="0">
                          <a:latin typeface="Roboto" panose="02000000000000000000" pitchFamily="2" charset="0"/>
                          <a:ea typeface="Roboto" panose="02000000000000000000" pitchFamily="2" charset="0"/>
                          <a:cs typeface="Roboto" panose="02000000000000000000" pitchFamily="2" charset="0"/>
                        </a:rPr>
                        <a:t>Kriterien</a:t>
                      </a:r>
                    </a:p>
                  </a:txBody>
                  <a:tcPr>
                    <a:lnL w="12700" cap="flat" cmpd="sng" algn="ctr">
                      <a:solidFill>
                        <a:srgbClr val="3D005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solidFill>
                  </a:tcPr>
                </a:tc>
                <a:tc>
                  <a:txBody>
                    <a:bodyPr/>
                    <a:lstStyle/>
                    <a:p>
                      <a:r>
                        <a:rPr lang="de-DE" dirty="0">
                          <a:latin typeface="Roboto" panose="02000000000000000000" pitchFamily="2" charset="0"/>
                          <a:ea typeface="Roboto" panose="02000000000000000000" pitchFamily="2" charset="0"/>
                          <a:cs typeface="Roboto" panose="02000000000000000000" pitchFamily="2" charset="0"/>
                        </a:rPr>
                        <a:t>Basic Cover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solidFill>
                  </a:tcPr>
                </a:tc>
                <a:tc>
                  <a:txBody>
                    <a:bodyPr/>
                    <a:lstStyle/>
                    <a:p>
                      <a:r>
                        <a:rPr lang="de-DE" dirty="0">
                          <a:latin typeface="Roboto" panose="02000000000000000000" pitchFamily="2" charset="0"/>
                          <a:ea typeface="Roboto" panose="02000000000000000000" pitchFamily="2" charset="0"/>
                          <a:cs typeface="Roboto" panose="02000000000000000000" pitchFamily="2" charset="0"/>
                        </a:rPr>
                        <a:t>Trending Cover</a:t>
                      </a:r>
                    </a:p>
                  </a:txBody>
                  <a:tcPr>
                    <a:lnL w="12700" cap="flat" cmpd="sng" algn="ctr">
                      <a:no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solidFill>
                  </a:tcPr>
                </a:tc>
                <a:tc>
                  <a:txBody>
                    <a:bodyPr/>
                    <a:lstStyle/>
                    <a:p>
                      <a:r>
                        <a:rPr lang="de-DE" dirty="0">
                          <a:latin typeface="Roboto" panose="02000000000000000000" pitchFamily="2" charset="0"/>
                          <a:ea typeface="Roboto" panose="02000000000000000000" pitchFamily="2" charset="0"/>
                          <a:cs typeface="Roboto" panose="02000000000000000000" pitchFamily="2" charset="0"/>
                        </a:rPr>
                        <a:t>Personal Cover</a:t>
                      </a:r>
                    </a:p>
                  </a:txBody>
                  <a:tcPr>
                    <a:lnL w="12700" cap="flat" cmpd="sng" algn="ctr">
                      <a:solidFill>
                        <a:srgbClr val="3D005C"/>
                      </a:solid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solidFill>
                  </a:tcPr>
                </a:tc>
                <a:extLst>
                  <a:ext uri="{0D108BD9-81ED-4DB2-BD59-A6C34878D82A}">
                    <a16:rowId xmlns:a16="http://schemas.microsoft.com/office/drawing/2014/main" val="127030518"/>
                  </a:ext>
                </a:extLst>
              </a:tr>
              <a:tr h="515916">
                <a:tc>
                  <a:txBody>
                    <a:bodyPr/>
                    <a:lstStyle/>
                    <a:p>
                      <a:r>
                        <a:rPr lang="de-DE" b="1" i="1" dirty="0">
                          <a:solidFill>
                            <a:srgbClr val="000000"/>
                          </a:solidFill>
                          <a:latin typeface="Roboto" panose="02000000000000000000" pitchFamily="2" charset="0"/>
                          <a:ea typeface="Roboto" panose="02000000000000000000" pitchFamily="2" charset="0"/>
                          <a:cs typeface="Roboto" panose="02000000000000000000" pitchFamily="2" charset="0"/>
                        </a:rPr>
                        <a:t>Motive</a:t>
                      </a:r>
                    </a:p>
                  </a:txBody>
                  <a:tcPr>
                    <a:lnL w="12700" cap="flat" cmpd="sng" algn="ctr">
                      <a:solidFill>
                        <a:srgbClr val="3D005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alpha val="14902"/>
                      </a:srgbClr>
                    </a:solidFill>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Standardmotive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Von TechAccessories entworfene Motive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Personalisierte Konsumentendesigns</a:t>
                      </a:r>
                    </a:p>
                  </a:txBody>
                  <a:tcPr>
                    <a:lnL w="12700" cap="flat" cmpd="sng" algn="ctr">
                      <a:no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extLst>
                  <a:ext uri="{0D108BD9-81ED-4DB2-BD59-A6C34878D82A}">
                    <a16:rowId xmlns:a16="http://schemas.microsoft.com/office/drawing/2014/main" val="822023809"/>
                  </a:ext>
                </a:extLst>
              </a:tr>
              <a:tr h="515916">
                <a:tc>
                  <a:txBody>
                    <a:bodyPr/>
                    <a:lstStyle/>
                    <a:p>
                      <a:r>
                        <a:rPr lang="de-DE" b="1" i="1" dirty="0">
                          <a:solidFill>
                            <a:srgbClr val="000000"/>
                          </a:solidFill>
                          <a:latin typeface="Roboto" panose="02000000000000000000" pitchFamily="2" charset="0"/>
                          <a:ea typeface="Roboto" panose="02000000000000000000" pitchFamily="2" charset="0"/>
                          <a:cs typeface="Roboto" panose="02000000000000000000" pitchFamily="2" charset="0"/>
                        </a:rPr>
                        <a:t>Bearbeitung</a:t>
                      </a:r>
                    </a:p>
                  </a:txBody>
                  <a:tcPr>
                    <a:lnL w="12700" cap="flat" cmpd="sng" algn="ctr">
                      <a:solidFill>
                        <a:srgbClr val="3D005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alpha val="14902"/>
                      </a:srgbClr>
                    </a:solidFill>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Keine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Design und Bedruckung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Personalisierung durch den Konsumenten &amp; Bedruckung</a:t>
                      </a:r>
                    </a:p>
                  </a:txBody>
                  <a:tcPr>
                    <a:lnL w="12700" cap="flat" cmpd="sng" algn="ctr">
                      <a:no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extLst>
                  <a:ext uri="{0D108BD9-81ED-4DB2-BD59-A6C34878D82A}">
                    <a16:rowId xmlns:a16="http://schemas.microsoft.com/office/drawing/2014/main" val="1491897066"/>
                  </a:ext>
                </a:extLst>
              </a:tr>
              <a:tr h="706996">
                <a:tc>
                  <a:txBody>
                    <a:bodyPr/>
                    <a:lstStyle/>
                    <a:p>
                      <a:r>
                        <a:rPr lang="de-DE" b="1" i="1" dirty="0">
                          <a:solidFill>
                            <a:srgbClr val="000000"/>
                          </a:solidFill>
                          <a:latin typeface="Roboto" panose="02000000000000000000" pitchFamily="2" charset="0"/>
                          <a:ea typeface="Roboto" panose="02000000000000000000" pitchFamily="2" charset="0"/>
                          <a:cs typeface="Roboto" panose="02000000000000000000" pitchFamily="2" charset="0"/>
                        </a:rPr>
                        <a:t>Produktionszeit</a:t>
                      </a:r>
                    </a:p>
                  </a:txBody>
                  <a:tcPr>
                    <a:lnL w="12700" cap="flat" cmpd="sng" algn="ctr">
                      <a:solidFill>
                        <a:srgbClr val="3D005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alpha val="14902"/>
                      </a:srgbClr>
                    </a:solidFill>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Keine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Zeit für Design und Aufdruck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Abhängig von Kundendesign und Aufdruck</a:t>
                      </a:r>
                    </a:p>
                  </a:txBody>
                  <a:tcPr>
                    <a:lnL w="12700" cap="flat" cmpd="sng" algn="ctr">
                      <a:no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extLst>
                  <a:ext uri="{0D108BD9-81ED-4DB2-BD59-A6C34878D82A}">
                    <a16:rowId xmlns:a16="http://schemas.microsoft.com/office/drawing/2014/main" val="3261755628"/>
                  </a:ext>
                </a:extLst>
              </a:tr>
              <a:tr h="706996">
                <a:tc>
                  <a:txBody>
                    <a:bodyPr/>
                    <a:lstStyle/>
                    <a:p>
                      <a:r>
                        <a:rPr lang="de-DE" b="1" i="1" dirty="0">
                          <a:solidFill>
                            <a:srgbClr val="000000"/>
                          </a:solidFill>
                          <a:latin typeface="Roboto" panose="02000000000000000000" pitchFamily="2" charset="0"/>
                          <a:ea typeface="Roboto" panose="02000000000000000000" pitchFamily="2" charset="0"/>
                          <a:cs typeface="Roboto" panose="02000000000000000000" pitchFamily="2" charset="0"/>
                        </a:rPr>
                        <a:t>Lagerung</a:t>
                      </a:r>
                    </a:p>
                  </a:txBody>
                  <a:tcPr>
                    <a:lnL w="12700" cap="flat" cmpd="sng" algn="ctr">
                      <a:solidFill>
                        <a:srgbClr val="3D005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alpha val="14902"/>
                      </a:srgbClr>
                    </a:solidFill>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Lagerung durch Drittanbieter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(Zwischen-) Lagerung bei TechAccessories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Lagerung bei TechAccessories</a:t>
                      </a:r>
                    </a:p>
                  </a:txBody>
                  <a:tcPr>
                    <a:lnL w="12700" cap="flat" cmpd="sng" algn="ctr">
                      <a:no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extLst>
                  <a:ext uri="{0D108BD9-81ED-4DB2-BD59-A6C34878D82A}">
                    <a16:rowId xmlns:a16="http://schemas.microsoft.com/office/drawing/2014/main" val="3697772837"/>
                  </a:ext>
                </a:extLst>
              </a:tr>
              <a:tr h="515916">
                <a:tc>
                  <a:txBody>
                    <a:bodyPr/>
                    <a:lstStyle/>
                    <a:p>
                      <a:r>
                        <a:rPr lang="de-DE" b="1" i="1" dirty="0">
                          <a:solidFill>
                            <a:srgbClr val="000000"/>
                          </a:solidFill>
                          <a:latin typeface="Roboto" panose="02000000000000000000" pitchFamily="2" charset="0"/>
                          <a:ea typeface="Roboto" panose="02000000000000000000" pitchFamily="2" charset="0"/>
                          <a:cs typeface="Roboto" panose="02000000000000000000" pitchFamily="2" charset="0"/>
                        </a:rPr>
                        <a:t>Preis</a:t>
                      </a:r>
                    </a:p>
                  </a:txBody>
                  <a:tcPr>
                    <a:lnL w="12700" cap="flat" cmpd="sng" algn="ctr">
                      <a:solidFill>
                        <a:srgbClr val="3D005C"/>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solidFill>
                      <a:srgbClr val="3D005C">
                        <a:alpha val="14902"/>
                      </a:srgbClr>
                    </a:solidFill>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€ 9,99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€ 11,99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tc>
                  <a:txBody>
                    <a:bodyPr/>
                    <a:lstStyle/>
                    <a:p>
                      <a:r>
                        <a:rPr lang="de-DE" dirty="0">
                          <a:solidFill>
                            <a:srgbClr val="000000"/>
                          </a:solidFill>
                          <a:latin typeface="Roboto" panose="02000000000000000000" pitchFamily="2" charset="0"/>
                          <a:ea typeface="Roboto" panose="02000000000000000000" pitchFamily="2" charset="0"/>
                          <a:cs typeface="Roboto" panose="02000000000000000000" pitchFamily="2" charset="0"/>
                        </a:rPr>
                        <a:t>€ 15,99</a:t>
                      </a:r>
                    </a:p>
                  </a:txBody>
                  <a:tcPr>
                    <a:lnL w="12700" cap="flat" cmpd="sng" algn="ctr">
                      <a:noFill/>
                      <a:prstDash val="solid"/>
                      <a:round/>
                      <a:headEnd type="none" w="med" len="med"/>
                      <a:tailEnd type="none" w="med" len="med"/>
                    </a:lnL>
                    <a:lnR w="12700" cap="flat" cmpd="sng" algn="ctr">
                      <a:solidFill>
                        <a:srgbClr val="3D005C"/>
                      </a:solidFill>
                      <a:prstDash val="solid"/>
                      <a:round/>
                      <a:headEnd type="none" w="med" len="med"/>
                      <a:tailEnd type="none" w="med" len="med"/>
                    </a:lnR>
                    <a:lnT w="12700" cap="flat" cmpd="sng" algn="ctr">
                      <a:solidFill>
                        <a:srgbClr val="3D005C"/>
                      </a:solidFill>
                      <a:prstDash val="solid"/>
                      <a:round/>
                      <a:headEnd type="none" w="med" len="med"/>
                      <a:tailEnd type="none" w="med" len="med"/>
                    </a:lnT>
                    <a:lnB w="12700" cap="flat" cmpd="sng" algn="ctr">
                      <a:solidFill>
                        <a:srgbClr val="3D005C"/>
                      </a:solidFill>
                      <a:prstDash val="solid"/>
                      <a:round/>
                      <a:headEnd type="none" w="med" len="med"/>
                      <a:tailEnd type="none" w="med" len="med"/>
                    </a:lnB>
                  </a:tcPr>
                </a:tc>
                <a:extLst>
                  <a:ext uri="{0D108BD9-81ED-4DB2-BD59-A6C34878D82A}">
                    <a16:rowId xmlns:a16="http://schemas.microsoft.com/office/drawing/2014/main" val="1010311959"/>
                  </a:ext>
                </a:extLst>
              </a:tr>
            </a:tbl>
          </a:graphicData>
        </a:graphic>
      </p:graphicFrame>
    </p:spTree>
    <p:extLst>
      <p:ext uri="{BB962C8B-B14F-4D97-AF65-F5344CB8AC3E}">
        <p14:creationId xmlns:p14="http://schemas.microsoft.com/office/powerpoint/2010/main" val="943317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3D005C"/>
                </a:solidFill>
              </a:rPr>
              <a:t>Zielgruppe und Zielgruppenanalyse</a:t>
            </a:r>
            <a:endParaRPr dirty="0">
              <a:solidFill>
                <a:srgbClr val="3D005C"/>
              </a:solidFill>
            </a:endParaRPr>
          </a:p>
        </p:txBody>
      </p:sp>
      <p:sp>
        <p:nvSpPr>
          <p:cNvPr id="279" name="Google Shape;279;p34"/>
          <p:cNvSpPr txBox="1">
            <a:spLocks noGrp="1"/>
          </p:cNvSpPr>
          <p:nvPr>
            <p:ph type="subTitle" idx="1"/>
          </p:nvPr>
        </p:nvSpPr>
        <p:spPr>
          <a:xfrm>
            <a:off x="720000" y="2574452"/>
            <a:ext cx="2233500" cy="1163400"/>
          </a:xfrm>
          <a:prstGeom prst="rect">
            <a:avLst/>
          </a:prstGeom>
        </p:spPr>
        <p:txBody>
          <a:bodyPr spcFirstLastPara="1" wrap="square" lIns="91425" tIns="91425" rIns="91425" bIns="91425" anchor="t" anchorCtr="0">
            <a:noAutofit/>
          </a:bodyPr>
          <a:lstStyle/>
          <a:p>
            <a:pPr marL="685800" lvl="1" indent="-228600" algn="l">
              <a:buClrTx/>
              <a:buFont typeface="+mj-lt"/>
              <a:buAutoNum type="arabicPeriod"/>
            </a:pPr>
            <a:r>
              <a:rPr lang="de-DE" sz="1400" dirty="0">
                <a:solidFill>
                  <a:srgbClr val="000000"/>
                </a:solidFill>
              </a:rPr>
              <a:t>Befragung</a:t>
            </a:r>
          </a:p>
          <a:p>
            <a:pPr marL="685800" lvl="1" indent="-228600" algn="l">
              <a:buClrTx/>
              <a:buFont typeface="+mj-lt"/>
              <a:buAutoNum type="arabicPeriod"/>
            </a:pPr>
            <a:r>
              <a:rPr lang="de-DE" sz="1400" dirty="0">
                <a:solidFill>
                  <a:srgbClr val="000000"/>
                </a:solidFill>
              </a:rPr>
              <a:t>Produkttest </a:t>
            </a:r>
          </a:p>
          <a:p>
            <a:pPr marL="685800" lvl="1" indent="-228600" algn="l">
              <a:buClrTx/>
              <a:buFont typeface="+mj-lt"/>
              <a:buAutoNum type="arabicPeriod"/>
            </a:pPr>
            <a:r>
              <a:rPr lang="de-DE" sz="1400" dirty="0">
                <a:solidFill>
                  <a:srgbClr val="000000"/>
                </a:solidFill>
              </a:rPr>
              <a:t>Testmarkt</a:t>
            </a:r>
            <a:endParaRPr sz="1400" dirty="0">
              <a:solidFill>
                <a:srgbClr val="000000"/>
              </a:solidFill>
            </a:endParaRPr>
          </a:p>
        </p:txBody>
      </p:sp>
      <p:sp>
        <p:nvSpPr>
          <p:cNvPr id="280" name="Google Shape;280;p34"/>
          <p:cNvSpPr txBox="1">
            <a:spLocks noGrp="1"/>
          </p:cNvSpPr>
          <p:nvPr>
            <p:ph type="subTitle" idx="2"/>
          </p:nvPr>
        </p:nvSpPr>
        <p:spPr>
          <a:xfrm>
            <a:off x="3454050" y="2574452"/>
            <a:ext cx="2233500" cy="1163400"/>
          </a:xfrm>
          <a:prstGeom prst="rect">
            <a:avLst/>
          </a:prstGeom>
        </p:spPr>
        <p:txBody>
          <a:bodyPr spcFirstLastPara="1" wrap="square" lIns="91425" tIns="91425" rIns="91425" bIns="91425" anchor="t" anchorCtr="0">
            <a:noAutofit/>
          </a:bodyPr>
          <a:lstStyle/>
          <a:p>
            <a:pPr algn="l">
              <a:buClrTx/>
              <a:buFont typeface="Arial" panose="020B0604020202020204" pitchFamily="34" charset="0"/>
              <a:buChar char="•"/>
            </a:pPr>
            <a:r>
              <a:rPr lang="de-DE" sz="1400" dirty="0">
                <a:solidFill>
                  <a:srgbClr val="000000"/>
                </a:solidFill>
              </a:rPr>
              <a:t>Demografisch</a:t>
            </a:r>
          </a:p>
          <a:p>
            <a:pPr algn="l">
              <a:buClrTx/>
              <a:buFont typeface="Arial" panose="020B0604020202020204" pitchFamily="34" charset="0"/>
              <a:buChar char="•"/>
            </a:pPr>
            <a:r>
              <a:rPr lang="de-DE" sz="1400" dirty="0">
                <a:solidFill>
                  <a:srgbClr val="000000"/>
                </a:solidFill>
              </a:rPr>
              <a:t>Psychografisch</a:t>
            </a:r>
          </a:p>
          <a:p>
            <a:pPr algn="l">
              <a:buClrTx/>
              <a:buFont typeface="Arial" panose="020B0604020202020204" pitchFamily="34" charset="0"/>
              <a:buChar char="•"/>
            </a:pPr>
            <a:r>
              <a:rPr lang="de-DE" sz="1400" dirty="0">
                <a:solidFill>
                  <a:srgbClr val="000000"/>
                </a:solidFill>
              </a:rPr>
              <a:t>Sozioökonomisch</a:t>
            </a:r>
          </a:p>
          <a:p>
            <a:pPr algn="l">
              <a:buClrTx/>
              <a:buFont typeface="Arial" panose="020B0604020202020204" pitchFamily="34" charset="0"/>
              <a:buChar char="•"/>
            </a:pPr>
            <a:r>
              <a:rPr lang="de-DE" sz="1400" dirty="0">
                <a:solidFill>
                  <a:srgbClr val="000000"/>
                </a:solidFill>
              </a:rPr>
              <a:t>Kaufverhalten</a:t>
            </a:r>
          </a:p>
        </p:txBody>
      </p:sp>
      <p:sp>
        <p:nvSpPr>
          <p:cNvPr id="283" name="Google Shape;283;p34"/>
          <p:cNvSpPr txBox="1">
            <a:spLocks noGrp="1"/>
          </p:cNvSpPr>
          <p:nvPr>
            <p:ph type="subTitle" idx="7"/>
          </p:nvPr>
        </p:nvSpPr>
        <p:spPr>
          <a:xfrm>
            <a:off x="720000" y="1840669"/>
            <a:ext cx="22335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Erhebung der Daten</a:t>
            </a:r>
            <a:endParaRPr dirty="0">
              <a:solidFill>
                <a:srgbClr val="3D005C"/>
              </a:solidFill>
            </a:endParaRPr>
          </a:p>
        </p:txBody>
      </p:sp>
      <p:sp>
        <p:nvSpPr>
          <p:cNvPr id="284" name="Google Shape;284;p34"/>
          <p:cNvSpPr txBox="1">
            <a:spLocks noGrp="1"/>
          </p:cNvSpPr>
          <p:nvPr>
            <p:ph type="subTitle" idx="8"/>
          </p:nvPr>
        </p:nvSpPr>
        <p:spPr>
          <a:xfrm>
            <a:off x="3455250" y="1840669"/>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Sortieren der Daten</a:t>
            </a:r>
            <a:endParaRPr dirty="0">
              <a:solidFill>
                <a:srgbClr val="3D005C"/>
              </a:solidFill>
            </a:endParaRPr>
          </a:p>
        </p:txBody>
      </p:sp>
      <p:sp>
        <p:nvSpPr>
          <p:cNvPr id="285" name="Google Shape;285;p34"/>
          <p:cNvSpPr txBox="1">
            <a:spLocks noGrp="1"/>
          </p:cNvSpPr>
          <p:nvPr>
            <p:ph type="subTitle" idx="9"/>
          </p:nvPr>
        </p:nvSpPr>
        <p:spPr>
          <a:xfrm>
            <a:off x="6188100" y="1837803"/>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Verwendung der Daten</a:t>
            </a:r>
            <a:endParaRPr dirty="0">
              <a:solidFill>
                <a:srgbClr val="3D005C"/>
              </a:solidFill>
            </a:endParaRPr>
          </a:p>
        </p:txBody>
      </p:sp>
      <p:sp>
        <p:nvSpPr>
          <p:cNvPr id="286" name="Google Shape;286;p34"/>
          <p:cNvSpPr txBox="1">
            <a:spLocks noGrp="1"/>
          </p:cNvSpPr>
          <p:nvPr>
            <p:ph type="subTitle" idx="5"/>
          </p:nvPr>
        </p:nvSpPr>
        <p:spPr>
          <a:xfrm>
            <a:off x="6188100" y="2574452"/>
            <a:ext cx="2233500" cy="116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Erstellung von Buyers Personas</a:t>
            </a:r>
            <a:endParaRPr sz="1400" dirty="0">
              <a:solidFill>
                <a:srgbClr val="000000"/>
              </a:solidFill>
            </a:endParaRPr>
          </a:p>
        </p:txBody>
      </p:sp>
      <p:cxnSp>
        <p:nvCxnSpPr>
          <p:cNvPr id="291" name="Google Shape;291;p34"/>
          <p:cNvCxnSpPr>
            <a:endCxn id="278" idx="0"/>
          </p:cNvCxnSpPr>
          <p:nvPr/>
        </p:nvCxnSpPr>
        <p:spPr>
          <a:xfrm>
            <a:off x="4572000" y="-45475"/>
            <a:ext cx="0" cy="490500"/>
          </a:xfrm>
          <a:prstGeom prst="straightConnector1">
            <a:avLst/>
          </a:prstGeom>
          <a:noFill/>
          <a:ln w="28575" cap="flat" cmpd="sng">
            <a:solidFill>
              <a:srgbClr val="3D005C"/>
            </a:solidFill>
            <a:prstDash val="solid"/>
            <a:round/>
            <a:headEnd type="none" w="med" len="med"/>
            <a:tailEnd type="none" w="med" len="med"/>
          </a:ln>
        </p:spPr>
      </p:cxnSp>
      <p:cxnSp>
        <p:nvCxnSpPr>
          <p:cNvPr id="292" name="Google Shape;292;p34"/>
          <p:cNvCxnSpPr>
            <a:cxnSpLocks/>
          </p:cNvCxnSpPr>
          <p:nvPr/>
        </p:nvCxnSpPr>
        <p:spPr>
          <a:xfrm>
            <a:off x="4572000" y="4603854"/>
            <a:ext cx="0" cy="543600"/>
          </a:xfrm>
          <a:prstGeom prst="straightConnector1">
            <a:avLst/>
          </a:prstGeom>
          <a:noFill/>
          <a:ln w="28575" cap="flat" cmpd="sng">
            <a:solidFill>
              <a:srgbClr val="3D005C"/>
            </a:solidFill>
            <a:prstDash val="solid"/>
            <a:round/>
            <a:headEnd type="none" w="med" len="med"/>
            <a:tailEnd type="non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subTitle" idx="4"/>
          </p:nvPr>
        </p:nvSpPr>
        <p:spPr>
          <a:xfrm>
            <a:off x="4895379" y="2395176"/>
            <a:ext cx="3496233" cy="52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Sekundäre Buyers Persona</a:t>
            </a:r>
            <a:endParaRPr dirty="0">
              <a:solidFill>
                <a:srgbClr val="3D005C"/>
              </a:solidFill>
            </a:endParaRPr>
          </a:p>
        </p:txBody>
      </p:sp>
      <p:sp>
        <p:nvSpPr>
          <p:cNvPr id="210" name="Google Shape;210;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3D005C"/>
                </a:solidFill>
              </a:rPr>
              <a:t>Buyers Personas – Basic</a:t>
            </a:r>
            <a:endParaRPr dirty="0">
              <a:solidFill>
                <a:srgbClr val="3D005C"/>
              </a:solidFill>
            </a:endParaRPr>
          </a:p>
        </p:txBody>
      </p:sp>
      <p:sp>
        <p:nvSpPr>
          <p:cNvPr id="211" name="Google Shape;211;p31"/>
          <p:cNvSpPr txBox="1">
            <a:spLocks noGrp="1"/>
          </p:cNvSpPr>
          <p:nvPr>
            <p:ph type="subTitle" idx="1"/>
          </p:nvPr>
        </p:nvSpPr>
        <p:spPr>
          <a:xfrm>
            <a:off x="4895379" y="2909825"/>
            <a:ext cx="3441864" cy="1467600"/>
          </a:xfrm>
          <a:prstGeom prst="rect">
            <a:avLst/>
          </a:prstGeom>
        </p:spPr>
        <p:txBody>
          <a:bodyPr spcFirstLastPara="1" wrap="square" lIns="91425" tIns="91425" rIns="91425" bIns="91425" anchor="t" anchorCtr="0">
            <a:noAutofit/>
          </a:bodyPr>
          <a:lstStyle/>
          <a:p>
            <a:pPr algn="l">
              <a:buClrTx/>
              <a:buSzPct val="90000"/>
              <a:buFont typeface="Arial" panose="020B0604020202020204" pitchFamily="34" charset="0"/>
              <a:buChar char="•"/>
            </a:pPr>
            <a:r>
              <a:rPr lang="de-DE" sz="1400" dirty="0">
                <a:solidFill>
                  <a:srgbClr val="000000"/>
                </a:solidFill>
              </a:rPr>
              <a:t>Name: Max, Alter: 36, Beruf: Vertriebsleiter, Technik-Enthusiast </a:t>
            </a:r>
          </a:p>
          <a:p>
            <a:pPr algn="l">
              <a:buClrTx/>
              <a:buSzPct val="90000"/>
              <a:buFont typeface="Arial" panose="020B0604020202020204" pitchFamily="34" charset="0"/>
              <a:buChar char="•"/>
            </a:pPr>
            <a:endParaRPr lang="de-DE" sz="1400" dirty="0">
              <a:solidFill>
                <a:srgbClr val="000000"/>
              </a:solidFill>
            </a:endParaRPr>
          </a:p>
          <a:p>
            <a:pPr algn="l">
              <a:buClrTx/>
              <a:buSzPct val="90000"/>
              <a:buFont typeface="Arial" panose="020B0604020202020204" pitchFamily="34" charset="0"/>
              <a:buChar char="•"/>
            </a:pPr>
            <a:r>
              <a:rPr lang="de-DE" sz="1400" dirty="0">
                <a:solidFill>
                  <a:srgbClr val="000000"/>
                </a:solidFill>
              </a:rPr>
              <a:t>Beschreibung: Max ist ein Technik-Enthusiast, der regelmäßig die neuesten Smartphones besitzt.</a:t>
            </a:r>
          </a:p>
          <a:p>
            <a:pPr marL="0" lvl="0" indent="0" algn="l" rtl="0">
              <a:spcBef>
                <a:spcPts val="0"/>
              </a:spcBef>
              <a:spcAft>
                <a:spcPts val="0"/>
              </a:spcAft>
              <a:buNone/>
            </a:pPr>
            <a:endParaRPr dirty="0"/>
          </a:p>
        </p:txBody>
      </p:sp>
      <p:sp>
        <p:nvSpPr>
          <p:cNvPr id="212" name="Google Shape;212;p31"/>
          <p:cNvSpPr txBox="1">
            <a:spLocks noGrp="1"/>
          </p:cNvSpPr>
          <p:nvPr>
            <p:ph type="subTitle" idx="2"/>
          </p:nvPr>
        </p:nvSpPr>
        <p:spPr>
          <a:xfrm>
            <a:off x="806756" y="2909825"/>
            <a:ext cx="3355108" cy="1467600"/>
          </a:xfrm>
          <a:prstGeom prst="rect">
            <a:avLst/>
          </a:prstGeom>
        </p:spPr>
        <p:txBody>
          <a:bodyPr spcFirstLastPara="1" wrap="square" lIns="91425" tIns="91425" rIns="91425" bIns="91425" anchor="t" anchorCtr="0">
            <a:noAutofit/>
          </a:bodyPr>
          <a:lstStyle/>
          <a:p>
            <a:pPr marL="438150" indent="-285750" algn="l">
              <a:buClrTx/>
              <a:buSzPct val="90000"/>
              <a:buFont typeface="Arial" panose="020B0604020202020204" pitchFamily="34" charset="0"/>
              <a:buChar char="•"/>
            </a:pPr>
            <a:r>
              <a:rPr lang="de-DE" sz="1400" dirty="0">
                <a:solidFill>
                  <a:srgbClr val="000000"/>
                </a:solidFill>
              </a:rPr>
              <a:t>Name: Johanna, Alter: 55, Beruf: Mittleres Management, Smartphone-Nutzerin </a:t>
            </a:r>
          </a:p>
          <a:p>
            <a:pPr marL="438150" indent="-285750" algn="l">
              <a:buClrTx/>
              <a:buSzPct val="90000"/>
              <a:buFont typeface="Arial" panose="020B0604020202020204" pitchFamily="34" charset="0"/>
              <a:buChar char="•"/>
            </a:pPr>
            <a:endParaRPr lang="de-DE" sz="1400" dirty="0">
              <a:solidFill>
                <a:srgbClr val="000000"/>
              </a:solidFill>
            </a:endParaRPr>
          </a:p>
          <a:p>
            <a:pPr marL="438150" indent="-285750" algn="l">
              <a:buClrTx/>
              <a:buSzPct val="90000"/>
              <a:buFont typeface="Arial" panose="020B0604020202020204" pitchFamily="34" charset="0"/>
              <a:buChar char="•"/>
            </a:pPr>
            <a:r>
              <a:rPr lang="de-DE" sz="1400" dirty="0">
                <a:solidFill>
                  <a:srgbClr val="000000"/>
                </a:solidFill>
              </a:rPr>
              <a:t>Beschreibung: Johanna ist eine berufstätige Frau, die viel Wert auf den Schutz ihres Smartphones legt.</a:t>
            </a:r>
          </a:p>
        </p:txBody>
      </p:sp>
      <p:sp>
        <p:nvSpPr>
          <p:cNvPr id="213" name="Google Shape;213;p31"/>
          <p:cNvSpPr txBox="1">
            <a:spLocks noGrp="1"/>
          </p:cNvSpPr>
          <p:nvPr>
            <p:ph type="subTitle" idx="3"/>
          </p:nvPr>
        </p:nvSpPr>
        <p:spPr>
          <a:xfrm>
            <a:off x="968187" y="2383201"/>
            <a:ext cx="3193677" cy="526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DE" dirty="0">
                <a:solidFill>
                  <a:srgbClr val="3D005C"/>
                </a:solidFill>
              </a:rPr>
              <a:t>P</a:t>
            </a:r>
            <a:r>
              <a:rPr lang="en" dirty="0">
                <a:solidFill>
                  <a:srgbClr val="3D005C"/>
                </a:solidFill>
              </a:rPr>
              <a:t>rimäre Buyers Persona</a:t>
            </a:r>
            <a:endParaRPr dirty="0">
              <a:solidFill>
                <a:srgbClr val="3D005C"/>
              </a:solidFill>
            </a:endParaRPr>
          </a:p>
        </p:txBody>
      </p:sp>
      <p:sp>
        <p:nvSpPr>
          <p:cNvPr id="214" name="Google Shape;214;p31"/>
          <p:cNvSpPr/>
          <p:nvPr/>
        </p:nvSpPr>
        <p:spPr>
          <a:xfrm>
            <a:off x="2311702" y="1588763"/>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 name="Google Shape;215;p31"/>
          <p:cNvSpPr/>
          <p:nvPr/>
        </p:nvSpPr>
        <p:spPr>
          <a:xfrm>
            <a:off x="6181002" y="1588763"/>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5" name="Google Shape;225;p31"/>
          <p:cNvCxnSpPr>
            <a:endCxn id="214" idx="2"/>
          </p:cNvCxnSpPr>
          <p:nvPr/>
        </p:nvCxnSpPr>
        <p:spPr>
          <a:xfrm>
            <a:off x="-27698" y="1914413"/>
            <a:ext cx="2339400" cy="0"/>
          </a:xfrm>
          <a:prstGeom prst="straightConnector1">
            <a:avLst/>
          </a:prstGeom>
          <a:noFill/>
          <a:ln w="28575" cap="flat" cmpd="sng">
            <a:solidFill>
              <a:srgbClr val="3D005C"/>
            </a:solidFill>
            <a:prstDash val="solid"/>
            <a:round/>
            <a:headEnd type="none" w="med" len="med"/>
            <a:tailEnd type="none" w="med" len="med"/>
          </a:ln>
        </p:spPr>
      </p:cxnSp>
      <p:cxnSp>
        <p:nvCxnSpPr>
          <p:cNvPr id="226" name="Google Shape;226;p31"/>
          <p:cNvCxnSpPr>
            <a:cxnSpLocks/>
            <a:stCxn id="211" idx="3"/>
          </p:cNvCxnSpPr>
          <p:nvPr/>
        </p:nvCxnSpPr>
        <p:spPr>
          <a:xfrm>
            <a:off x="8337243" y="3643625"/>
            <a:ext cx="826219" cy="0"/>
          </a:xfrm>
          <a:prstGeom prst="straightConnector1">
            <a:avLst/>
          </a:prstGeom>
          <a:noFill/>
          <a:ln w="28575" cap="flat" cmpd="sng">
            <a:solidFill>
              <a:srgbClr val="3D005C"/>
            </a:solidFill>
            <a:prstDash val="solid"/>
            <a:round/>
            <a:headEnd type="none" w="med" len="med"/>
            <a:tailEnd type="none" w="med" len="med"/>
          </a:ln>
        </p:spPr>
      </p:cxnSp>
      <p:grpSp>
        <p:nvGrpSpPr>
          <p:cNvPr id="4" name="Google Shape;10481;p61">
            <a:extLst>
              <a:ext uri="{FF2B5EF4-FFF2-40B4-BE49-F238E27FC236}">
                <a16:creationId xmlns:a16="http://schemas.microsoft.com/office/drawing/2014/main" id="{58775897-ED50-9742-46A5-42FF0DEE0A52}"/>
              </a:ext>
            </a:extLst>
          </p:cNvPr>
          <p:cNvGrpSpPr/>
          <p:nvPr/>
        </p:nvGrpSpPr>
        <p:grpSpPr>
          <a:xfrm>
            <a:off x="2503425" y="1743876"/>
            <a:ext cx="267854" cy="355735"/>
            <a:chOff x="4903389" y="1500214"/>
            <a:chExt cx="267854" cy="355735"/>
          </a:xfrm>
          <a:solidFill>
            <a:srgbClr val="3D005C"/>
          </a:solidFill>
        </p:grpSpPr>
        <p:sp>
          <p:nvSpPr>
            <p:cNvPr id="5" name="Google Shape;10482;p61">
              <a:extLst>
                <a:ext uri="{FF2B5EF4-FFF2-40B4-BE49-F238E27FC236}">
                  <a16:creationId xmlns:a16="http://schemas.microsoft.com/office/drawing/2014/main" id="{507FA880-1981-41DA-96BF-C66A751617DC}"/>
                </a:ext>
              </a:extLst>
            </p:cNvPr>
            <p:cNvSpPr/>
            <p:nvPr/>
          </p:nvSpPr>
          <p:spPr>
            <a:xfrm>
              <a:off x="4997700" y="1611854"/>
              <a:ext cx="10201" cy="16252"/>
            </a:xfrm>
            <a:custGeom>
              <a:avLst/>
              <a:gdLst/>
              <a:ahLst/>
              <a:cxnLst/>
              <a:rect l="l" t="t" r="r" b="b"/>
              <a:pathLst>
                <a:path w="322" h="513" extrusionOk="0">
                  <a:moveTo>
                    <a:pt x="167" y="1"/>
                  </a:moveTo>
                  <a:cubicBezTo>
                    <a:pt x="72" y="1"/>
                    <a:pt x="0" y="84"/>
                    <a:pt x="0" y="167"/>
                  </a:cubicBezTo>
                  <a:lnTo>
                    <a:pt x="0" y="346"/>
                  </a:lnTo>
                  <a:cubicBezTo>
                    <a:pt x="0" y="441"/>
                    <a:pt x="72" y="513"/>
                    <a:pt x="167" y="513"/>
                  </a:cubicBezTo>
                  <a:cubicBezTo>
                    <a:pt x="250" y="513"/>
                    <a:pt x="322" y="441"/>
                    <a:pt x="322" y="346"/>
                  </a:cubicBezTo>
                  <a:lnTo>
                    <a:pt x="322" y="167"/>
                  </a:lnTo>
                  <a:cubicBezTo>
                    <a:pt x="322" y="84"/>
                    <a:pt x="250"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483;p61">
              <a:extLst>
                <a:ext uri="{FF2B5EF4-FFF2-40B4-BE49-F238E27FC236}">
                  <a16:creationId xmlns:a16="http://schemas.microsoft.com/office/drawing/2014/main" id="{833FDD71-A2D6-31C3-F30A-7CEAB198BA93}"/>
                </a:ext>
              </a:extLst>
            </p:cNvPr>
            <p:cNvSpPr/>
            <p:nvPr/>
          </p:nvSpPr>
          <p:spPr>
            <a:xfrm>
              <a:off x="5064830" y="1611854"/>
              <a:ext cx="10233" cy="16252"/>
            </a:xfrm>
            <a:custGeom>
              <a:avLst/>
              <a:gdLst/>
              <a:ahLst/>
              <a:cxnLst/>
              <a:rect l="l" t="t" r="r" b="b"/>
              <a:pathLst>
                <a:path w="323" h="513" extrusionOk="0">
                  <a:moveTo>
                    <a:pt x="156" y="1"/>
                  </a:moveTo>
                  <a:cubicBezTo>
                    <a:pt x="72" y="1"/>
                    <a:pt x="1" y="84"/>
                    <a:pt x="1" y="167"/>
                  </a:cubicBezTo>
                  <a:lnTo>
                    <a:pt x="1" y="346"/>
                  </a:lnTo>
                  <a:cubicBezTo>
                    <a:pt x="1" y="441"/>
                    <a:pt x="72" y="513"/>
                    <a:pt x="156" y="513"/>
                  </a:cubicBezTo>
                  <a:cubicBezTo>
                    <a:pt x="251" y="513"/>
                    <a:pt x="322" y="441"/>
                    <a:pt x="322" y="346"/>
                  </a:cubicBezTo>
                  <a:lnTo>
                    <a:pt x="322" y="167"/>
                  </a:lnTo>
                  <a:cubicBezTo>
                    <a:pt x="322" y="84"/>
                    <a:pt x="251" y="1"/>
                    <a:pt x="1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484;p61">
              <a:extLst>
                <a:ext uri="{FF2B5EF4-FFF2-40B4-BE49-F238E27FC236}">
                  <a16:creationId xmlns:a16="http://schemas.microsoft.com/office/drawing/2014/main" id="{01AA7095-792F-B036-A5F8-C13A582EC57F}"/>
                </a:ext>
              </a:extLst>
            </p:cNvPr>
            <p:cNvSpPr/>
            <p:nvPr/>
          </p:nvSpPr>
          <p:spPr>
            <a:xfrm>
              <a:off x="5013160" y="1650820"/>
              <a:ext cx="45302" cy="15777"/>
            </a:xfrm>
            <a:custGeom>
              <a:avLst/>
              <a:gdLst/>
              <a:ahLst/>
              <a:cxnLst/>
              <a:rect l="l" t="t" r="r" b="b"/>
              <a:pathLst>
                <a:path w="1430" h="498" extrusionOk="0">
                  <a:moveTo>
                    <a:pt x="188" y="0"/>
                  </a:moveTo>
                  <a:cubicBezTo>
                    <a:pt x="146" y="0"/>
                    <a:pt x="102" y="15"/>
                    <a:pt x="60" y="45"/>
                  </a:cubicBezTo>
                  <a:cubicBezTo>
                    <a:pt x="1" y="104"/>
                    <a:pt x="1" y="199"/>
                    <a:pt x="60" y="283"/>
                  </a:cubicBezTo>
                  <a:cubicBezTo>
                    <a:pt x="203" y="414"/>
                    <a:pt x="453" y="497"/>
                    <a:pt x="703" y="497"/>
                  </a:cubicBezTo>
                  <a:cubicBezTo>
                    <a:pt x="953" y="497"/>
                    <a:pt x="1215" y="414"/>
                    <a:pt x="1346" y="283"/>
                  </a:cubicBezTo>
                  <a:cubicBezTo>
                    <a:pt x="1429" y="223"/>
                    <a:pt x="1429" y="116"/>
                    <a:pt x="1370" y="45"/>
                  </a:cubicBezTo>
                  <a:cubicBezTo>
                    <a:pt x="1340" y="15"/>
                    <a:pt x="1301" y="0"/>
                    <a:pt x="1260" y="0"/>
                  </a:cubicBezTo>
                  <a:cubicBezTo>
                    <a:pt x="1218" y="0"/>
                    <a:pt x="1173" y="15"/>
                    <a:pt x="1132" y="45"/>
                  </a:cubicBezTo>
                  <a:cubicBezTo>
                    <a:pt x="1072" y="104"/>
                    <a:pt x="929" y="176"/>
                    <a:pt x="715" y="176"/>
                  </a:cubicBezTo>
                  <a:cubicBezTo>
                    <a:pt x="513" y="176"/>
                    <a:pt x="358" y="104"/>
                    <a:pt x="298" y="45"/>
                  </a:cubicBezTo>
                  <a:cubicBezTo>
                    <a:pt x="268" y="15"/>
                    <a:pt x="230" y="0"/>
                    <a:pt x="1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485;p61">
              <a:extLst>
                <a:ext uri="{FF2B5EF4-FFF2-40B4-BE49-F238E27FC236}">
                  <a16:creationId xmlns:a16="http://schemas.microsoft.com/office/drawing/2014/main" id="{2C53183B-0BAF-41E8-67E3-16DC923FF0D8}"/>
                </a:ext>
              </a:extLst>
            </p:cNvPr>
            <p:cNvSpPr/>
            <p:nvPr/>
          </p:nvSpPr>
          <p:spPr>
            <a:xfrm>
              <a:off x="4903389" y="1500214"/>
              <a:ext cx="267854" cy="355735"/>
            </a:xfrm>
            <a:custGeom>
              <a:avLst/>
              <a:gdLst/>
              <a:ahLst/>
              <a:cxnLst/>
              <a:rect l="l" t="t" r="r" b="b"/>
              <a:pathLst>
                <a:path w="8455" h="11229" extrusionOk="0">
                  <a:moveTo>
                    <a:pt x="1382" y="3144"/>
                  </a:moveTo>
                  <a:lnTo>
                    <a:pt x="1382" y="3394"/>
                  </a:lnTo>
                  <a:cubicBezTo>
                    <a:pt x="1180" y="3489"/>
                    <a:pt x="1025" y="3691"/>
                    <a:pt x="1025" y="3941"/>
                  </a:cubicBezTo>
                  <a:cubicBezTo>
                    <a:pt x="1025" y="4275"/>
                    <a:pt x="1299" y="4537"/>
                    <a:pt x="1620" y="4537"/>
                  </a:cubicBezTo>
                  <a:lnTo>
                    <a:pt x="1739" y="4537"/>
                  </a:lnTo>
                  <a:cubicBezTo>
                    <a:pt x="1811" y="5073"/>
                    <a:pt x="2073" y="5549"/>
                    <a:pt x="2430" y="5930"/>
                  </a:cubicBezTo>
                  <a:cubicBezTo>
                    <a:pt x="2362" y="5952"/>
                    <a:pt x="2270" y="5961"/>
                    <a:pt x="2172" y="5961"/>
                  </a:cubicBezTo>
                  <a:cubicBezTo>
                    <a:pt x="2116" y="5961"/>
                    <a:pt x="2058" y="5958"/>
                    <a:pt x="2001" y="5954"/>
                  </a:cubicBezTo>
                  <a:cubicBezTo>
                    <a:pt x="1656" y="5894"/>
                    <a:pt x="1370" y="5644"/>
                    <a:pt x="1251" y="5299"/>
                  </a:cubicBezTo>
                  <a:cubicBezTo>
                    <a:pt x="1203" y="5168"/>
                    <a:pt x="1192" y="5037"/>
                    <a:pt x="1203" y="4894"/>
                  </a:cubicBezTo>
                  <a:cubicBezTo>
                    <a:pt x="1215" y="4715"/>
                    <a:pt x="1144" y="4537"/>
                    <a:pt x="989" y="4442"/>
                  </a:cubicBezTo>
                  <a:cubicBezTo>
                    <a:pt x="751" y="4275"/>
                    <a:pt x="620" y="3989"/>
                    <a:pt x="691" y="3703"/>
                  </a:cubicBezTo>
                  <a:cubicBezTo>
                    <a:pt x="751" y="3429"/>
                    <a:pt x="965" y="3203"/>
                    <a:pt x="1251" y="3156"/>
                  </a:cubicBezTo>
                  <a:cubicBezTo>
                    <a:pt x="1299" y="3144"/>
                    <a:pt x="1334" y="3144"/>
                    <a:pt x="1382" y="3144"/>
                  </a:cubicBezTo>
                  <a:close/>
                  <a:moveTo>
                    <a:pt x="7002" y="3144"/>
                  </a:moveTo>
                  <a:cubicBezTo>
                    <a:pt x="7037" y="3144"/>
                    <a:pt x="7085" y="3144"/>
                    <a:pt x="7145" y="3156"/>
                  </a:cubicBezTo>
                  <a:cubicBezTo>
                    <a:pt x="7430" y="3203"/>
                    <a:pt x="7669" y="3441"/>
                    <a:pt x="7716" y="3703"/>
                  </a:cubicBezTo>
                  <a:cubicBezTo>
                    <a:pt x="7776" y="3989"/>
                    <a:pt x="7657" y="4275"/>
                    <a:pt x="7418" y="4442"/>
                  </a:cubicBezTo>
                  <a:cubicBezTo>
                    <a:pt x="7264" y="4537"/>
                    <a:pt x="7180" y="4715"/>
                    <a:pt x="7192" y="4894"/>
                  </a:cubicBezTo>
                  <a:cubicBezTo>
                    <a:pt x="7204" y="5037"/>
                    <a:pt x="7192" y="5168"/>
                    <a:pt x="7145" y="5299"/>
                  </a:cubicBezTo>
                  <a:cubicBezTo>
                    <a:pt x="7037" y="5632"/>
                    <a:pt x="6740" y="5894"/>
                    <a:pt x="6406" y="5954"/>
                  </a:cubicBezTo>
                  <a:cubicBezTo>
                    <a:pt x="6348" y="5966"/>
                    <a:pt x="6290" y="5971"/>
                    <a:pt x="6233" y="5971"/>
                  </a:cubicBezTo>
                  <a:cubicBezTo>
                    <a:pt x="6126" y="5971"/>
                    <a:pt x="6023" y="5953"/>
                    <a:pt x="5930" y="5930"/>
                  </a:cubicBezTo>
                  <a:cubicBezTo>
                    <a:pt x="6287" y="5549"/>
                    <a:pt x="6537" y="5073"/>
                    <a:pt x="6609" y="4537"/>
                  </a:cubicBezTo>
                  <a:lnTo>
                    <a:pt x="6728" y="4537"/>
                  </a:lnTo>
                  <a:cubicBezTo>
                    <a:pt x="7061" y="4537"/>
                    <a:pt x="7323" y="4275"/>
                    <a:pt x="7323" y="3941"/>
                  </a:cubicBezTo>
                  <a:cubicBezTo>
                    <a:pt x="7323" y="3703"/>
                    <a:pt x="7168" y="3501"/>
                    <a:pt x="6966" y="3394"/>
                  </a:cubicBezTo>
                  <a:lnTo>
                    <a:pt x="6966" y="3144"/>
                  </a:lnTo>
                  <a:close/>
                  <a:moveTo>
                    <a:pt x="4216" y="346"/>
                  </a:moveTo>
                  <a:cubicBezTo>
                    <a:pt x="5585" y="346"/>
                    <a:pt x="6680" y="1441"/>
                    <a:pt x="6680" y="2810"/>
                  </a:cubicBezTo>
                  <a:lnTo>
                    <a:pt x="6680" y="3346"/>
                  </a:lnTo>
                  <a:lnTo>
                    <a:pt x="6668" y="3346"/>
                  </a:lnTo>
                  <a:cubicBezTo>
                    <a:pt x="6502" y="3346"/>
                    <a:pt x="6347" y="3322"/>
                    <a:pt x="6192" y="3287"/>
                  </a:cubicBezTo>
                  <a:cubicBezTo>
                    <a:pt x="6180" y="3283"/>
                    <a:pt x="6167" y="3281"/>
                    <a:pt x="6154" y="3281"/>
                  </a:cubicBezTo>
                  <a:cubicBezTo>
                    <a:pt x="6081" y="3281"/>
                    <a:pt x="6008" y="3335"/>
                    <a:pt x="5978" y="3406"/>
                  </a:cubicBezTo>
                  <a:cubicBezTo>
                    <a:pt x="5954" y="3501"/>
                    <a:pt x="6014" y="3584"/>
                    <a:pt x="6097" y="3620"/>
                  </a:cubicBezTo>
                  <a:cubicBezTo>
                    <a:pt x="6299" y="3680"/>
                    <a:pt x="6490" y="3691"/>
                    <a:pt x="6668" y="3691"/>
                  </a:cubicBezTo>
                  <a:lnTo>
                    <a:pt x="6752" y="3691"/>
                  </a:lnTo>
                  <a:cubicBezTo>
                    <a:pt x="6907" y="3691"/>
                    <a:pt x="7026" y="3810"/>
                    <a:pt x="7026" y="3965"/>
                  </a:cubicBezTo>
                  <a:cubicBezTo>
                    <a:pt x="7026" y="4108"/>
                    <a:pt x="6907" y="4227"/>
                    <a:pt x="6752" y="4227"/>
                  </a:cubicBezTo>
                  <a:lnTo>
                    <a:pt x="6656" y="4227"/>
                  </a:lnTo>
                  <a:lnTo>
                    <a:pt x="6656" y="4215"/>
                  </a:lnTo>
                  <a:cubicBezTo>
                    <a:pt x="6656" y="4120"/>
                    <a:pt x="6573" y="4049"/>
                    <a:pt x="6490" y="4049"/>
                  </a:cubicBezTo>
                  <a:cubicBezTo>
                    <a:pt x="6395" y="4049"/>
                    <a:pt x="6323" y="4120"/>
                    <a:pt x="6323" y="4215"/>
                  </a:cubicBezTo>
                  <a:cubicBezTo>
                    <a:pt x="6323" y="5370"/>
                    <a:pt x="5371" y="6323"/>
                    <a:pt x="4216" y="6323"/>
                  </a:cubicBezTo>
                  <a:cubicBezTo>
                    <a:pt x="3037" y="6311"/>
                    <a:pt x="2084" y="5358"/>
                    <a:pt x="2084" y="4203"/>
                  </a:cubicBezTo>
                  <a:cubicBezTo>
                    <a:pt x="2084" y="4108"/>
                    <a:pt x="2013" y="4037"/>
                    <a:pt x="1918" y="4037"/>
                  </a:cubicBezTo>
                  <a:cubicBezTo>
                    <a:pt x="1834" y="4037"/>
                    <a:pt x="1763" y="4108"/>
                    <a:pt x="1763" y="4203"/>
                  </a:cubicBezTo>
                  <a:lnTo>
                    <a:pt x="1763" y="4215"/>
                  </a:lnTo>
                  <a:lnTo>
                    <a:pt x="1656" y="4215"/>
                  </a:lnTo>
                  <a:cubicBezTo>
                    <a:pt x="1501" y="4215"/>
                    <a:pt x="1382" y="4096"/>
                    <a:pt x="1382" y="3941"/>
                  </a:cubicBezTo>
                  <a:cubicBezTo>
                    <a:pt x="1382" y="3799"/>
                    <a:pt x="1501" y="3680"/>
                    <a:pt x="1656" y="3680"/>
                  </a:cubicBezTo>
                  <a:lnTo>
                    <a:pt x="1739" y="3680"/>
                  </a:lnTo>
                  <a:cubicBezTo>
                    <a:pt x="2918" y="3680"/>
                    <a:pt x="3847" y="2667"/>
                    <a:pt x="4180" y="2215"/>
                  </a:cubicBezTo>
                  <a:lnTo>
                    <a:pt x="4216" y="2215"/>
                  </a:lnTo>
                  <a:cubicBezTo>
                    <a:pt x="4418" y="2489"/>
                    <a:pt x="4871" y="2977"/>
                    <a:pt x="5454" y="3322"/>
                  </a:cubicBezTo>
                  <a:cubicBezTo>
                    <a:pt x="5476" y="3337"/>
                    <a:pt x="5502" y="3344"/>
                    <a:pt x="5528" y="3344"/>
                  </a:cubicBezTo>
                  <a:cubicBezTo>
                    <a:pt x="5586" y="3344"/>
                    <a:pt x="5644" y="3312"/>
                    <a:pt x="5668" y="3263"/>
                  </a:cubicBezTo>
                  <a:cubicBezTo>
                    <a:pt x="5716" y="3191"/>
                    <a:pt x="5680" y="3084"/>
                    <a:pt x="5609" y="3037"/>
                  </a:cubicBezTo>
                  <a:cubicBezTo>
                    <a:pt x="5073" y="2727"/>
                    <a:pt x="4680" y="2263"/>
                    <a:pt x="4478" y="2025"/>
                  </a:cubicBezTo>
                  <a:cubicBezTo>
                    <a:pt x="4418" y="1929"/>
                    <a:pt x="4323" y="1894"/>
                    <a:pt x="4216" y="1894"/>
                  </a:cubicBezTo>
                  <a:cubicBezTo>
                    <a:pt x="4109" y="1894"/>
                    <a:pt x="4001" y="1941"/>
                    <a:pt x="3942" y="2025"/>
                  </a:cubicBezTo>
                  <a:cubicBezTo>
                    <a:pt x="2989" y="3227"/>
                    <a:pt x="2096" y="3346"/>
                    <a:pt x="1763" y="3346"/>
                  </a:cubicBezTo>
                  <a:lnTo>
                    <a:pt x="1739" y="3346"/>
                  </a:lnTo>
                  <a:lnTo>
                    <a:pt x="1739" y="2810"/>
                  </a:lnTo>
                  <a:cubicBezTo>
                    <a:pt x="1739" y="1453"/>
                    <a:pt x="2846" y="346"/>
                    <a:pt x="4216" y="346"/>
                  </a:cubicBezTo>
                  <a:close/>
                  <a:moveTo>
                    <a:pt x="5085" y="6477"/>
                  </a:moveTo>
                  <a:lnTo>
                    <a:pt x="5085" y="7359"/>
                  </a:lnTo>
                  <a:cubicBezTo>
                    <a:pt x="5085" y="7847"/>
                    <a:pt x="4692" y="8252"/>
                    <a:pt x="4192" y="8252"/>
                  </a:cubicBezTo>
                  <a:cubicBezTo>
                    <a:pt x="3704" y="8252"/>
                    <a:pt x="3299" y="7847"/>
                    <a:pt x="3299" y="7359"/>
                  </a:cubicBezTo>
                  <a:lnTo>
                    <a:pt x="3299" y="6477"/>
                  </a:lnTo>
                  <a:cubicBezTo>
                    <a:pt x="3573" y="6585"/>
                    <a:pt x="3882" y="6644"/>
                    <a:pt x="4192" y="6644"/>
                  </a:cubicBezTo>
                  <a:cubicBezTo>
                    <a:pt x="4513" y="6644"/>
                    <a:pt x="4811" y="6585"/>
                    <a:pt x="5085" y="6477"/>
                  </a:cubicBezTo>
                  <a:close/>
                  <a:moveTo>
                    <a:pt x="5430" y="7061"/>
                  </a:moveTo>
                  <a:lnTo>
                    <a:pt x="5883" y="7204"/>
                  </a:lnTo>
                  <a:cubicBezTo>
                    <a:pt x="5954" y="7239"/>
                    <a:pt x="6002" y="7299"/>
                    <a:pt x="6002" y="7370"/>
                  </a:cubicBezTo>
                  <a:cubicBezTo>
                    <a:pt x="6014" y="7990"/>
                    <a:pt x="5883" y="8502"/>
                    <a:pt x="5752" y="8799"/>
                  </a:cubicBezTo>
                  <a:cubicBezTo>
                    <a:pt x="5664" y="9003"/>
                    <a:pt x="5465" y="9128"/>
                    <a:pt x="5259" y="9128"/>
                  </a:cubicBezTo>
                  <a:cubicBezTo>
                    <a:pt x="5213" y="9128"/>
                    <a:pt x="5166" y="9122"/>
                    <a:pt x="5121" y="9109"/>
                  </a:cubicBezTo>
                  <a:lnTo>
                    <a:pt x="4240" y="8883"/>
                  </a:lnTo>
                  <a:lnTo>
                    <a:pt x="4168" y="8883"/>
                  </a:lnTo>
                  <a:lnTo>
                    <a:pt x="3287" y="9109"/>
                  </a:lnTo>
                  <a:cubicBezTo>
                    <a:pt x="3247" y="9118"/>
                    <a:pt x="3205" y="9123"/>
                    <a:pt x="3164" y="9123"/>
                  </a:cubicBezTo>
                  <a:cubicBezTo>
                    <a:pt x="2953" y="9123"/>
                    <a:pt x="2748" y="8999"/>
                    <a:pt x="2668" y="8799"/>
                  </a:cubicBezTo>
                  <a:cubicBezTo>
                    <a:pt x="2525" y="8490"/>
                    <a:pt x="2394" y="7990"/>
                    <a:pt x="2430" y="7370"/>
                  </a:cubicBezTo>
                  <a:cubicBezTo>
                    <a:pt x="2430" y="7299"/>
                    <a:pt x="2489" y="7216"/>
                    <a:pt x="2549" y="7204"/>
                  </a:cubicBezTo>
                  <a:lnTo>
                    <a:pt x="2989" y="7061"/>
                  </a:lnTo>
                  <a:lnTo>
                    <a:pt x="2989" y="7359"/>
                  </a:lnTo>
                  <a:cubicBezTo>
                    <a:pt x="2989" y="8025"/>
                    <a:pt x="3537" y="8573"/>
                    <a:pt x="4216" y="8573"/>
                  </a:cubicBezTo>
                  <a:cubicBezTo>
                    <a:pt x="4882" y="8573"/>
                    <a:pt x="5430" y="8025"/>
                    <a:pt x="5430" y="7359"/>
                  </a:cubicBezTo>
                  <a:lnTo>
                    <a:pt x="5430" y="7061"/>
                  </a:lnTo>
                  <a:close/>
                  <a:moveTo>
                    <a:pt x="4204" y="0"/>
                  </a:moveTo>
                  <a:cubicBezTo>
                    <a:pt x="2656" y="0"/>
                    <a:pt x="1406" y="1251"/>
                    <a:pt x="1406" y="2798"/>
                  </a:cubicBezTo>
                  <a:lnTo>
                    <a:pt x="1406" y="2810"/>
                  </a:lnTo>
                  <a:cubicBezTo>
                    <a:pt x="1346" y="2810"/>
                    <a:pt x="1263" y="2810"/>
                    <a:pt x="1203" y="2822"/>
                  </a:cubicBezTo>
                  <a:cubicBezTo>
                    <a:pt x="787" y="2906"/>
                    <a:pt x="453" y="3227"/>
                    <a:pt x="370" y="3644"/>
                  </a:cubicBezTo>
                  <a:cubicBezTo>
                    <a:pt x="287" y="4061"/>
                    <a:pt x="465" y="4477"/>
                    <a:pt x="811" y="4715"/>
                  </a:cubicBezTo>
                  <a:cubicBezTo>
                    <a:pt x="870" y="4751"/>
                    <a:pt x="894" y="4823"/>
                    <a:pt x="882" y="4882"/>
                  </a:cubicBezTo>
                  <a:cubicBezTo>
                    <a:pt x="870" y="5061"/>
                    <a:pt x="882" y="5239"/>
                    <a:pt x="941" y="5418"/>
                  </a:cubicBezTo>
                  <a:cubicBezTo>
                    <a:pt x="1084" y="5858"/>
                    <a:pt x="1477" y="6204"/>
                    <a:pt x="1942" y="6299"/>
                  </a:cubicBezTo>
                  <a:cubicBezTo>
                    <a:pt x="2013" y="6311"/>
                    <a:pt x="2096" y="6311"/>
                    <a:pt x="2180" y="6311"/>
                  </a:cubicBezTo>
                  <a:cubicBezTo>
                    <a:pt x="2370" y="6311"/>
                    <a:pt x="2561" y="6263"/>
                    <a:pt x="2739" y="6180"/>
                  </a:cubicBezTo>
                  <a:cubicBezTo>
                    <a:pt x="2811" y="6239"/>
                    <a:pt x="2894" y="6275"/>
                    <a:pt x="2977" y="6323"/>
                  </a:cubicBezTo>
                  <a:lnTo>
                    <a:pt x="2977" y="6716"/>
                  </a:lnTo>
                  <a:lnTo>
                    <a:pt x="2430" y="6906"/>
                  </a:lnTo>
                  <a:cubicBezTo>
                    <a:pt x="2239" y="6978"/>
                    <a:pt x="2096" y="7156"/>
                    <a:pt x="2084" y="7370"/>
                  </a:cubicBezTo>
                  <a:lnTo>
                    <a:pt x="2084" y="7394"/>
                  </a:lnTo>
                  <a:lnTo>
                    <a:pt x="822" y="7847"/>
                  </a:lnTo>
                  <a:cubicBezTo>
                    <a:pt x="334" y="8025"/>
                    <a:pt x="1" y="8466"/>
                    <a:pt x="1" y="8990"/>
                  </a:cubicBezTo>
                  <a:lnTo>
                    <a:pt x="1" y="11061"/>
                  </a:lnTo>
                  <a:cubicBezTo>
                    <a:pt x="1" y="11145"/>
                    <a:pt x="72" y="11228"/>
                    <a:pt x="168" y="11228"/>
                  </a:cubicBezTo>
                  <a:cubicBezTo>
                    <a:pt x="251" y="11228"/>
                    <a:pt x="334" y="11145"/>
                    <a:pt x="334" y="11061"/>
                  </a:cubicBezTo>
                  <a:lnTo>
                    <a:pt x="334" y="8990"/>
                  </a:lnTo>
                  <a:cubicBezTo>
                    <a:pt x="334" y="8883"/>
                    <a:pt x="346" y="8787"/>
                    <a:pt x="394" y="8680"/>
                  </a:cubicBezTo>
                  <a:lnTo>
                    <a:pt x="1227" y="9395"/>
                  </a:lnTo>
                  <a:cubicBezTo>
                    <a:pt x="1346" y="9490"/>
                    <a:pt x="1418" y="9645"/>
                    <a:pt x="1418" y="9787"/>
                  </a:cubicBezTo>
                  <a:lnTo>
                    <a:pt x="1418" y="11061"/>
                  </a:lnTo>
                  <a:cubicBezTo>
                    <a:pt x="1418" y="11145"/>
                    <a:pt x="1489" y="11228"/>
                    <a:pt x="1584" y="11228"/>
                  </a:cubicBezTo>
                  <a:cubicBezTo>
                    <a:pt x="1668" y="11228"/>
                    <a:pt x="1739" y="11145"/>
                    <a:pt x="1739" y="11061"/>
                  </a:cubicBezTo>
                  <a:lnTo>
                    <a:pt x="1739" y="9787"/>
                  </a:lnTo>
                  <a:cubicBezTo>
                    <a:pt x="1739" y="9537"/>
                    <a:pt x="1644" y="9299"/>
                    <a:pt x="1442" y="9144"/>
                  </a:cubicBezTo>
                  <a:lnTo>
                    <a:pt x="584" y="8394"/>
                  </a:lnTo>
                  <a:cubicBezTo>
                    <a:pt x="668" y="8287"/>
                    <a:pt x="811" y="8204"/>
                    <a:pt x="941" y="8156"/>
                  </a:cubicBezTo>
                  <a:lnTo>
                    <a:pt x="2096" y="7751"/>
                  </a:lnTo>
                  <a:cubicBezTo>
                    <a:pt x="2132" y="8263"/>
                    <a:pt x="2251" y="8680"/>
                    <a:pt x="2370" y="8942"/>
                  </a:cubicBezTo>
                  <a:cubicBezTo>
                    <a:pt x="2508" y="9277"/>
                    <a:pt x="2825" y="9481"/>
                    <a:pt x="3167" y="9481"/>
                  </a:cubicBezTo>
                  <a:cubicBezTo>
                    <a:pt x="3238" y="9481"/>
                    <a:pt x="3310" y="9473"/>
                    <a:pt x="3382" y="9454"/>
                  </a:cubicBezTo>
                  <a:lnTo>
                    <a:pt x="4061" y="9287"/>
                  </a:lnTo>
                  <a:lnTo>
                    <a:pt x="4061" y="9823"/>
                  </a:lnTo>
                  <a:cubicBezTo>
                    <a:pt x="4061" y="9918"/>
                    <a:pt x="4144" y="9990"/>
                    <a:pt x="4228" y="9990"/>
                  </a:cubicBezTo>
                  <a:cubicBezTo>
                    <a:pt x="4311" y="9990"/>
                    <a:pt x="4394" y="9918"/>
                    <a:pt x="4394" y="9823"/>
                  </a:cubicBezTo>
                  <a:lnTo>
                    <a:pt x="4394" y="9287"/>
                  </a:lnTo>
                  <a:lnTo>
                    <a:pt x="5073" y="9454"/>
                  </a:lnTo>
                  <a:cubicBezTo>
                    <a:pt x="5144" y="9466"/>
                    <a:pt x="5228" y="9478"/>
                    <a:pt x="5287" y="9478"/>
                  </a:cubicBezTo>
                  <a:cubicBezTo>
                    <a:pt x="5621" y="9478"/>
                    <a:pt x="5942" y="9275"/>
                    <a:pt x="6085" y="8942"/>
                  </a:cubicBezTo>
                  <a:cubicBezTo>
                    <a:pt x="6204" y="8680"/>
                    <a:pt x="6323" y="8263"/>
                    <a:pt x="6359" y="7751"/>
                  </a:cubicBezTo>
                  <a:lnTo>
                    <a:pt x="7514" y="8156"/>
                  </a:lnTo>
                  <a:cubicBezTo>
                    <a:pt x="7669" y="8204"/>
                    <a:pt x="7788" y="8287"/>
                    <a:pt x="7871" y="8394"/>
                  </a:cubicBezTo>
                  <a:lnTo>
                    <a:pt x="7014" y="9133"/>
                  </a:lnTo>
                  <a:cubicBezTo>
                    <a:pt x="6823" y="9299"/>
                    <a:pt x="6716" y="9537"/>
                    <a:pt x="6716" y="9787"/>
                  </a:cubicBezTo>
                  <a:lnTo>
                    <a:pt x="6716" y="11061"/>
                  </a:lnTo>
                  <a:cubicBezTo>
                    <a:pt x="6716" y="11145"/>
                    <a:pt x="6787" y="11216"/>
                    <a:pt x="6871" y="11216"/>
                  </a:cubicBezTo>
                  <a:cubicBezTo>
                    <a:pt x="6966" y="11216"/>
                    <a:pt x="7037" y="11145"/>
                    <a:pt x="7037" y="11061"/>
                  </a:cubicBezTo>
                  <a:lnTo>
                    <a:pt x="7037" y="9787"/>
                  </a:lnTo>
                  <a:cubicBezTo>
                    <a:pt x="7037" y="9633"/>
                    <a:pt x="7109" y="9478"/>
                    <a:pt x="7228" y="9395"/>
                  </a:cubicBezTo>
                  <a:lnTo>
                    <a:pt x="8061" y="8680"/>
                  </a:lnTo>
                  <a:cubicBezTo>
                    <a:pt x="8097" y="8775"/>
                    <a:pt x="8121" y="8883"/>
                    <a:pt x="8121" y="8990"/>
                  </a:cubicBezTo>
                  <a:lnTo>
                    <a:pt x="8121" y="11061"/>
                  </a:lnTo>
                  <a:cubicBezTo>
                    <a:pt x="8121" y="11145"/>
                    <a:pt x="8204" y="11216"/>
                    <a:pt x="8288" y="11216"/>
                  </a:cubicBezTo>
                  <a:cubicBezTo>
                    <a:pt x="8383" y="11216"/>
                    <a:pt x="8454" y="11145"/>
                    <a:pt x="8454" y="11061"/>
                  </a:cubicBezTo>
                  <a:lnTo>
                    <a:pt x="8454" y="8990"/>
                  </a:lnTo>
                  <a:cubicBezTo>
                    <a:pt x="8395" y="8466"/>
                    <a:pt x="8061" y="8013"/>
                    <a:pt x="7573" y="7847"/>
                  </a:cubicBezTo>
                  <a:lnTo>
                    <a:pt x="6311" y="7394"/>
                  </a:lnTo>
                  <a:lnTo>
                    <a:pt x="6311" y="7370"/>
                  </a:lnTo>
                  <a:cubicBezTo>
                    <a:pt x="6299" y="7156"/>
                    <a:pt x="6168" y="6978"/>
                    <a:pt x="5966" y="6906"/>
                  </a:cubicBezTo>
                  <a:lnTo>
                    <a:pt x="5418" y="6716"/>
                  </a:lnTo>
                  <a:lnTo>
                    <a:pt x="5418" y="6323"/>
                  </a:lnTo>
                  <a:cubicBezTo>
                    <a:pt x="5502" y="6275"/>
                    <a:pt x="5585" y="6216"/>
                    <a:pt x="5656" y="6180"/>
                  </a:cubicBezTo>
                  <a:cubicBezTo>
                    <a:pt x="5835" y="6263"/>
                    <a:pt x="6025" y="6311"/>
                    <a:pt x="6216" y="6311"/>
                  </a:cubicBezTo>
                  <a:cubicBezTo>
                    <a:pt x="6299" y="6311"/>
                    <a:pt x="6383" y="6311"/>
                    <a:pt x="6454" y="6299"/>
                  </a:cubicBezTo>
                  <a:cubicBezTo>
                    <a:pt x="6918" y="6204"/>
                    <a:pt x="7311" y="5858"/>
                    <a:pt x="7454" y="5418"/>
                  </a:cubicBezTo>
                  <a:cubicBezTo>
                    <a:pt x="7514" y="5239"/>
                    <a:pt x="7526" y="5061"/>
                    <a:pt x="7514" y="4882"/>
                  </a:cubicBezTo>
                  <a:cubicBezTo>
                    <a:pt x="7514" y="4823"/>
                    <a:pt x="7549" y="4751"/>
                    <a:pt x="7585" y="4715"/>
                  </a:cubicBezTo>
                  <a:cubicBezTo>
                    <a:pt x="7954" y="4477"/>
                    <a:pt x="8109" y="4061"/>
                    <a:pt x="8026" y="3644"/>
                  </a:cubicBezTo>
                  <a:cubicBezTo>
                    <a:pt x="7930" y="3227"/>
                    <a:pt x="7609" y="2906"/>
                    <a:pt x="7192" y="2822"/>
                  </a:cubicBezTo>
                  <a:cubicBezTo>
                    <a:pt x="7133" y="2810"/>
                    <a:pt x="7061" y="2810"/>
                    <a:pt x="7002" y="2810"/>
                  </a:cubicBezTo>
                  <a:lnTo>
                    <a:pt x="7002" y="2798"/>
                  </a:lnTo>
                  <a:cubicBezTo>
                    <a:pt x="7002" y="1251"/>
                    <a:pt x="5752" y="0"/>
                    <a:pt x="420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0486;p61">
              <a:extLst>
                <a:ext uri="{FF2B5EF4-FFF2-40B4-BE49-F238E27FC236}">
                  <a16:creationId xmlns:a16="http://schemas.microsoft.com/office/drawing/2014/main" id="{F16F0AB3-1509-1C4C-DA44-AEC1D03CB268}"/>
                </a:ext>
              </a:extLst>
            </p:cNvPr>
            <p:cNvSpPr/>
            <p:nvPr/>
          </p:nvSpPr>
          <p:spPr>
            <a:xfrm>
              <a:off x="5031281" y="1828007"/>
              <a:ext cx="10201" cy="15872"/>
            </a:xfrm>
            <a:custGeom>
              <a:avLst/>
              <a:gdLst/>
              <a:ahLst/>
              <a:cxnLst/>
              <a:rect l="l" t="t" r="r" b="b"/>
              <a:pathLst>
                <a:path w="322" h="501" extrusionOk="0">
                  <a:moveTo>
                    <a:pt x="155" y="0"/>
                  </a:moveTo>
                  <a:cubicBezTo>
                    <a:pt x="72" y="0"/>
                    <a:pt x="0" y="71"/>
                    <a:pt x="0" y="167"/>
                  </a:cubicBezTo>
                  <a:lnTo>
                    <a:pt x="0" y="345"/>
                  </a:lnTo>
                  <a:cubicBezTo>
                    <a:pt x="0" y="429"/>
                    <a:pt x="72" y="500"/>
                    <a:pt x="155" y="500"/>
                  </a:cubicBezTo>
                  <a:cubicBezTo>
                    <a:pt x="250" y="500"/>
                    <a:pt x="322" y="429"/>
                    <a:pt x="322" y="345"/>
                  </a:cubicBezTo>
                  <a:lnTo>
                    <a:pt x="322" y="167"/>
                  </a:lnTo>
                  <a:cubicBezTo>
                    <a:pt x="322" y="71"/>
                    <a:pt x="250" y="0"/>
                    <a:pt x="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10324;p61">
            <a:extLst>
              <a:ext uri="{FF2B5EF4-FFF2-40B4-BE49-F238E27FC236}">
                <a16:creationId xmlns:a16="http://schemas.microsoft.com/office/drawing/2014/main" id="{3D0365EF-D2A2-84BE-52D1-424E54B4E8AF}"/>
              </a:ext>
            </a:extLst>
          </p:cNvPr>
          <p:cNvGrpSpPr/>
          <p:nvPr/>
        </p:nvGrpSpPr>
        <p:grpSpPr>
          <a:xfrm>
            <a:off x="6373746" y="1723299"/>
            <a:ext cx="279544" cy="358142"/>
            <a:chOff x="7596157" y="1968159"/>
            <a:chExt cx="279544" cy="358142"/>
          </a:xfrm>
          <a:solidFill>
            <a:srgbClr val="3D005C"/>
          </a:solidFill>
        </p:grpSpPr>
        <p:sp>
          <p:nvSpPr>
            <p:cNvPr id="11" name="Google Shape;10325;p61">
              <a:extLst>
                <a:ext uri="{FF2B5EF4-FFF2-40B4-BE49-F238E27FC236}">
                  <a16:creationId xmlns:a16="http://schemas.microsoft.com/office/drawing/2014/main" id="{A452F7E5-17C7-95C0-3090-718759E20A2D}"/>
                </a:ext>
              </a:extLst>
            </p:cNvPr>
            <p:cNvSpPr/>
            <p:nvPr/>
          </p:nvSpPr>
          <p:spPr>
            <a:xfrm>
              <a:off x="7696868" y="2092408"/>
              <a:ext cx="10581" cy="16252"/>
            </a:xfrm>
            <a:custGeom>
              <a:avLst/>
              <a:gdLst/>
              <a:ahLst/>
              <a:cxnLst/>
              <a:rect l="l" t="t" r="r" b="b"/>
              <a:pathLst>
                <a:path w="334" h="513" extrusionOk="0">
                  <a:moveTo>
                    <a:pt x="167" y="0"/>
                  </a:moveTo>
                  <a:cubicBezTo>
                    <a:pt x="84" y="0"/>
                    <a:pt x="1" y="72"/>
                    <a:pt x="1" y="167"/>
                  </a:cubicBezTo>
                  <a:lnTo>
                    <a:pt x="1" y="346"/>
                  </a:lnTo>
                  <a:cubicBezTo>
                    <a:pt x="1" y="429"/>
                    <a:pt x="84" y="512"/>
                    <a:pt x="167" y="512"/>
                  </a:cubicBezTo>
                  <a:cubicBezTo>
                    <a:pt x="263" y="512"/>
                    <a:pt x="334" y="429"/>
                    <a:pt x="334" y="346"/>
                  </a:cubicBezTo>
                  <a:lnTo>
                    <a:pt x="334" y="167"/>
                  </a:lnTo>
                  <a:cubicBezTo>
                    <a:pt x="334" y="72"/>
                    <a:pt x="263"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0326;p61">
              <a:extLst>
                <a:ext uri="{FF2B5EF4-FFF2-40B4-BE49-F238E27FC236}">
                  <a16:creationId xmlns:a16="http://schemas.microsoft.com/office/drawing/2014/main" id="{474A9849-19B0-C808-F78D-F20B32210D4E}"/>
                </a:ext>
              </a:extLst>
            </p:cNvPr>
            <p:cNvSpPr/>
            <p:nvPr/>
          </p:nvSpPr>
          <p:spPr>
            <a:xfrm>
              <a:off x="7764378" y="2092408"/>
              <a:ext cx="10613" cy="16252"/>
            </a:xfrm>
            <a:custGeom>
              <a:avLst/>
              <a:gdLst/>
              <a:ahLst/>
              <a:cxnLst/>
              <a:rect l="l" t="t" r="r" b="b"/>
              <a:pathLst>
                <a:path w="335" h="513" extrusionOk="0">
                  <a:moveTo>
                    <a:pt x="167" y="0"/>
                  </a:moveTo>
                  <a:cubicBezTo>
                    <a:pt x="72" y="0"/>
                    <a:pt x="1" y="72"/>
                    <a:pt x="1" y="167"/>
                  </a:cubicBezTo>
                  <a:lnTo>
                    <a:pt x="1" y="346"/>
                  </a:lnTo>
                  <a:cubicBezTo>
                    <a:pt x="1" y="429"/>
                    <a:pt x="72" y="512"/>
                    <a:pt x="167" y="512"/>
                  </a:cubicBezTo>
                  <a:cubicBezTo>
                    <a:pt x="251" y="512"/>
                    <a:pt x="334" y="429"/>
                    <a:pt x="334" y="346"/>
                  </a:cubicBezTo>
                  <a:lnTo>
                    <a:pt x="334" y="167"/>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327;p61">
              <a:extLst>
                <a:ext uri="{FF2B5EF4-FFF2-40B4-BE49-F238E27FC236}">
                  <a16:creationId xmlns:a16="http://schemas.microsoft.com/office/drawing/2014/main" id="{FFB64D34-3101-E801-EB39-82B0FBFB246F}"/>
                </a:ext>
              </a:extLst>
            </p:cNvPr>
            <p:cNvSpPr/>
            <p:nvPr/>
          </p:nvSpPr>
          <p:spPr>
            <a:xfrm>
              <a:off x="7713088" y="2143032"/>
              <a:ext cx="45302" cy="15777"/>
            </a:xfrm>
            <a:custGeom>
              <a:avLst/>
              <a:gdLst/>
              <a:ahLst/>
              <a:cxnLst/>
              <a:rect l="l" t="t" r="r" b="b"/>
              <a:pathLst>
                <a:path w="1430" h="498" extrusionOk="0">
                  <a:moveTo>
                    <a:pt x="184" y="1"/>
                  </a:moveTo>
                  <a:cubicBezTo>
                    <a:pt x="140" y="1"/>
                    <a:pt x="96" y="16"/>
                    <a:pt x="60" y="45"/>
                  </a:cubicBezTo>
                  <a:cubicBezTo>
                    <a:pt x="1" y="105"/>
                    <a:pt x="1" y="200"/>
                    <a:pt x="60" y="283"/>
                  </a:cubicBezTo>
                  <a:cubicBezTo>
                    <a:pt x="203" y="414"/>
                    <a:pt x="441" y="498"/>
                    <a:pt x="703" y="498"/>
                  </a:cubicBezTo>
                  <a:cubicBezTo>
                    <a:pt x="953" y="498"/>
                    <a:pt x="1203" y="414"/>
                    <a:pt x="1334" y="283"/>
                  </a:cubicBezTo>
                  <a:cubicBezTo>
                    <a:pt x="1429" y="200"/>
                    <a:pt x="1429" y="105"/>
                    <a:pt x="1370" y="45"/>
                  </a:cubicBezTo>
                  <a:cubicBezTo>
                    <a:pt x="1340" y="16"/>
                    <a:pt x="1298" y="1"/>
                    <a:pt x="1255" y="1"/>
                  </a:cubicBezTo>
                  <a:cubicBezTo>
                    <a:pt x="1212" y="1"/>
                    <a:pt x="1167" y="16"/>
                    <a:pt x="1132" y="45"/>
                  </a:cubicBezTo>
                  <a:cubicBezTo>
                    <a:pt x="1072" y="105"/>
                    <a:pt x="917" y="176"/>
                    <a:pt x="715" y="176"/>
                  </a:cubicBezTo>
                  <a:cubicBezTo>
                    <a:pt x="501" y="176"/>
                    <a:pt x="358" y="105"/>
                    <a:pt x="298" y="45"/>
                  </a:cubicBezTo>
                  <a:cubicBezTo>
                    <a:pt x="268" y="16"/>
                    <a:pt x="227" y="1"/>
                    <a:pt x="18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328;p61">
              <a:extLst>
                <a:ext uri="{FF2B5EF4-FFF2-40B4-BE49-F238E27FC236}">
                  <a16:creationId xmlns:a16="http://schemas.microsoft.com/office/drawing/2014/main" id="{BA9B03E1-EC45-F750-8634-8EC84643D938}"/>
                </a:ext>
              </a:extLst>
            </p:cNvPr>
            <p:cNvSpPr/>
            <p:nvPr/>
          </p:nvSpPr>
          <p:spPr>
            <a:xfrm>
              <a:off x="7691197" y="2075427"/>
              <a:ext cx="21923" cy="10581"/>
            </a:xfrm>
            <a:custGeom>
              <a:avLst/>
              <a:gdLst/>
              <a:ahLst/>
              <a:cxnLst/>
              <a:rect l="l" t="t" r="r" b="b"/>
              <a:pathLst>
                <a:path w="692" h="334" extrusionOk="0">
                  <a:moveTo>
                    <a:pt x="168" y="0"/>
                  </a:moveTo>
                  <a:cubicBezTo>
                    <a:pt x="84" y="0"/>
                    <a:pt x="1" y="72"/>
                    <a:pt x="1" y="167"/>
                  </a:cubicBezTo>
                  <a:cubicBezTo>
                    <a:pt x="1" y="251"/>
                    <a:pt x="84" y="334"/>
                    <a:pt x="168" y="334"/>
                  </a:cubicBezTo>
                  <a:lnTo>
                    <a:pt x="525" y="334"/>
                  </a:lnTo>
                  <a:cubicBezTo>
                    <a:pt x="620" y="334"/>
                    <a:pt x="692" y="251"/>
                    <a:pt x="692" y="167"/>
                  </a:cubicBezTo>
                  <a:cubicBezTo>
                    <a:pt x="692" y="72"/>
                    <a:pt x="620" y="0"/>
                    <a:pt x="52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329;p61">
              <a:extLst>
                <a:ext uri="{FF2B5EF4-FFF2-40B4-BE49-F238E27FC236}">
                  <a16:creationId xmlns:a16="http://schemas.microsoft.com/office/drawing/2014/main" id="{D9F91106-3AA5-5F8F-8C0A-BD5EF1E84BEF}"/>
                </a:ext>
              </a:extLst>
            </p:cNvPr>
            <p:cNvSpPr/>
            <p:nvPr/>
          </p:nvSpPr>
          <p:spPr>
            <a:xfrm>
              <a:off x="7758739" y="2075427"/>
              <a:ext cx="21891" cy="10581"/>
            </a:xfrm>
            <a:custGeom>
              <a:avLst/>
              <a:gdLst/>
              <a:ahLst/>
              <a:cxnLst/>
              <a:rect l="l" t="t" r="r" b="b"/>
              <a:pathLst>
                <a:path w="691" h="334" extrusionOk="0">
                  <a:moveTo>
                    <a:pt x="167" y="0"/>
                  </a:moveTo>
                  <a:cubicBezTo>
                    <a:pt x="72" y="0"/>
                    <a:pt x="0" y="72"/>
                    <a:pt x="0" y="167"/>
                  </a:cubicBezTo>
                  <a:cubicBezTo>
                    <a:pt x="0" y="251"/>
                    <a:pt x="72" y="334"/>
                    <a:pt x="167" y="334"/>
                  </a:cubicBezTo>
                  <a:lnTo>
                    <a:pt x="524" y="334"/>
                  </a:lnTo>
                  <a:cubicBezTo>
                    <a:pt x="607" y="334"/>
                    <a:pt x="691" y="251"/>
                    <a:pt x="691" y="167"/>
                  </a:cubicBezTo>
                  <a:cubicBezTo>
                    <a:pt x="691" y="72"/>
                    <a:pt x="607" y="0"/>
                    <a:pt x="52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330;p61">
              <a:extLst>
                <a:ext uri="{FF2B5EF4-FFF2-40B4-BE49-F238E27FC236}">
                  <a16:creationId xmlns:a16="http://schemas.microsoft.com/office/drawing/2014/main" id="{8A9B15F6-41C6-EB45-01B5-FBB4BDB825BB}"/>
                </a:ext>
              </a:extLst>
            </p:cNvPr>
            <p:cNvSpPr/>
            <p:nvPr/>
          </p:nvSpPr>
          <p:spPr>
            <a:xfrm>
              <a:off x="7596157" y="1968159"/>
              <a:ext cx="279544" cy="358142"/>
            </a:xfrm>
            <a:custGeom>
              <a:avLst/>
              <a:gdLst/>
              <a:ahLst/>
              <a:cxnLst/>
              <a:rect l="l" t="t" r="r" b="b"/>
              <a:pathLst>
                <a:path w="8824" h="11305" extrusionOk="0">
                  <a:moveTo>
                    <a:pt x="2287" y="481"/>
                  </a:moveTo>
                  <a:cubicBezTo>
                    <a:pt x="2394" y="565"/>
                    <a:pt x="2525" y="600"/>
                    <a:pt x="2691" y="636"/>
                  </a:cubicBezTo>
                  <a:cubicBezTo>
                    <a:pt x="3001" y="708"/>
                    <a:pt x="3322" y="708"/>
                    <a:pt x="3537" y="708"/>
                  </a:cubicBezTo>
                  <a:lnTo>
                    <a:pt x="5299" y="708"/>
                  </a:lnTo>
                  <a:cubicBezTo>
                    <a:pt x="5739" y="708"/>
                    <a:pt x="6192" y="898"/>
                    <a:pt x="6490" y="1243"/>
                  </a:cubicBezTo>
                  <a:cubicBezTo>
                    <a:pt x="6787" y="1589"/>
                    <a:pt x="6930" y="2029"/>
                    <a:pt x="6894" y="2482"/>
                  </a:cubicBezTo>
                  <a:lnTo>
                    <a:pt x="6751" y="3744"/>
                  </a:lnTo>
                  <a:lnTo>
                    <a:pt x="6728" y="3744"/>
                  </a:lnTo>
                  <a:cubicBezTo>
                    <a:pt x="6620" y="3744"/>
                    <a:pt x="6537" y="3660"/>
                    <a:pt x="6537" y="3553"/>
                  </a:cubicBezTo>
                  <a:lnTo>
                    <a:pt x="6537" y="2839"/>
                  </a:lnTo>
                  <a:cubicBezTo>
                    <a:pt x="6537" y="2446"/>
                    <a:pt x="6216" y="2136"/>
                    <a:pt x="5835" y="2136"/>
                  </a:cubicBezTo>
                  <a:lnTo>
                    <a:pt x="4954" y="2136"/>
                  </a:lnTo>
                  <a:cubicBezTo>
                    <a:pt x="3846" y="2136"/>
                    <a:pt x="3072" y="1886"/>
                    <a:pt x="2644" y="1374"/>
                  </a:cubicBezTo>
                  <a:cubicBezTo>
                    <a:pt x="2382" y="1065"/>
                    <a:pt x="2299" y="719"/>
                    <a:pt x="2287" y="481"/>
                  </a:cubicBezTo>
                  <a:close/>
                  <a:moveTo>
                    <a:pt x="2215" y="1398"/>
                  </a:moveTo>
                  <a:cubicBezTo>
                    <a:pt x="2263" y="1458"/>
                    <a:pt x="2310" y="1529"/>
                    <a:pt x="2370" y="1589"/>
                  </a:cubicBezTo>
                  <a:cubicBezTo>
                    <a:pt x="2858" y="2172"/>
                    <a:pt x="3715" y="2470"/>
                    <a:pt x="4942" y="2470"/>
                  </a:cubicBezTo>
                  <a:lnTo>
                    <a:pt x="5823" y="2470"/>
                  </a:lnTo>
                  <a:cubicBezTo>
                    <a:pt x="6025" y="2470"/>
                    <a:pt x="6192" y="2624"/>
                    <a:pt x="6192" y="2839"/>
                  </a:cubicBezTo>
                  <a:lnTo>
                    <a:pt x="6192" y="3553"/>
                  </a:lnTo>
                  <a:cubicBezTo>
                    <a:pt x="6192" y="3839"/>
                    <a:pt x="6430" y="4077"/>
                    <a:pt x="6716" y="4077"/>
                  </a:cubicBezTo>
                  <a:lnTo>
                    <a:pt x="6978" y="4077"/>
                  </a:lnTo>
                  <a:cubicBezTo>
                    <a:pt x="7049" y="4077"/>
                    <a:pt x="7132" y="4101"/>
                    <a:pt x="7192" y="4160"/>
                  </a:cubicBezTo>
                  <a:cubicBezTo>
                    <a:pt x="7252" y="4220"/>
                    <a:pt x="7263" y="4291"/>
                    <a:pt x="7263" y="4375"/>
                  </a:cubicBezTo>
                  <a:cubicBezTo>
                    <a:pt x="7252" y="4506"/>
                    <a:pt x="7109" y="4625"/>
                    <a:pt x="6966" y="4625"/>
                  </a:cubicBezTo>
                  <a:lnTo>
                    <a:pt x="6894" y="4625"/>
                  </a:lnTo>
                  <a:lnTo>
                    <a:pt x="6894" y="4613"/>
                  </a:lnTo>
                  <a:cubicBezTo>
                    <a:pt x="6894" y="4518"/>
                    <a:pt x="6811" y="4446"/>
                    <a:pt x="6728" y="4446"/>
                  </a:cubicBezTo>
                  <a:cubicBezTo>
                    <a:pt x="6632" y="4446"/>
                    <a:pt x="6561" y="4518"/>
                    <a:pt x="6561" y="4613"/>
                  </a:cubicBezTo>
                  <a:cubicBezTo>
                    <a:pt x="6561" y="4815"/>
                    <a:pt x="6537" y="5006"/>
                    <a:pt x="6478" y="5208"/>
                  </a:cubicBezTo>
                  <a:cubicBezTo>
                    <a:pt x="6359" y="4982"/>
                    <a:pt x="6120" y="4803"/>
                    <a:pt x="5835" y="4803"/>
                  </a:cubicBezTo>
                  <a:lnTo>
                    <a:pt x="3001" y="4803"/>
                  </a:lnTo>
                  <a:cubicBezTo>
                    <a:pt x="2727" y="4803"/>
                    <a:pt x="2489" y="4970"/>
                    <a:pt x="2370" y="5208"/>
                  </a:cubicBezTo>
                  <a:cubicBezTo>
                    <a:pt x="2310" y="5006"/>
                    <a:pt x="2275" y="4815"/>
                    <a:pt x="2275" y="4613"/>
                  </a:cubicBezTo>
                  <a:cubicBezTo>
                    <a:pt x="2275" y="4518"/>
                    <a:pt x="2203" y="4446"/>
                    <a:pt x="2108" y="4446"/>
                  </a:cubicBezTo>
                  <a:cubicBezTo>
                    <a:pt x="2025" y="4446"/>
                    <a:pt x="1953" y="4518"/>
                    <a:pt x="1953" y="4613"/>
                  </a:cubicBezTo>
                  <a:lnTo>
                    <a:pt x="1953" y="4625"/>
                  </a:lnTo>
                  <a:lnTo>
                    <a:pt x="1846" y="4625"/>
                  </a:lnTo>
                  <a:cubicBezTo>
                    <a:pt x="1775" y="4625"/>
                    <a:pt x="1691" y="4589"/>
                    <a:pt x="1632" y="4529"/>
                  </a:cubicBezTo>
                  <a:cubicBezTo>
                    <a:pt x="1572" y="4470"/>
                    <a:pt x="1560" y="4399"/>
                    <a:pt x="1560" y="4327"/>
                  </a:cubicBezTo>
                  <a:cubicBezTo>
                    <a:pt x="1572" y="4196"/>
                    <a:pt x="1715" y="4077"/>
                    <a:pt x="1858" y="4077"/>
                  </a:cubicBezTo>
                  <a:lnTo>
                    <a:pt x="2096" y="4077"/>
                  </a:lnTo>
                  <a:cubicBezTo>
                    <a:pt x="2382" y="4077"/>
                    <a:pt x="2620" y="3839"/>
                    <a:pt x="2620" y="3553"/>
                  </a:cubicBezTo>
                  <a:lnTo>
                    <a:pt x="2620" y="2672"/>
                  </a:lnTo>
                  <a:cubicBezTo>
                    <a:pt x="2620" y="2601"/>
                    <a:pt x="2644" y="2541"/>
                    <a:pt x="2703" y="2505"/>
                  </a:cubicBezTo>
                  <a:cubicBezTo>
                    <a:pt x="2787" y="2470"/>
                    <a:pt x="2810" y="2363"/>
                    <a:pt x="2763" y="2291"/>
                  </a:cubicBezTo>
                  <a:cubicBezTo>
                    <a:pt x="2739" y="2236"/>
                    <a:pt x="2685" y="2207"/>
                    <a:pt x="2630" y="2207"/>
                  </a:cubicBezTo>
                  <a:cubicBezTo>
                    <a:pt x="2602" y="2207"/>
                    <a:pt x="2573" y="2215"/>
                    <a:pt x="2549" y="2232"/>
                  </a:cubicBezTo>
                  <a:cubicBezTo>
                    <a:pt x="2382" y="2315"/>
                    <a:pt x="2287" y="2494"/>
                    <a:pt x="2287" y="2672"/>
                  </a:cubicBezTo>
                  <a:lnTo>
                    <a:pt x="2287" y="3553"/>
                  </a:lnTo>
                  <a:cubicBezTo>
                    <a:pt x="2287" y="3660"/>
                    <a:pt x="2203" y="3744"/>
                    <a:pt x="2096" y="3744"/>
                  </a:cubicBezTo>
                  <a:lnTo>
                    <a:pt x="2072" y="3744"/>
                  </a:lnTo>
                  <a:lnTo>
                    <a:pt x="1929" y="2482"/>
                  </a:lnTo>
                  <a:cubicBezTo>
                    <a:pt x="1894" y="2089"/>
                    <a:pt x="1989" y="1708"/>
                    <a:pt x="2215" y="1398"/>
                  </a:cubicBezTo>
                  <a:close/>
                  <a:moveTo>
                    <a:pt x="5823" y="5125"/>
                  </a:moveTo>
                  <a:cubicBezTo>
                    <a:pt x="6025" y="5125"/>
                    <a:pt x="6192" y="5291"/>
                    <a:pt x="6192" y="5506"/>
                  </a:cubicBezTo>
                  <a:lnTo>
                    <a:pt x="6192" y="5684"/>
                  </a:lnTo>
                  <a:cubicBezTo>
                    <a:pt x="6192" y="6661"/>
                    <a:pt x="5382" y="7470"/>
                    <a:pt x="4406" y="7470"/>
                  </a:cubicBezTo>
                  <a:cubicBezTo>
                    <a:pt x="3418" y="7470"/>
                    <a:pt x="2620" y="6661"/>
                    <a:pt x="2620" y="5684"/>
                  </a:cubicBezTo>
                  <a:lnTo>
                    <a:pt x="2620" y="5506"/>
                  </a:lnTo>
                  <a:cubicBezTo>
                    <a:pt x="2620" y="5291"/>
                    <a:pt x="2775" y="5125"/>
                    <a:pt x="2989" y="5125"/>
                  </a:cubicBezTo>
                  <a:close/>
                  <a:moveTo>
                    <a:pt x="2114" y="1"/>
                  </a:moveTo>
                  <a:cubicBezTo>
                    <a:pt x="2100" y="1"/>
                    <a:pt x="2086" y="2"/>
                    <a:pt x="2072" y="5"/>
                  </a:cubicBezTo>
                  <a:cubicBezTo>
                    <a:pt x="2013" y="29"/>
                    <a:pt x="1965" y="77"/>
                    <a:pt x="1953" y="136"/>
                  </a:cubicBezTo>
                  <a:cubicBezTo>
                    <a:pt x="1953" y="172"/>
                    <a:pt x="1870" y="577"/>
                    <a:pt x="2072" y="1053"/>
                  </a:cubicBezTo>
                  <a:cubicBezTo>
                    <a:pt x="1727" y="1446"/>
                    <a:pt x="1572" y="1970"/>
                    <a:pt x="1620" y="2494"/>
                  </a:cubicBezTo>
                  <a:lnTo>
                    <a:pt x="1751" y="3732"/>
                  </a:lnTo>
                  <a:cubicBezTo>
                    <a:pt x="1489" y="3779"/>
                    <a:pt x="1275" y="3994"/>
                    <a:pt x="1251" y="4268"/>
                  </a:cubicBezTo>
                  <a:cubicBezTo>
                    <a:pt x="1239" y="4446"/>
                    <a:pt x="1298" y="4613"/>
                    <a:pt x="1394" y="4744"/>
                  </a:cubicBezTo>
                  <a:cubicBezTo>
                    <a:pt x="1513" y="4875"/>
                    <a:pt x="1679" y="4934"/>
                    <a:pt x="1846" y="4934"/>
                  </a:cubicBezTo>
                  <a:lnTo>
                    <a:pt x="1965" y="4934"/>
                  </a:lnTo>
                  <a:cubicBezTo>
                    <a:pt x="2013" y="5280"/>
                    <a:pt x="2132" y="5589"/>
                    <a:pt x="2310" y="5887"/>
                  </a:cubicBezTo>
                  <a:cubicBezTo>
                    <a:pt x="2334" y="6196"/>
                    <a:pt x="2441" y="6482"/>
                    <a:pt x="2584" y="6732"/>
                  </a:cubicBezTo>
                  <a:cubicBezTo>
                    <a:pt x="2429" y="6768"/>
                    <a:pt x="2287" y="6899"/>
                    <a:pt x="2287" y="7077"/>
                  </a:cubicBezTo>
                  <a:lnTo>
                    <a:pt x="2287" y="7923"/>
                  </a:lnTo>
                  <a:cubicBezTo>
                    <a:pt x="2287" y="8089"/>
                    <a:pt x="2191" y="8220"/>
                    <a:pt x="2037" y="8268"/>
                  </a:cubicBezTo>
                  <a:lnTo>
                    <a:pt x="858" y="8625"/>
                  </a:lnTo>
                  <a:cubicBezTo>
                    <a:pt x="346" y="8792"/>
                    <a:pt x="1" y="9244"/>
                    <a:pt x="1" y="9804"/>
                  </a:cubicBezTo>
                  <a:lnTo>
                    <a:pt x="1" y="11137"/>
                  </a:lnTo>
                  <a:cubicBezTo>
                    <a:pt x="1" y="11233"/>
                    <a:pt x="72" y="11304"/>
                    <a:pt x="167" y="11304"/>
                  </a:cubicBezTo>
                  <a:cubicBezTo>
                    <a:pt x="251" y="11304"/>
                    <a:pt x="322" y="11233"/>
                    <a:pt x="322" y="11137"/>
                  </a:cubicBezTo>
                  <a:lnTo>
                    <a:pt x="322" y="9804"/>
                  </a:lnTo>
                  <a:cubicBezTo>
                    <a:pt x="322" y="9399"/>
                    <a:pt x="584" y="9054"/>
                    <a:pt x="953" y="8935"/>
                  </a:cubicBezTo>
                  <a:lnTo>
                    <a:pt x="2025" y="8613"/>
                  </a:lnTo>
                  <a:cubicBezTo>
                    <a:pt x="2322" y="9352"/>
                    <a:pt x="3287" y="9887"/>
                    <a:pt x="4394" y="9887"/>
                  </a:cubicBezTo>
                  <a:cubicBezTo>
                    <a:pt x="4775" y="9887"/>
                    <a:pt x="5168" y="9828"/>
                    <a:pt x="5501" y="9697"/>
                  </a:cubicBezTo>
                  <a:cubicBezTo>
                    <a:pt x="5597" y="9661"/>
                    <a:pt x="5644" y="9578"/>
                    <a:pt x="5608" y="9482"/>
                  </a:cubicBezTo>
                  <a:cubicBezTo>
                    <a:pt x="5590" y="9418"/>
                    <a:pt x="5529" y="9375"/>
                    <a:pt x="5464" y="9375"/>
                  </a:cubicBezTo>
                  <a:cubicBezTo>
                    <a:pt x="5445" y="9375"/>
                    <a:pt x="5425" y="9379"/>
                    <a:pt x="5406" y="9387"/>
                  </a:cubicBezTo>
                  <a:cubicBezTo>
                    <a:pt x="5085" y="9482"/>
                    <a:pt x="4751" y="9554"/>
                    <a:pt x="4394" y="9554"/>
                  </a:cubicBezTo>
                  <a:cubicBezTo>
                    <a:pt x="3870" y="9554"/>
                    <a:pt x="3382" y="9435"/>
                    <a:pt x="2989" y="9197"/>
                  </a:cubicBezTo>
                  <a:cubicBezTo>
                    <a:pt x="2668" y="8994"/>
                    <a:pt x="2429" y="8744"/>
                    <a:pt x="2322" y="8459"/>
                  </a:cubicBezTo>
                  <a:cubicBezTo>
                    <a:pt x="2501" y="8328"/>
                    <a:pt x="2608" y="8125"/>
                    <a:pt x="2608" y="7899"/>
                  </a:cubicBezTo>
                  <a:lnTo>
                    <a:pt x="2608" y="7054"/>
                  </a:lnTo>
                  <a:cubicBezTo>
                    <a:pt x="2608" y="7054"/>
                    <a:pt x="2608" y="7030"/>
                    <a:pt x="2620" y="7030"/>
                  </a:cubicBezTo>
                  <a:lnTo>
                    <a:pt x="2810" y="7030"/>
                  </a:lnTo>
                  <a:cubicBezTo>
                    <a:pt x="3191" y="7470"/>
                    <a:pt x="3763" y="7744"/>
                    <a:pt x="4382" y="7744"/>
                  </a:cubicBezTo>
                  <a:cubicBezTo>
                    <a:pt x="5013" y="7744"/>
                    <a:pt x="5573" y="7482"/>
                    <a:pt x="5966" y="7030"/>
                  </a:cubicBezTo>
                  <a:lnTo>
                    <a:pt x="6156" y="7030"/>
                  </a:lnTo>
                  <a:cubicBezTo>
                    <a:pt x="6156" y="7030"/>
                    <a:pt x="6168" y="7030"/>
                    <a:pt x="6168" y="7054"/>
                  </a:cubicBezTo>
                  <a:lnTo>
                    <a:pt x="6168" y="7899"/>
                  </a:lnTo>
                  <a:cubicBezTo>
                    <a:pt x="6168" y="8125"/>
                    <a:pt x="6275" y="8328"/>
                    <a:pt x="6454" y="8459"/>
                  </a:cubicBezTo>
                  <a:cubicBezTo>
                    <a:pt x="6382" y="8673"/>
                    <a:pt x="6216" y="8875"/>
                    <a:pt x="5989" y="9042"/>
                  </a:cubicBezTo>
                  <a:cubicBezTo>
                    <a:pt x="5918" y="9101"/>
                    <a:pt x="5906" y="9209"/>
                    <a:pt x="5966" y="9280"/>
                  </a:cubicBezTo>
                  <a:cubicBezTo>
                    <a:pt x="5989" y="9328"/>
                    <a:pt x="6037" y="9340"/>
                    <a:pt x="6097" y="9340"/>
                  </a:cubicBezTo>
                  <a:cubicBezTo>
                    <a:pt x="6132" y="9340"/>
                    <a:pt x="6168" y="9328"/>
                    <a:pt x="6204" y="9316"/>
                  </a:cubicBezTo>
                  <a:cubicBezTo>
                    <a:pt x="6466" y="9101"/>
                    <a:pt x="6644" y="8863"/>
                    <a:pt x="6751" y="8601"/>
                  </a:cubicBezTo>
                  <a:lnTo>
                    <a:pt x="7823" y="8923"/>
                  </a:lnTo>
                  <a:cubicBezTo>
                    <a:pt x="8204" y="9042"/>
                    <a:pt x="8454" y="9387"/>
                    <a:pt x="8454" y="9792"/>
                  </a:cubicBezTo>
                  <a:lnTo>
                    <a:pt x="8454" y="11126"/>
                  </a:lnTo>
                  <a:cubicBezTo>
                    <a:pt x="8454" y="11221"/>
                    <a:pt x="8525" y="11292"/>
                    <a:pt x="8621" y="11292"/>
                  </a:cubicBezTo>
                  <a:cubicBezTo>
                    <a:pt x="8704" y="11292"/>
                    <a:pt x="8776" y="11221"/>
                    <a:pt x="8776" y="11126"/>
                  </a:cubicBezTo>
                  <a:lnTo>
                    <a:pt x="8776" y="9792"/>
                  </a:lnTo>
                  <a:cubicBezTo>
                    <a:pt x="8823" y="9280"/>
                    <a:pt x="8478" y="8804"/>
                    <a:pt x="7966" y="8661"/>
                  </a:cubicBezTo>
                  <a:lnTo>
                    <a:pt x="6787" y="8304"/>
                  </a:lnTo>
                  <a:cubicBezTo>
                    <a:pt x="6632" y="8256"/>
                    <a:pt x="6537" y="8101"/>
                    <a:pt x="6537" y="7958"/>
                  </a:cubicBezTo>
                  <a:lnTo>
                    <a:pt x="6537" y="7113"/>
                  </a:lnTo>
                  <a:cubicBezTo>
                    <a:pt x="6537" y="6935"/>
                    <a:pt x="6394" y="6792"/>
                    <a:pt x="6239" y="6768"/>
                  </a:cubicBezTo>
                  <a:cubicBezTo>
                    <a:pt x="6382" y="6518"/>
                    <a:pt x="6490" y="6232"/>
                    <a:pt x="6513" y="5923"/>
                  </a:cubicBezTo>
                  <a:cubicBezTo>
                    <a:pt x="6692" y="5625"/>
                    <a:pt x="6811" y="5303"/>
                    <a:pt x="6859" y="4970"/>
                  </a:cubicBezTo>
                  <a:lnTo>
                    <a:pt x="6966" y="4970"/>
                  </a:lnTo>
                  <a:cubicBezTo>
                    <a:pt x="7287" y="4970"/>
                    <a:pt x="7561" y="4732"/>
                    <a:pt x="7585" y="4410"/>
                  </a:cubicBezTo>
                  <a:cubicBezTo>
                    <a:pt x="7609" y="4232"/>
                    <a:pt x="7549" y="4077"/>
                    <a:pt x="7442" y="3934"/>
                  </a:cubicBezTo>
                  <a:cubicBezTo>
                    <a:pt x="7347" y="3839"/>
                    <a:pt x="7216" y="3779"/>
                    <a:pt x="7085" y="3744"/>
                  </a:cubicBezTo>
                  <a:lnTo>
                    <a:pt x="7216" y="2505"/>
                  </a:lnTo>
                  <a:cubicBezTo>
                    <a:pt x="7275" y="1958"/>
                    <a:pt x="7097" y="1422"/>
                    <a:pt x="6728" y="1005"/>
                  </a:cubicBezTo>
                  <a:cubicBezTo>
                    <a:pt x="6359" y="600"/>
                    <a:pt x="5835" y="362"/>
                    <a:pt x="5287" y="362"/>
                  </a:cubicBezTo>
                  <a:lnTo>
                    <a:pt x="3525" y="362"/>
                  </a:lnTo>
                  <a:cubicBezTo>
                    <a:pt x="2918" y="362"/>
                    <a:pt x="2406" y="243"/>
                    <a:pt x="2227" y="53"/>
                  </a:cubicBezTo>
                  <a:cubicBezTo>
                    <a:pt x="2200" y="16"/>
                    <a:pt x="2159" y="1"/>
                    <a:pt x="211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subTitle" idx="6"/>
          </p:nvPr>
        </p:nvSpPr>
        <p:spPr>
          <a:xfrm>
            <a:off x="720000" y="1285312"/>
            <a:ext cx="3146700" cy="105421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3D005C"/>
                </a:solidFill>
              </a:rPr>
              <a:t>Verbindung von internen und externen Faktoren</a:t>
            </a:r>
            <a:endParaRPr dirty="0">
              <a:solidFill>
                <a:srgbClr val="3D005C"/>
              </a:solidFill>
            </a:endParaRPr>
          </a:p>
        </p:txBody>
      </p:sp>
      <p:sp>
        <p:nvSpPr>
          <p:cNvPr id="265" name="Google Shape;265;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3D005C"/>
                </a:solidFill>
              </a:rPr>
              <a:t>Marketingtools – Allgemein</a:t>
            </a:r>
            <a:endParaRPr dirty="0">
              <a:solidFill>
                <a:srgbClr val="3D005C"/>
              </a:solidFill>
            </a:endParaRPr>
          </a:p>
        </p:txBody>
      </p:sp>
      <p:sp>
        <p:nvSpPr>
          <p:cNvPr id="266" name="Google Shape;266;p33"/>
          <p:cNvSpPr txBox="1">
            <a:spLocks noGrp="1"/>
          </p:cNvSpPr>
          <p:nvPr>
            <p:ph type="subTitle" idx="1"/>
          </p:nvPr>
        </p:nvSpPr>
        <p:spPr>
          <a:xfrm>
            <a:off x="6644701" y="3923481"/>
            <a:ext cx="2277423" cy="635072"/>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ClrTx/>
              <a:buFont typeface="Arial" panose="020B0604020202020204" pitchFamily="34" charset="0"/>
              <a:buChar char="•"/>
            </a:pPr>
            <a:r>
              <a:rPr lang="en" sz="1400" dirty="0">
                <a:solidFill>
                  <a:srgbClr val="000000"/>
                </a:solidFill>
              </a:rPr>
              <a:t>Produktlebenszyklus</a:t>
            </a:r>
          </a:p>
          <a:p>
            <a:pPr marL="171450" lvl="0" indent="-171450" algn="l" rtl="0">
              <a:spcBef>
                <a:spcPts val="0"/>
              </a:spcBef>
              <a:spcAft>
                <a:spcPts val="0"/>
              </a:spcAft>
              <a:buClrTx/>
              <a:buFont typeface="Arial" panose="020B0604020202020204" pitchFamily="34" charset="0"/>
              <a:buChar char="•"/>
            </a:pPr>
            <a:r>
              <a:rPr lang="en" sz="1400" dirty="0">
                <a:solidFill>
                  <a:srgbClr val="000000"/>
                </a:solidFill>
              </a:rPr>
              <a:t>BCG-Matrix</a:t>
            </a:r>
            <a:endParaRPr sz="1400" dirty="0">
              <a:solidFill>
                <a:srgbClr val="000000"/>
              </a:solidFill>
            </a:endParaRPr>
          </a:p>
        </p:txBody>
      </p:sp>
      <p:sp>
        <p:nvSpPr>
          <p:cNvPr id="267" name="Google Shape;267;p33"/>
          <p:cNvSpPr txBox="1">
            <a:spLocks noGrp="1"/>
          </p:cNvSpPr>
          <p:nvPr>
            <p:ph type="subTitle" idx="2"/>
          </p:nvPr>
        </p:nvSpPr>
        <p:spPr>
          <a:xfrm>
            <a:off x="720000" y="3923481"/>
            <a:ext cx="3146700" cy="4605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ClrTx/>
              <a:buFont typeface="Arial" panose="020B0604020202020204" pitchFamily="34" charset="0"/>
              <a:buChar char="•"/>
            </a:pPr>
            <a:r>
              <a:rPr lang="en" sz="1400" dirty="0">
                <a:solidFill>
                  <a:srgbClr val="000000"/>
                </a:solidFill>
              </a:rPr>
              <a:t>AIDA-Modell</a:t>
            </a:r>
            <a:endParaRPr sz="1400" dirty="0">
              <a:solidFill>
                <a:srgbClr val="000000"/>
              </a:solidFill>
            </a:endParaRPr>
          </a:p>
        </p:txBody>
      </p:sp>
      <p:sp>
        <p:nvSpPr>
          <p:cNvPr id="268" name="Google Shape;268;p33"/>
          <p:cNvSpPr txBox="1">
            <a:spLocks noGrp="1"/>
          </p:cNvSpPr>
          <p:nvPr>
            <p:ph type="subTitle" idx="3"/>
          </p:nvPr>
        </p:nvSpPr>
        <p:spPr>
          <a:xfrm>
            <a:off x="720000" y="2339525"/>
            <a:ext cx="3146700" cy="60653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ClrTx/>
              <a:buFont typeface="Arial" panose="020B0604020202020204" pitchFamily="34" charset="0"/>
              <a:buChar char="•"/>
            </a:pPr>
            <a:r>
              <a:rPr lang="en" sz="1400" dirty="0">
                <a:solidFill>
                  <a:srgbClr val="000000"/>
                </a:solidFill>
              </a:rPr>
              <a:t>SWOT-Analyse</a:t>
            </a:r>
          </a:p>
          <a:p>
            <a:pPr marL="171450" lvl="0" indent="-171450" algn="l" rtl="0">
              <a:spcBef>
                <a:spcPts val="0"/>
              </a:spcBef>
              <a:spcAft>
                <a:spcPts val="0"/>
              </a:spcAft>
              <a:buClrTx/>
              <a:buFont typeface="Arial" panose="020B0604020202020204" pitchFamily="34" charset="0"/>
              <a:buChar char="•"/>
            </a:pPr>
            <a:r>
              <a:rPr lang="en" sz="1400" dirty="0">
                <a:solidFill>
                  <a:srgbClr val="000000"/>
                </a:solidFill>
              </a:rPr>
              <a:t>5-Forces-Modell</a:t>
            </a:r>
            <a:endParaRPr sz="1400" dirty="0">
              <a:solidFill>
                <a:srgbClr val="000000"/>
              </a:solidFill>
            </a:endParaRPr>
          </a:p>
        </p:txBody>
      </p:sp>
      <p:sp>
        <p:nvSpPr>
          <p:cNvPr id="269" name="Google Shape;269;p33"/>
          <p:cNvSpPr txBox="1">
            <a:spLocks noGrp="1"/>
          </p:cNvSpPr>
          <p:nvPr>
            <p:ph type="subTitle" idx="4"/>
          </p:nvPr>
        </p:nvSpPr>
        <p:spPr>
          <a:xfrm>
            <a:off x="3866563" y="3923481"/>
            <a:ext cx="3146700" cy="4605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ClrTx/>
              <a:buFont typeface="Arial" panose="020B0604020202020204" pitchFamily="34" charset="0"/>
              <a:buChar char="•"/>
            </a:pPr>
            <a:r>
              <a:rPr lang="en" sz="1400" dirty="0">
                <a:solidFill>
                  <a:srgbClr val="000000"/>
                </a:solidFill>
              </a:rPr>
              <a:t>Marekting-Mix: 4P’s</a:t>
            </a:r>
            <a:endParaRPr sz="1400" dirty="0">
              <a:solidFill>
                <a:srgbClr val="000000"/>
              </a:solidFill>
            </a:endParaRPr>
          </a:p>
        </p:txBody>
      </p:sp>
      <p:sp>
        <p:nvSpPr>
          <p:cNvPr id="270" name="Google Shape;270;p33"/>
          <p:cNvSpPr txBox="1">
            <a:spLocks noGrp="1"/>
          </p:cNvSpPr>
          <p:nvPr>
            <p:ph type="subTitle" idx="5"/>
          </p:nvPr>
        </p:nvSpPr>
        <p:spPr>
          <a:xfrm>
            <a:off x="6644701" y="3462981"/>
            <a:ext cx="3146700" cy="46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3D005C"/>
                </a:solidFill>
              </a:rPr>
              <a:t>Produktfokus</a:t>
            </a:r>
            <a:endParaRPr dirty="0">
              <a:solidFill>
                <a:srgbClr val="3D005C"/>
              </a:solidFill>
            </a:endParaRPr>
          </a:p>
        </p:txBody>
      </p:sp>
      <p:sp>
        <p:nvSpPr>
          <p:cNvPr id="271" name="Google Shape;271;p33"/>
          <p:cNvSpPr txBox="1">
            <a:spLocks noGrp="1"/>
          </p:cNvSpPr>
          <p:nvPr>
            <p:ph type="subTitle" idx="7"/>
          </p:nvPr>
        </p:nvSpPr>
        <p:spPr>
          <a:xfrm>
            <a:off x="720000" y="3462981"/>
            <a:ext cx="3146700" cy="46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3D005C"/>
                </a:solidFill>
              </a:rPr>
              <a:t>Kundebezogen</a:t>
            </a:r>
            <a:endParaRPr dirty="0">
              <a:solidFill>
                <a:srgbClr val="3D005C"/>
              </a:solidFill>
            </a:endParaRPr>
          </a:p>
        </p:txBody>
      </p:sp>
      <p:sp>
        <p:nvSpPr>
          <p:cNvPr id="272" name="Google Shape;272;p33"/>
          <p:cNvSpPr txBox="1">
            <a:spLocks noGrp="1"/>
          </p:cNvSpPr>
          <p:nvPr>
            <p:ph type="subTitle" idx="8"/>
          </p:nvPr>
        </p:nvSpPr>
        <p:spPr>
          <a:xfrm>
            <a:off x="3819201" y="3462981"/>
            <a:ext cx="3146700" cy="46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3D005C"/>
                </a:solidFill>
              </a:rPr>
              <a:t>Überblick</a:t>
            </a:r>
            <a:endParaRPr dirty="0">
              <a:solidFill>
                <a:srgbClr val="3D005C"/>
              </a:solidFill>
            </a:endParaRPr>
          </a:p>
        </p:txBody>
      </p:sp>
      <p:cxnSp>
        <p:nvCxnSpPr>
          <p:cNvPr id="273" name="Google Shape;273;p33"/>
          <p:cNvCxnSpPr/>
          <p:nvPr/>
        </p:nvCxnSpPr>
        <p:spPr>
          <a:xfrm>
            <a:off x="929975" y="0"/>
            <a:ext cx="0" cy="534600"/>
          </a:xfrm>
          <a:prstGeom prst="straightConnector1">
            <a:avLst/>
          </a:prstGeom>
          <a:noFill/>
          <a:ln w="28575" cap="flat" cmpd="sng">
            <a:solidFill>
              <a:srgbClr val="3D005C"/>
            </a:solidFill>
            <a:prstDash val="solid"/>
            <a:round/>
            <a:headEnd type="none" w="med" len="med"/>
            <a:tailEnd type="none" w="med" len="med"/>
          </a:ln>
        </p:spPr>
      </p:cxnSp>
      <p:pic>
        <p:nvPicPr>
          <p:cNvPr id="2" name="Picture 4">
            <a:extLst>
              <a:ext uri="{FF2B5EF4-FFF2-40B4-BE49-F238E27FC236}">
                <a16:creationId xmlns:a16="http://schemas.microsoft.com/office/drawing/2014/main" id="{0248CDDD-4FDF-60C0-F6C1-79EB253F52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073" t="22488" r="31004" b="9326"/>
          <a:stretch/>
        </p:blipFill>
        <p:spPr bwMode="auto">
          <a:xfrm>
            <a:off x="6607272" y="111886"/>
            <a:ext cx="2314852" cy="2346851"/>
          </a:xfrm>
          <a:prstGeom prst="rect">
            <a:avLst/>
          </a:prstGeom>
          <a:noFill/>
          <a:extLst>
            <a:ext uri="{909E8E84-426E-40DD-AFC4-6F175D3DCCD1}">
              <a14:hiddenFill xmlns:a14="http://schemas.microsoft.com/office/drawing/2010/main">
                <a:solidFill>
                  <a:srgbClr val="FFFFFF"/>
                </a:solidFill>
              </a14:hiddenFill>
            </a:ext>
          </a:extLst>
        </p:spPr>
      </p:pic>
      <p:pic>
        <p:nvPicPr>
          <p:cNvPr id="5" name="Grafik 4" descr="Ein Bild, das Reihe, Screenshot, Diagramm enthält.&#10;&#10;Automatisch generierte Beschreibung">
            <a:extLst>
              <a:ext uri="{FF2B5EF4-FFF2-40B4-BE49-F238E27FC236}">
                <a16:creationId xmlns:a16="http://schemas.microsoft.com/office/drawing/2014/main" id="{26D78443-F90E-28FA-A6BB-5927D7007ACD}"/>
              </a:ext>
            </a:extLst>
          </p:cNvPr>
          <p:cNvPicPr>
            <a:picLocks noChangeAspect="1"/>
          </p:cNvPicPr>
          <p:nvPr/>
        </p:nvPicPr>
        <p:blipFill>
          <a:blip r:embed="rId4"/>
          <a:stretch>
            <a:fillRect/>
          </a:stretch>
        </p:blipFill>
        <p:spPr>
          <a:xfrm>
            <a:off x="3285826" y="1151750"/>
            <a:ext cx="3431008" cy="2088991"/>
          </a:xfrm>
          <a:prstGeom prst="rect">
            <a:avLst/>
          </a:prstGeom>
        </p:spPr>
      </p:pic>
      <p:sp>
        <p:nvSpPr>
          <p:cNvPr id="6" name="Textfeld 5">
            <a:extLst>
              <a:ext uri="{FF2B5EF4-FFF2-40B4-BE49-F238E27FC236}">
                <a16:creationId xmlns:a16="http://schemas.microsoft.com/office/drawing/2014/main" id="{EB23F32A-FF19-0562-8758-5778EE3BB117}"/>
              </a:ext>
            </a:extLst>
          </p:cNvPr>
          <p:cNvSpPr txBox="1"/>
          <p:nvPr/>
        </p:nvSpPr>
        <p:spPr>
          <a:xfrm>
            <a:off x="3871521" y="3187665"/>
            <a:ext cx="3141742" cy="200055"/>
          </a:xfrm>
          <a:prstGeom prst="rect">
            <a:avLst/>
          </a:prstGeom>
          <a:noFill/>
        </p:spPr>
        <p:txBody>
          <a:bodyPr wrap="square" rtlCol="0">
            <a:spAutoFit/>
          </a:bodyPr>
          <a:lstStyle/>
          <a:p>
            <a:r>
              <a:rPr lang="de-DE" sz="700" dirty="0">
                <a:solidFill>
                  <a:schemeClr val="accent3">
                    <a:lumMod val="50000"/>
                  </a:schemeClr>
                </a:solidFill>
                <a:latin typeface="Urbanist" panose="020B0604020202020204" charset="0"/>
                <a:cs typeface="Urbanist" panose="020B0604020202020204" charset="0"/>
              </a:rPr>
              <a:t>Quelle: https://de.wikipedia.org/wiki/Produktlebenszyklus </a:t>
            </a:r>
          </a:p>
        </p:txBody>
      </p:sp>
      <p:sp>
        <p:nvSpPr>
          <p:cNvPr id="7" name="Textfeld 6">
            <a:extLst>
              <a:ext uri="{FF2B5EF4-FFF2-40B4-BE49-F238E27FC236}">
                <a16:creationId xmlns:a16="http://schemas.microsoft.com/office/drawing/2014/main" id="{B21ADB53-E2AE-5220-C0DA-822CA330A6C7}"/>
              </a:ext>
            </a:extLst>
          </p:cNvPr>
          <p:cNvSpPr txBox="1"/>
          <p:nvPr/>
        </p:nvSpPr>
        <p:spPr>
          <a:xfrm>
            <a:off x="6864752" y="2358709"/>
            <a:ext cx="2205290" cy="200055"/>
          </a:xfrm>
          <a:prstGeom prst="rect">
            <a:avLst/>
          </a:prstGeom>
          <a:noFill/>
        </p:spPr>
        <p:txBody>
          <a:bodyPr wrap="square" rtlCol="0">
            <a:spAutoFit/>
          </a:bodyPr>
          <a:lstStyle/>
          <a:p>
            <a:r>
              <a:rPr lang="de-DE" sz="700" dirty="0">
                <a:solidFill>
                  <a:schemeClr val="accent3">
                    <a:lumMod val="50000"/>
                  </a:schemeClr>
                </a:solidFill>
                <a:latin typeface="Urbanist" panose="020B0604020202020204" charset="0"/>
                <a:cs typeface="Urbanist" panose="020B0604020202020204" charset="0"/>
              </a:rPr>
              <a:t>Quelle: https://www.bwl-lexikon.de/wiki/cash-cow/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3D005C"/>
                </a:solidFill>
              </a:rPr>
              <a:t>Marketingtool – AIDA-Modell</a:t>
            </a:r>
            <a:endParaRPr dirty="0">
              <a:solidFill>
                <a:srgbClr val="3D005C"/>
              </a:solidFill>
            </a:endParaRPr>
          </a:p>
        </p:txBody>
      </p:sp>
      <p:sp>
        <p:nvSpPr>
          <p:cNvPr id="279" name="Google Shape;279;p34"/>
          <p:cNvSpPr txBox="1">
            <a:spLocks noGrp="1"/>
          </p:cNvSpPr>
          <p:nvPr>
            <p:ph type="subTitle" idx="1"/>
          </p:nvPr>
        </p:nvSpPr>
        <p:spPr>
          <a:xfrm>
            <a:off x="366051" y="2313857"/>
            <a:ext cx="2231101"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Aufmerksamkeit generieren</a:t>
            </a:r>
            <a:endParaRPr sz="1400" dirty="0">
              <a:solidFill>
                <a:srgbClr val="000000"/>
              </a:solidFill>
            </a:endParaRPr>
          </a:p>
        </p:txBody>
      </p:sp>
      <p:sp>
        <p:nvSpPr>
          <p:cNvPr id="280" name="Google Shape;280;p34"/>
          <p:cNvSpPr txBox="1">
            <a:spLocks noGrp="1"/>
          </p:cNvSpPr>
          <p:nvPr>
            <p:ph type="subTitle" idx="2"/>
          </p:nvPr>
        </p:nvSpPr>
        <p:spPr>
          <a:xfrm>
            <a:off x="2338499" y="2305717"/>
            <a:ext cx="2233500"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Interesse erwecken</a:t>
            </a:r>
            <a:endParaRPr sz="1400" dirty="0">
              <a:solidFill>
                <a:srgbClr val="000000"/>
              </a:solidFill>
            </a:endParaRPr>
          </a:p>
        </p:txBody>
      </p:sp>
      <p:sp>
        <p:nvSpPr>
          <p:cNvPr id="283" name="Google Shape;283;p34"/>
          <p:cNvSpPr txBox="1">
            <a:spLocks noGrp="1"/>
          </p:cNvSpPr>
          <p:nvPr>
            <p:ph type="subTitle" idx="7"/>
          </p:nvPr>
        </p:nvSpPr>
        <p:spPr>
          <a:xfrm>
            <a:off x="363652" y="1818857"/>
            <a:ext cx="22335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DE" dirty="0">
                <a:solidFill>
                  <a:srgbClr val="3D005C"/>
                </a:solidFill>
              </a:rPr>
              <a:t>Attention</a:t>
            </a:r>
            <a:endParaRPr dirty="0">
              <a:solidFill>
                <a:srgbClr val="3D005C"/>
              </a:solidFill>
            </a:endParaRPr>
          </a:p>
        </p:txBody>
      </p:sp>
      <p:sp>
        <p:nvSpPr>
          <p:cNvPr id="284" name="Google Shape;284;p34"/>
          <p:cNvSpPr txBox="1">
            <a:spLocks noGrp="1"/>
          </p:cNvSpPr>
          <p:nvPr>
            <p:ph type="subTitle" idx="8"/>
          </p:nvPr>
        </p:nvSpPr>
        <p:spPr>
          <a:xfrm>
            <a:off x="2394740" y="1826997"/>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Interest</a:t>
            </a:r>
            <a:endParaRPr dirty="0">
              <a:solidFill>
                <a:srgbClr val="3D005C"/>
              </a:solidFill>
            </a:endParaRPr>
          </a:p>
        </p:txBody>
      </p:sp>
      <p:sp>
        <p:nvSpPr>
          <p:cNvPr id="285" name="Google Shape;285;p34"/>
          <p:cNvSpPr txBox="1">
            <a:spLocks noGrp="1"/>
          </p:cNvSpPr>
          <p:nvPr>
            <p:ph type="subTitle" idx="9"/>
          </p:nvPr>
        </p:nvSpPr>
        <p:spPr>
          <a:xfrm>
            <a:off x="4569599" y="1819981"/>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Desire</a:t>
            </a:r>
            <a:endParaRPr dirty="0">
              <a:solidFill>
                <a:srgbClr val="3D005C"/>
              </a:solidFill>
            </a:endParaRPr>
          </a:p>
        </p:txBody>
      </p:sp>
      <p:sp>
        <p:nvSpPr>
          <p:cNvPr id="286" name="Google Shape;286;p34"/>
          <p:cNvSpPr txBox="1">
            <a:spLocks noGrp="1"/>
          </p:cNvSpPr>
          <p:nvPr>
            <p:ph type="subTitle" idx="5"/>
          </p:nvPr>
        </p:nvSpPr>
        <p:spPr>
          <a:xfrm>
            <a:off x="4567199" y="2313857"/>
            <a:ext cx="2233500"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Verlangen auslösen</a:t>
            </a:r>
            <a:endParaRPr sz="1400" dirty="0">
              <a:solidFill>
                <a:srgbClr val="000000"/>
              </a:solidFill>
            </a:endParaRPr>
          </a:p>
        </p:txBody>
      </p:sp>
      <p:sp>
        <p:nvSpPr>
          <p:cNvPr id="287" name="Google Shape;287;p34"/>
          <p:cNvSpPr txBox="1">
            <a:spLocks noGrp="1"/>
          </p:cNvSpPr>
          <p:nvPr>
            <p:ph type="subTitle" idx="6"/>
          </p:nvPr>
        </p:nvSpPr>
        <p:spPr>
          <a:xfrm>
            <a:off x="6659328" y="2313857"/>
            <a:ext cx="2233500"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Aufruf zur Handlung</a:t>
            </a:r>
            <a:endParaRPr sz="1400" dirty="0">
              <a:solidFill>
                <a:srgbClr val="000000"/>
              </a:solidFill>
            </a:endParaRPr>
          </a:p>
        </p:txBody>
      </p:sp>
      <p:sp>
        <p:nvSpPr>
          <p:cNvPr id="290" name="Google Shape;290;p34"/>
          <p:cNvSpPr txBox="1">
            <a:spLocks noGrp="1"/>
          </p:cNvSpPr>
          <p:nvPr>
            <p:ph type="subTitle" idx="15"/>
          </p:nvPr>
        </p:nvSpPr>
        <p:spPr>
          <a:xfrm>
            <a:off x="6603087" y="1818857"/>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Action</a:t>
            </a:r>
            <a:endParaRPr dirty="0">
              <a:solidFill>
                <a:srgbClr val="3D005C"/>
              </a:solidFill>
            </a:endParaRPr>
          </a:p>
        </p:txBody>
      </p:sp>
      <p:cxnSp>
        <p:nvCxnSpPr>
          <p:cNvPr id="291" name="Google Shape;291;p34"/>
          <p:cNvCxnSpPr>
            <a:endCxn id="278" idx="0"/>
          </p:cNvCxnSpPr>
          <p:nvPr/>
        </p:nvCxnSpPr>
        <p:spPr>
          <a:xfrm>
            <a:off x="4572000" y="-45475"/>
            <a:ext cx="0" cy="490500"/>
          </a:xfrm>
          <a:prstGeom prst="straightConnector1">
            <a:avLst/>
          </a:prstGeom>
          <a:noFill/>
          <a:ln w="28575" cap="flat" cmpd="sng">
            <a:solidFill>
              <a:srgbClr val="3D005C"/>
            </a:solidFill>
            <a:prstDash val="solid"/>
            <a:round/>
            <a:headEnd type="none" w="med" len="med"/>
            <a:tailEnd type="none" w="med" len="med"/>
          </a:ln>
        </p:spPr>
      </p:cxnSp>
      <p:cxnSp>
        <p:nvCxnSpPr>
          <p:cNvPr id="292" name="Google Shape;292;p34"/>
          <p:cNvCxnSpPr>
            <a:cxnSpLocks/>
          </p:cNvCxnSpPr>
          <p:nvPr/>
        </p:nvCxnSpPr>
        <p:spPr>
          <a:xfrm>
            <a:off x="4572000" y="4603854"/>
            <a:ext cx="0" cy="543600"/>
          </a:xfrm>
          <a:prstGeom prst="straightConnector1">
            <a:avLst/>
          </a:prstGeom>
          <a:noFill/>
          <a:ln w="28575" cap="flat" cmpd="sng">
            <a:solidFill>
              <a:srgbClr val="3D005C"/>
            </a:solidFill>
            <a:prstDash val="solid"/>
            <a:round/>
            <a:headEnd type="none" w="med" len="med"/>
            <a:tailEnd type="none" w="med" len="med"/>
          </a:ln>
        </p:spPr>
      </p:cxnSp>
      <p:pic>
        <p:nvPicPr>
          <p:cNvPr id="14" name="Grafik 13" descr="Ein Bild, das Kunst enthält.&#10;&#10;Automatisch generierte Beschreibung">
            <a:extLst>
              <a:ext uri="{FF2B5EF4-FFF2-40B4-BE49-F238E27FC236}">
                <a16:creationId xmlns:a16="http://schemas.microsoft.com/office/drawing/2014/main" id="{573F77D3-6CC3-3030-3B73-18E8208DB8ED}"/>
              </a:ext>
            </a:extLst>
          </p:cNvPr>
          <p:cNvPicPr>
            <a:picLocks noChangeAspect="1"/>
          </p:cNvPicPr>
          <p:nvPr/>
        </p:nvPicPr>
        <p:blipFill>
          <a:blip r:embed="rId3"/>
          <a:stretch>
            <a:fillRect/>
          </a:stretch>
        </p:blipFill>
        <p:spPr>
          <a:xfrm>
            <a:off x="384237" y="2923064"/>
            <a:ext cx="8453687" cy="10639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3D005C"/>
                </a:solidFill>
              </a:rPr>
              <a:t>AIDA-Modell – Trending, online</a:t>
            </a:r>
            <a:endParaRPr dirty="0">
              <a:solidFill>
                <a:srgbClr val="3D005C"/>
              </a:solidFill>
            </a:endParaRPr>
          </a:p>
        </p:txBody>
      </p:sp>
      <p:sp>
        <p:nvSpPr>
          <p:cNvPr id="279" name="Google Shape;279;p34"/>
          <p:cNvSpPr txBox="1">
            <a:spLocks noGrp="1"/>
          </p:cNvSpPr>
          <p:nvPr>
            <p:ph type="subTitle" idx="1"/>
          </p:nvPr>
        </p:nvSpPr>
        <p:spPr>
          <a:xfrm>
            <a:off x="366051" y="2313857"/>
            <a:ext cx="2231101"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Präsentation auf Social-Media-Plattformen</a:t>
            </a:r>
            <a:endParaRPr sz="1400" dirty="0">
              <a:solidFill>
                <a:srgbClr val="000000"/>
              </a:solidFill>
            </a:endParaRPr>
          </a:p>
        </p:txBody>
      </p:sp>
      <p:sp>
        <p:nvSpPr>
          <p:cNvPr id="280" name="Google Shape;280;p34"/>
          <p:cNvSpPr txBox="1">
            <a:spLocks noGrp="1"/>
          </p:cNvSpPr>
          <p:nvPr>
            <p:ph type="subTitle" idx="2"/>
          </p:nvPr>
        </p:nvSpPr>
        <p:spPr>
          <a:xfrm>
            <a:off x="2450981" y="2313295"/>
            <a:ext cx="2233500"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Exklusive Previews und Launch-Events</a:t>
            </a:r>
            <a:endParaRPr sz="1400" dirty="0">
              <a:solidFill>
                <a:srgbClr val="000000"/>
              </a:solidFill>
            </a:endParaRPr>
          </a:p>
        </p:txBody>
      </p:sp>
      <p:sp>
        <p:nvSpPr>
          <p:cNvPr id="283" name="Google Shape;283;p34"/>
          <p:cNvSpPr txBox="1">
            <a:spLocks noGrp="1"/>
          </p:cNvSpPr>
          <p:nvPr>
            <p:ph type="subTitle" idx="7"/>
          </p:nvPr>
        </p:nvSpPr>
        <p:spPr>
          <a:xfrm>
            <a:off x="363652" y="1818857"/>
            <a:ext cx="22335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DE" dirty="0">
                <a:solidFill>
                  <a:srgbClr val="3D005C"/>
                </a:solidFill>
              </a:rPr>
              <a:t>Attention</a:t>
            </a:r>
            <a:endParaRPr dirty="0">
              <a:solidFill>
                <a:srgbClr val="3D005C"/>
              </a:solidFill>
            </a:endParaRPr>
          </a:p>
        </p:txBody>
      </p:sp>
      <p:sp>
        <p:nvSpPr>
          <p:cNvPr id="284" name="Google Shape;284;p34"/>
          <p:cNvSpPr txBox="1">
            <a:spLocks noGrp="1"/>
          </p:cNvSpPr>
          <p:nvPr>
            <p:ph type="subTitle" idx="8"/>
          </p:nvPr>
        </p:nvSpPr>
        <p:spPr>
          <a:xfrm>
            <a:off x="2394740" y="1822361"/>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Interest</a:t>
            </a:r>
            <a:endParaRPr dirty="0">
              <a:solidFill>
                <a:srgbClr val="3D005C"/>
              </a:solidFill>
            </a:endParaRPr>
          </a:p>
        </p:txBody>
      </p:sp>
      <p:sp>
        <p:nvSpPr>
          <p:cNvPr id="285" name="Google Shape;285;p34"/>
          <p:cNvSpPr txBox="1">
            <a:spLocks noGrp="1"/>
          </p:cNvSpPr>
          <p:nvPr>
            <p:ph type="subTitle" idx="9"/>
          </p:nvPr>
        </p:nvSpPr>
        <p:spPr>
          <a:xfrm>
            <a:off x="4569599" y="1819981"/>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Desire</a:t>
            </a:r>
            <a:endParaRPr dirty="0">
              <a:solidFill>
                <a:srgbClr val="3D005C"/>
              </a:solidFill>
            </a:endParaRPr>
          </a:p>
        </p:txBody>
      </p:sp>
      <p:sp>
        <p:nvSpPr>
          <p:cNvPr id="286" name="Google Shape;286;p34"/>
          <p:cNvSpPr txBox="1">
            <a:spLocks noGrp="1"/>
          </p:cNvSpPr>
          <p:nvPr>
            <p:ph type="subTitle" idx="5"/>
          </p:nvPr>
        </p:nvSpPr>
        <p:spPr>
          <a:xfrm>
            <a:off x="4567199" y="2313857"/>
            <a:ext cx="2233500"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Gezielte und „</a:t>
            </a:r>
            <a:r>
              <a:rPr lang="de-DE" sz="1400" dirty="0" err="1">
                <a:solidFill>
                  <a:srgbClr val="000000"/>
                </a:solidFill>
              </a:rPr>
              <a:t>catchy</a:t>
            </a:r>
            <a:r>
              <a:rPr lang="de-DE" sz="1400" dirty="0">
                <a:solidFill>
                  <a:srgbClr val="000000"/>
                </a:solidFill>
              </a:rPr>
              <a:t>“ Slogans</a:t>
            </a:r>
            <a:endParaRPr sz="1400" dirty="0">
              <a:solidFill>
                <a:srgbClr val="000000"/>
              </a:solidFill>
            </a:endParaRPr>
          </a:p>
        </p:txBody>
      </p:sp>
      <p:sp>
        <p:nvSpPr>
          <p:cNvPr id="287" name="Google Shape;287;p34"/>
          <p:cNvSpPr txBox="1">
            <a:spLocks noGrp="1"/>
          </p:cNvSpPr>
          <p:nvPr>
            <p:ph type="subTitle" idx="6"/>
          </p:nvPr>
        </p:nvSpPr>
        <p:spPr>
          <a:xfrm>
            <a:off x="6659328" y="2313857"/>
            <a:ext cx="2233500" cy="38465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sz="1400" dirty="0">
                <a:solidFill>
                  <a:srgbClr val="000000"/>
                </a:solidFill>
              </a:rPr>
              <a:t>Newcomer-Rabatt, einfacher Bestellvorgang</a:t>
            </a:r>
            <a:endParaRPr sz="1400" dirty="0">
              <a:solidFill>
                <a:srgbClr val="000000"/>
              </a:solidFill>
            </a:endParaRPr>
          </a:p>
        </p:txBody>
      </p:sp>
      <p:sp>
        <p:nvSpPr>
          <p:cNvPr id="290" name="Google Shape;290;p34"/>
          <p:cNvSpPr txBox="1">
            <a:spLocks noGrp="1"/>
          </p:cNvSpPr>
          <p:nvPr>
            <p:ph type="subTitle" idx="15"/>
          </p:nvPr>
        </p:nvSpPr>
        <p:spPr>
          <a:xfrm>
            <a:off x="6603087" y="1818857"/>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3D005C"/>
                </a:solidFill>
              </a:rPr>
              <a:t>Action</a:t>
            </a:r>
            <a:endParaRPr dirty="0">
              <a:solidFill>
                <a:srgbClr val="3D005C"/>
              </a:solidFill>
            </a:endParaRPr>
          </a:p>
        </p:txBody>
      </p:sp>
      <p:cxnSp>
        <p:nvCxnSpPr>
          <p:cNvPr id="291" name="Google Shape;291;p34"/>
          <p:cNvCxnSpPr>
            <a:endCxn id="278" idx="0"/>
          </p:cNvCxnSpPr>
          <p:nvPr/>
        </p:nvCxnSpPr>
        <p:spPr>
          <a:xfrm>
            <a:off x="4572000" y="-45475"/>
            <a:ext cx="0" cy="490500"/>
          </a:xfrm>
          <a:prstGeom prst="straightConnector1">
            <a:avLst/>
          </a:prstGeom>
          <a:noFill/>
          <a:ln w="28575" cap="flat" cmpd="sng">
            <a:solidFill>
              <a:srgbClr val="3D005C"/>
            </a:solidFill>
            <a:prstDash val="solid"/>
            <a:round/>
            <a:headEnd type="none" w="med" len="med"/>
            <a:tailEnd type="none" w="med" len="med"/>
          </a:ln>
        </p:spPr>
      </p:cxnSp>
      <p:cxnSp>
        <p:nvCxnSpPr>
          <p:cNvPr id="292" name="Google Shape;292;p34"/>
          <p:cNvCxnSpPr>
            <a:cxnSpLocks/>
          </p:cNvCxnSpPr>
          <p:nvPr/>
        </p:nvCxnSpPr>
        <p:spPr>
          <a:xfrm>
            <a:off x="4572000" y="4603854"/>
            <a:ext cx="0" cy="543600"/>
          </a:xfrm>
          <a:prstGeom prst="straightConnector1">
            <a:avLst/>
          </a:prstGeom>
          <a:noFill/>
          <a:ln w="28575" cap="flat" cmpd="sng">
            <a:solidFill>
              <a:srgbClr val="3D005C"/>
            </a:solidFill>
            <a:prstDash val="solid"/>
            <a:round/>
            <a:headEnd type="none" w="med" len="med"/>
            <a:tailEnd type="none" w="med" len="med"/>
          </a:ln>
        </p:spPr>
      </p:cxnSp>
    </p:spTree>
    <p:extLst>
      <p:ext uri="{BB962C8B-B14F-4D97-AF65-F5344CB8AC3E}">
        <p14:creationId xmlns:p14="http://schemas.microsoft.com/office/powerpoint/2010/main" val="3484375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3D005C"/>
                </a:solidFill>
              </a:rPr>
              <a:t>Marketingtool – 4P’s</a:t>
            </a:r>
            <a:endParaRPr dirty="0">
              <a:solidFill>
                <a:srgbClr val="3D005C"/>
              </a:solidFill>
            </a:endParaRPr>
          </a:p>
        </p:txBody>
      </p:sp>
      <p:cxnSp>
        <p:nvCxnSpPr>
          <p:cNvPr id="425" name="Google Shape;425;p43"/>
          <p:cNvCxnSpPr/>
          <p:nvPr/>
        </p:nvCxnSpPr>
        <p:spPr>
          <a:xfrm>
            <a:off x="929975" y="0"/>
            <a:ext cx="0" cy="534600"/>
          </a:xfrm>
          <a:prstGeom prst="straightConnector1">
            <a:avLst/>
          </a:prstGeom>
          <a:noFill/>
          <a:ln w="28575" cap="flat" cmpd="sng">
            <a:solidFill>
              <a:srgbClr val="3D005C"/>
            </a:solidFill>
            <a:prstDash val="solid"/>
            <a:round/>
            <a:headEnd type="none" w="med" len="med"/>
            <a:tailEnd type="none" w="med" len="med"/>
          </a:ln>
        </p:spPr>
      </p:cxnSp>
      <p:pic>
        <p:nvPicPr>
          <p:cNvPr id="5" name="Grafik 4" descr="Ein Bild, das Kreis enthält.&#10;&#10;Automatisch generierte Beschreibung">
            <a:extLst>
              <a:ext uri="{FF2B5EF4-FFF2-40B4-BE49-F238E27FC236}">
                <a16:creationId xmlns:a16="http://schemas.microsoft.com/office/drawing/2014/main" id="{B370B9BB-8808-6578-DA9B-BF2298E00DEB}"/>
              </a:ext>
            </a:extLst>
          </p:cNvPr>
          <p:cNvPicPr>
            <a:picLocks noChangeAspect="1"/>
          </p:cNvPicPr>
          <p:nvPr/>
        </p:nvPicPr>
        <p:blipFill>
          <a:blip r:embed="rId3"/>
          <a:stretch>
            <a:fillRect/>
          </a:stretch>
        </p:blipFill>
        <p:spPr>
          <a:xfrm>
            <a:off x="4853130" y="752334"/>
            <a:ext cx="3570745" cy="3638831"/>
          </a:xfrm>
          <a:prstGeom prst="rect">
            <a:avLst/>
          </a:prstGeom>
        </p:spPr>
      </p:pic>
      <p:sp>
        <p:nvSpPr>
          <p:cNvPr id="7" name="Textfeld 6">
            <a:extLst>
              <a:ext uri="{FF2B5EF4-FFF2-40B4-BE49-F238E27FC236}">
                <a16:creationId xmlns:a16="http://schemas.microsoft.com/office/drawing/2014/main" id="{2513B2C8-DCAA-2E45-4420-A181C50DE4AE}"/>
              </a:ext>
            </a:extLst>
          </p:cNvPr>
          <p:cNvSpPr txBox="1"/>
          <p:nvPr/>
        </p:nvSpPr>
        <p:spPr>
          <a:xfrm>
            <a:off x="5237630" y="1526241"/>
            <a:ext cx="816249" cy="307777"/>
          </a:xfrm>
          <a:prstGeom prst="rect">
            <a:avLst/>
          </a:prstGeom>
          <a:noFill/>
        </p:spPr>
        <p:txBody>
          <a:bodyPr wrap="none" rtlCol="0">
            <a:spAutoFit/>
          </a:bodyPr>
          <a:lstStyle/>
          <a:p>
            <a:r>
              <a:rPr lang="de-DE" dirty="0">
                <a:latin typeface="Roboto" panose="02000000000000000000" pitchFamily="2" charset="0"/>
                <a:ea typeface="Roboto" panose="02000000000000000000" pitchFamily="2" charset="0"/>
                <a:cs typeface="Roboto" panose="02000000000000000000" pitchFamily="2" charset="0"/>
              </a:rPr>
              <a:t>Product</a:t>
            </a:r>
          </a:p>
        </p:txBody>
      </p:sp>
      <p:sp>
        <p:nvSpPr>
          <p:cNvPr id="8" name="Textfeld 7">
            <a:extLst>
              <a:ext uri="{FF2B5EF4-FFF2-40B4-BE49-F238E27FC236}">
                <a16:creationId xmlns:a16="http://schemas.microsoft.com/office/drawing/2014/main" id="{520A890A-74A1-F6C5-55FF-A0BB0894118C}"/>
              </a:ext>
            </a:extLst>
          </p:cNvPr>
          <p:cNvSpPr txBox="1"/>
          <p:nvPr/>
        </p:nvSpPr>
        <p:spPr>
          <a:xfrm>
            <a:off x="7389159" y="1526240"/>
            <a:ext cx="593432" cy="307777"/>
          </a:xfrm>
          <a:prstGeom prst="rect">
            <a:avLst/>
          </a:prstGeom>
          <a:noFill/>
        </p:spPr>
        <p:txBody>
          <a:bodyPr wrap="none" rtlCol="0">
            <a:spAutoFit/>
          </a:bodyPr>
          <a:lstStyle/>
          <a:p>
            <a:r>
              <a:rPr lang="de-DE" dirty="0">
                <a:latin typeface="Roboto" panose="02000000000000000000" pitchFamily="2" charset="0"/>
                <a:ea typeface="Roboto" panose="02000000000000000000" pitchFamily="2" charset="0"/>
                <a:cs typeface="Roboto" panose="02000000000000000000" pitchFamily="2" charset="0"/>
              </a:rPr>
              <a:t>Price</a:t>
            </a:r>
          </a:p>
        </p:txBody>
      </p:sp>
      <p:sp>
        <p:nvSpPr>
          <p:cNvPr id="9" name="Textfeld 8">
            <a:extLst>
              <a:ext uri="{FF2B5EF4-FFF2-40B4-BE49-F238E27FC236}">
                <a16:creationId xmlns:a16="http://schemas.microsoft.com/office/drawing/2014/main" id="{51276200-C174-86E5-B76E-0553C16B74AC}"/>
              </a:ext>
            </a:extLst>
          </p:cNvPr>
          <p:cNvSpPr txBox="1"/>
          <p:nvPr/>
        </p:nvSpPr>
        <p:spPr>
          <a:xfrm>
            <a:off x="7369121" y="3309481"/>
            <a:ext cx="633507" cy="307777"/>
          </a:xfrm>
          <a:prstGeom prst="rect">
            <a:avLst/>
          </a:prstGeom>
          <a:noFill/>
        </p:spPr>
        <p:txBody>
          <a:bodyPr wrap="none" rtlCol="0">
            <a:spAutoFit/>
          </a:bodyPr>
          <a:lstStyle/>
          <a:p>
            <a:r>
              <a:rPr lang="de-DE" dirty="0">
                <a:latin typeface="Roboto" panose="02000000000000000000" pitchFamily="2" charset="0"/>
                <a:ea typeface="Roboto" panose="02000000000000000000" pitchFamily="2" charset="0"/>
                <a:cs typeface="Roboto" panose="02000000000000000000" pitchFamily="2" charset="0"/>
              </a:rPr>
              <a:t>Place</a:t>
            </a:r>
          </a:p>
        </p:txBody>
      </p:sp>
      <p:sp>
        <p:nvSpPr>
          <p:cNvPr id="10" name="Textfeld 9">
            <a:extLst>
              <a:ext uri="{FF2B5EF4-FFF2-40B4-BE49-F238E27FC236}">
                <a16:creationId xmlns:a16="http://schemas.microsoft.com/office/drawing/2014/main" id="{CF38B3B3-503A-FE7E-F3A6-CCB909721416}"/>
              </a:ext>
            </a:extLst>
          </p:cNvPr>
          <p:cNvSpPr txBox="1"/>
          <p:nvPr/>
        </p:nvSpPr>
        <p:spPr>
          <a:xfrm>
            <a:off x="5237630" y="3309482"/>
            <a:ext cx="1000595" cy="307777"/>
          </a:xfrm>
          <a:prstGeom prst="rect">
            <a:avLst/>
          </a:prstGeom>
          <a:noFill/>
        </p:spPr>
        <p:txBody>
          <a:bodyPr wrap="none" rtlCol="0">
            <a:spAutoFit/>
          </a:bodyPr>
          <a:lstStyle/>
          <a:p>
            <a:r>
              <a:rPr lang="de-DE" dirty="0"/>
              <a:t>Promotion</a:t>
            </a:r>
          </a:p>
        </p:txBody>
      </p:sp>
      <p:sp>
        <p:nvSpPr>
          <p:cNvPr id="11" name="Textfeld 10">
            <a:extLst>
              <a:ext uri="{FF2B5EF4-FFF2-40B4-BE49-F238E27FC236}">
                <a16:creationId xmlns:a16="http://schemas.microsoft.com/office/drawing/2014/main" id="{0EEA426C-E359-670F-75C6-1D82D2D31AE0}"/>
              </a:ext>
            </a:extLst>
          </p:cNvPr>
          <p:cNvSpPr txBox="1"/>
          <p:nvPr/>
        </p:nvSpPr>
        <p:spPr>
          <a:xfrm>
            <a:off x="6296902" y="2387083"/>
            <a:ext cx="683200" cy="369332"/>
          </a:xfrm>
          <a:prstGeom prst="rect">
            <a:avLst/>
          </a:prstGeom>
          <a:noFill/>
        </p:spPr>
        <p:txBody>
          <a:bodyPr wrap="none" rtlCol="0">
            <a:spAutoFit/>
          </a:bodyPr>
          <a:lstStyle/>
          <a:p>
            <a:r>
              <a:rPr lang="de-DE" sz="1800" dirty="0">
                <a:latin typeface="Roboto" panose="02000000000000000000" pitchFamily="2" charset="0"/>
                <a:ea typeface="Roboto" panose="02000000000000000000" pitchFamily="2" charset="0"/>
                <a:cs typeface="Roboto" panose="02000000000000000000" pitchFamily="2" charset="0"/>
              </a:rPr>
              <a:t>4 P‘s</a:t>
            </a:r>
          </a:p>
        </p:txBody>
      </p:sp>
      <p:sp>
        <p:nvSpPr>
          <p:cNvPr id="12" name="Textfeld 11">
            <a:extLst>
              <a:ext uri="{FF2B5EF4-FFF2-40B4-BE49-F238E27FC236}">
                <a16:creationId xmlns:a16="http://schemas.microsoft.com/office/drawing/2014/main" id="{674D23B0-D8C6-B248-9826-2D2E240188B4}"/>
              </a:ext>
            </a:extLst>
          </p:cNvPr>
          <p:cNvSpPr txBox="1"/>
          <p:nvPr/>
        </p:nvSpPr>
        <p:spPr>
          <a:xfrm>
            <a:off x="720126" y="1262695"/>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Product</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3" name="Textfeld 12">
            <a:extLst>
              <a:ext uri="{FF2B5EF4-FFF2-40B4-BE49-F238E27FC236}">
                <a16:creationId xmlns:a16="http://schemas.microsoft.com/office/drawing/2014/main" id="{A29954DD-98BF-4694-6F15-010D92A04844}"/>
              </a:ext>
            </a:extLst>
          </p:cNvPr>
          <p:cNvSpPr txBox="1"/>
          <p:nvPr/>
        </p:nvSpPr>
        <p:spPr>
          <a:xfrm>
            <a:off x="720001" y="2052276"/>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Price</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4" name="Textfeld 13">
            <a:extLst>
              <a:ext uri="{FF2B5EF4-FFF2-40B4-BE49-F238E27FC236}">
                <a16:creationId xmlns:a16="http://schemas.microsoft.com/office/drawing/2014/main" id="{5DAF14B9-ECF7-905A-4AB1-DDB633C6A464}"/>
              </a:ext>
            </a:extLst>
          </p:cNvPr>
          <p:cNvSpPr txBox="1"/>
          <p:nvPr/>
        </p:nvSpPr>
        <p:spPr>
          <a:xfrm>
            <a:off x="720000" y="2841857"/>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Place</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5" name="Textfeld 14">
            <a:extLst>
              <a:ext uri="{FF2B5EF4-FFF2-40B4-BE49-F238E27FC236}">
                <a16:creationId xmlns:a16="http://schemas.microsoft.com/office/drawing/2014/main" id="{0BB17311-3E55-A15F-1FAE-54EAB732D1AC}"/>
              </a:ext>
            </a:extLst>
          </p:cNvPr>
          <p:cNvSpPr txBox="1"/>
          <p:nvPr/>
        </p:nvSpPr>
        <p:spPr>
          <a:xfrm>
            <a:off x="720000" y="3635303"/>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Promotion</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6" name="Textfeld 15">
            <a:extLst>
              <a:ext uri="{FF2B5EF4-FFF2-40B4-BE49-F238E27FC236}">
                <a16:creationId xmlns:a16="http://schemas.microsoft.com/office/drawing/2014/main" id="{2EFA49D0-5BC1-B37D-35BC-47CFAF5BB3E1}"/>
              </a:ext>
            </a:extLst>
          </p:cNvPr>
          <p:cNvSpPr txBox="1"/>
          <p:nvPr/>
        </p:nvSpPr>
        <p:spPr>
          <a:xfrm>
            <a:off x="720000" y="1588939"/>
            <a:ext cx="1454244"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Produktpolitik</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7" name="Textfeld 16">
            <a:extLst>
              <a:ext uri="{FF2B5EF4-FFF2-40B4-BE49-F238E27FC236}">
                <a16:creationId xmlns:a16="http://schemas.microsoft.com/office/drawing/2014/main" id="{C30FBE6F-FF87-28B0-9E64-6528507B6420}"/>
              </a:ext>
            </a:extLst>
          </p:cNvPr>
          <p:cNvSpPr txBox="1"/>
          <p:nvPr/>
        </p:nvSpPr>
        <p:spPr>
          <a:xfrm>
            <a:off x="720000" y="2372344"/>
            <a:ext cx="1200970"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Preispolitik</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8" name="Textfeld 17">
            <a:extLst>
              <a:ext uri="{FF2B5EF4-FFF2-40B4-BE49-F238E27FC236}">
                <a16:creationId xmlns:a16="http://schemas.microsoft.com/office/drawing/2014/main" id="{7510E990-8BA9-BCFD-4CA7-CA114810B45D}"/>
              </a:ext>
            </a:extLst>
          </p:cNvPr>
          <p:cNvSpPr txBox="1"/>
          <p:nvPr/>
        </p:nvSpPr>
        <p:spPr>
          <a:xfrm>
            <a:off x="720000" y="3155749"/>
            <a:ext cx="1896673"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Distributionspolitik</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9" name="Textfeld 18">
            <a:extLst>
              <a:ext uri="{FF2B5EF4-FFF2-40B4-BE49-F238E27FC236}">
                <a16:creationId xmlns:a16="http://schemas.microsoft.com/office/drawing/2014/main" id="{65B185C7-2B66-5DF8-747C-129FED86E2CC}"/>
              </a:ext>
            </a:extLst>
          </p:cNvPr>
          <p:cNvSpPr txBox="1"/>
          <p:nvPr/>
        </p:nvSpPr>
        <p:spPr>
          <a:xfrm>
            <a:off x="719875" y="3956308"/>
            <a:ext cx="2289409"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Kommunikationspolitik</a:t>
            </a:r>
            <a:endParaRPr lang="de-DE"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3D005C"/>
                </a:solidFill>
              </a:rPr>
              <a:t>Marketing-Mix – Basic, stationär</a:t>
            </a:r>
            <a:endParaRPr dirty="0">
              <a:solidFill>
                <a:srgbClr val="3D005C"/>
              </a:solidFill>
            </a:endParaRPr>
          </a:p>
        </p:txBody>
      </p:sp>
      <p:cxnSp>
        <p:nvCxnSpPr>
          <p:cNvPr id="425" name="Google Shape;425;p43"/>
          <p:cNvCxnSpPr/>
          <p:nvPr/>
        </p:nvCxnSpPr>
        <p:spPr>
          <a:xfrm>
            <a:off x="929975" y="0"/>
            <a:ext cx="0" cy="534600"/>
          </a:xfrm>
          <a:prstGeom prst="straightConnector1">
            <a:avLst/>
          </a:prstGeom>
          <a:noFill/>
          <a:ln w="28575" cap="flat" cmpd="sng">
            <a:solidFill>
              <a:srgbClr val="3D005C"/>
            </a:solidFill>
            <a:prstDash val="solid"/>
            <a:round/>
            <a:headEnd type="none" w="med" len="med"/>
            <a:tailEnd type="none" w="med" len="med"/>
          </a:ln>
        </p:spPr>
      </p:cxnSp>
      <p:sp>
        <p:nvSpPr>
          <p:cNvPr id="12" name="Textfeld 11">
            <a:extLst>
              <a:ext uri="{FF2B5EF4-FFF2-40B4-BE49-F238E27FC236}">
                <a16:creationId xmlns:a16="http://schemas.microsoft.com/office/drawing/2014/main" id="{674D23B0-D8C6-B248-9826-2D2E240188B4}"/>
              </a:ext>
            </a:extLst>
          </p:cNvPr>
          <p:cNvSpPr txBox="1"/>
          <p:nvPr/>
        </p:nvSpPr>
        <p:spPr>
          <a:xfrm>
            <a:off x="720126" y="1262695"/>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Product</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3" name="Textfeld 12">
            <a:extLst>
              <a:ext uri="{FF2B5EF4-FFF2-40B4-BE49-F238E27FC236}">
                <a16:creationId xmlns:a16="http://schemas.microsoft.com/office/drawing/2014/main" id="{A29954DD-98BF-4694-6F15-010D92A04844}"/>
              </a:ext>
            </a:extLst>
          </p:cNvPr>
          <p:cNvSpPr txBox="1"/>
          <p:nvPr/>
        </p:nvSpPr>
        <p:spPr>
          <a:xfrm>
            <a:off x="720001" y="2052276"/>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Price</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4" name="Textfeld 13">
            <a:extLst>
              <a:ext uri="{FF2B5EF4-FFF2-40B4-BE49-F238E27FC236}">
                <a16:creationId xmlns:a16="http://schemas.microsoft.com/office/drawing/2014/main" id="{5DAF14B9-ECF7-905A-4AB1-DDB633C6A464}"/>
              </a:ext>
            </a:extLst>
          </p:cNvPr>
          <p:cNvSpPr txBox="1"/>
          <p:nvPr/>
        </p:nvSpPr>
        <p:spPr>
          <a:xfrm>
            <a:off x="720000" y="2841857"/>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Place</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5" name="Textfeld 14">
            <a:extLst>
              <a:ext uri="{FF2B5EF4-FFF2-40B4-BE49-F238E27FC236}">
                <a16:creationId xmlns:a16="http://schemas.microsoft.com/office/drawing/2014/main" id="{0BB17311-3E55-A15F-1FAE-54EAB732D1AC}"/>
              </a:ext>
            </a:extLst>
          </p:cNvPr>
          <p:cNvSpPr txBox="1"/>
          <p:nvPr/>
        </p:nvSpPr>
        <p:spPr>
          <a:xfrm>
            <a:off x="720000" y="3635303"/>
            <a:ext cx="3852125" cy="400110"/>
          </a:xfrm>
          <a:prstGeom prst="rect">
            <a:avLst/>
          </a:prstGeom>
          <a:noFill/>
        </p:spPr>
        <p:txBody>
          <a:bodyPr wrap="square" rtlCol="0">
            <a:spAutoFit/>
          </a:bodyPr>
          <a:lstStyle/>
          <a:p>
            <a:r>
              <a:rPr lang="de-DE" sz="2000" dirty="0">
                <a:solidFill>
                  <a:srgbClr val="3D005C"/>
                </a:solidFill>
                <a:latin typeface="Urbanist" panose="020B0604020202020204" charset="0"/>
                <a:ea typeface="Roboto" panose="02000000000000000000" pitchFamily="2" charset="0"/>
                <a:cs typeface="Urbanist" panose="020B0604020202020204" charset="0"/>
              </a:rPr>
              <a:t>Promotion</a:t>
            </a:r>
            <a:endParaRPr lang="de-DE" dirty="0">
              <a:solidFill>
                <a:srgbClr val="3D005C"/>
              </a:solidFill>
              <a:latin typeface="Urbanist" panose="020B0604020202020204" charset="0"/>
              <a:ea typeface="Roboto" panose="02000000000000000000" pitchFamily="2" charset="0"/>
              <a:cs typeface="Urbanist" panose="020B0604020202020204" charset="0"/>
            </a:endParaRPr>
          </a:p>
        </p:txBody>
      </p:sp>
      <p:sp>
        <p:nvSpPr>
          <p:cNvPr id="16" name="Textfeld 15">
            <a:extLst>
              <a:ext uri="{FF2B5EF4-FFF2-40B4-BE49-F238E27FC236}">
                <a16:creationId xmlns:a16="http://schemas.microsoft.com/office/drawing/2014/main" id="{2EFA49D0-5BC1-B37D-35BC-47CFAF5BB3E1}"/>
              </a:ext>
            </a:extLst>
          </p:cNvPr>
          <p:cNvSpPr txBox="1"/>
          <p:nvPr/>
        </p:nvSpPr>
        <p:spPr>
          <a:xfrm>
            <a:off x="720000" y="1588939"/>
            <a:ext cx="4825360"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Produktpolitik: breites, modeorientiertes Sortiment </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7" name="Textfeld 16">
            <a:extLst>
              <a:ext uri="{FF2B5EF4-FFF2-40B4-BE49-F238E27FC236}">
                <a16:creationId xmlns:a16="http://schemas.microsoft.com/office/drawing/2014/main" id="{C30FBE6F-FF87-28B0-9E64-6528507B6420}"/>
              </a:ext>
            </a:extLst>
          </p:cNvPr>
          <p:cNvSpPr txBox="1"/>
          <p:nvPr/>
        </p:nvSpPr>
        <p:spPr>
          <a:xfrm>
            <a:off x="720000" y="2372344"/>
            <a:ext cx="6596678"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Preispolitik: erschwinglicher und wettbewerbsfähiger Preis von € 9,99 </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8" name="Textfeld 17">
            <a:extLst>
              <a:ext uri="{FF2B5EF4-FFF2-40B4-BE49-F238E27FC236}">
                <a16:creationId xmlns:a16="http://schemas.microsoft.com/office/drawing/2014/main" id="{7510E990-8BA9-BCFD-4CA7-CA114810B45D}"/>
              </a:ext>
            </a:extLst>
          </p:cNvPr>
          <p:cNvSpPr txBox="1"/>
          <p:nvPr/>
        </p:nvSpPr>
        <p:spPr>
          <a:xfrm>
            <a:off x="720000" y="3155749"/>
            <a:ext cx="5623655"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Distributionspolitik: Verkaufsräume an beliebten Standorten</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9" name="Textfeld 18">
            <a:extLst>
              <a:ext uri="{FF2B5EF4-FFF2-40B4-BE49-F238E27FC236}">
                <a16:creationId xmlns:a16="http://schemas.microsoft.com/office/drawing/2014/main" id="{65B185C7-2B66-5DF8-747C-129FED86E2CC}"/>
              </a:ext>
            </a:extLst>
          </p:cNvPr>
          <p:cNvSpPr txBox="1"/>
          <p:nvPr/>
        </p:nvSpPr>
        <p:spPr>
          <a:xfrm>
            <a:off x="719875" y="3956308"/>
            <a:ext cx="5731056" cy="338554"/>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Kommunikationspolitik: lokale Werbung und Event-Marketing</a:t>
            </a:r>
            <a:endParaRPr lang="de-DE"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499089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26"/>
          <p:cNvSpPr txBox="1">
            <a:spLocks noGrp="1"/>
          </p:cNvSpPr>
          <p:nvPr>
            <p:ph type="ctrTitle"/>
          </p:nvPr>
        </p:nvSpPr>
        <p:spPr>
          <a:xfrm>
            <a:off x="1179876" y="1696877"/>
            <a:ext cx="6784200" cy="1749746"/>
          </a:xfrm>
          <a:prstGeom prst="rect">
            <a:avLst/>
          </a:prstGeom>
          <a:noFill/>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solidFill>
                  <a:srgbClr val="56007F"/>
                </a:solidFill>
              </a:rPr>
              <a:t>Vielen Dank für Ihre Aufmerksamkeit</a:t>
            </a:r>
            <a:endParaRPr lang="en-US" sz="5400" dirty="0">
              <a:solidFill>
                <a:srgbClr val="56007F"/>
              </a:solidFill>
            </a:endParaRPr>
          </a:p>
        </p:txBody>
      </p:sp>
      <p:cxnSp>
        <p:nvCxnSpPr>
          <p:cNvPr id="132" name="Google Shape;132;p26"/>
          <p:cNvCxnSpPr>
            <a:cxnSpLocks/>
          </p:cNvCxnSpPr>
          <p:nvPr/>
        </p:nvCxnSpPr>
        <p:spPr>
          <a:xfrm>
            <a:off x="4571975" y="0"/>
            <a:ext cx="0" cy="1171200"/>
          </a:xfrm>
          <a:prstGeom prst="straightConnector1">
            <a:avLst/>
          </a:prstGeom>
          <a:noFill/>
          <a:ln w="28575" cap="flat" cmpd="sng">
            <a:solidFill>
              <a:srgbClr val="56007F"/>
            </a:solidFill>
            <a:prstDash val="solid"/>
            <a:round/>
            <a:headEnd type="none" w="med" len="med"/>
            <a:tailEnd type="none" w="med" len="med"/>
          </a:ln>
        </p:spPr>
      </p:cxnSp>
    </p:spTree>
    <p:extLst>
      <p:ext uri="{BB962C8B-B14F-4D97-AF65-F5344CB8AC3E}">
        <p14:creationId xmlns:p14="http://schemas.microsoft.com/office/powerpoint/2010/main" val="2192551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txBox="1">
            <a:spLocks noGrp="1"/>
          </p:cNvSpPr>
          <p:nvPr>
            <p:ph type="ctrTitle"/>
          </p:nvPr>
        </p:nvSpPr>
        <p:spPr>
          <a:xfrm>
            <a:off x="1179875" y="1660263"/>
            <a:ext cx="6784200" cy="208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TechAccessories</a:t>
            </a:r>
            <a:br>
              <a:rPr lang="en" dirty="0"/>
            </a:br>
            <a:r>
              <a:rPr lang="en" sz="4000" dirty="0"/>
              <a:t>Rechtliche Grundlagen</a:t>
            </a:r>
            <a:endParaRPr dirty="0"/>
          </a:p>
        </p:txBody>
      </p:sp>
      <p:sp>
        <p:nvSpPr>
          <p:cNvPr id="131" name="Google Shape;131;p26"/>
          <p:cNvSpPr txBox="1">
            <a:spLocks noGrp="1"/>
          </p:cNvSpPr>
          <p:nvPr>
            <p:ph type="subTitle" idx="1"/>
          </p:nvPr>
        </p:nvSpPr>
        <p:spPr>
          <a:xfrm>
            <a:off x="1179875" y="3918688"/>
            <a:ext cx="67842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Diplomarbeitspräsentation von Eva Bobchev</a:t>
            </a:r>
            <a:endParaRPr/>
          </a:p>
        </p:txBody>
      </p:sp>
      <p:cxnSp>
        <p:nvCxnSpPr>
          <p:cNvPr id="132" name="Google Shape;132;p26"/>
          <p:cNvCxnSpPr>
            <a:endCxn id="130" idx="0"/>
          </p:cNvCxnSpPr>
          <p:nvPr/>
        </p:nvCxnSpPr>
        <p:spPr>
          <a:xfrm>
            <a:off x="4571975" y="489063"/>
            <a:ext cx="0" cy="1171200"/>
          </a:xfrm>
          <a:prstGeom prst="straightConnector1">
            <a:avLst/>
          </a:prstGeom>
          <a:noFill/>
          <a:ln w="28575" cap="flat" cmpd="sng">
            <a:solidFill>
              <a:schemeClr val="dk1"/>
            </a:solidFill>
            <a:prstDash val="solid"/>
            <a:round/>
            <a:headEnd type="none" w="med" len="med"/>
            <a:tailEnd type="none" w="med" len="med"/>
          </a:ln>
        </p:spPr>
      </p:cxnSp>
      <p:sp>
        <p:nvSpPr>
          <p:cNvPr id="133" name="Google Shape;133;p26"/>
          <p:cNvSpPr/>
          <p:nvPr/>
        </p:nvSpPr>
        <p:spPr>
          <a:xfrm>
            <a:off x="6171050" y="1016363"/>
            <a:ext cx="574800" cy="574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6"/>
          <p:cNvSpPr/>
          <p:nvPr/>
        </p:nvSpPr>
        <p:spPr>
          <a:xfrm>
            <a:off x="4175975" y="72275"/>
            <a:ext cx="792000" cy="792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6"/>
          <p:cNvSpPr/>
          <p:nvPr/>
        </p:nvSpPr>
        <p:spPr>
          <a:xfrm>
            <a:off x="5417701" y="295950"/>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p:nvPr/>
        </p:nvSpPr>
        <p:spPr>
          <a:xfrm>
            <a:off x="3074952" y="295950"/>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6"/>
          <p:cNvSpPr/>
          <p:nvPr/>
        </p:nvSpPr>
        <p:spPr>
          <a:xfrm>
            <a:off x="2398100" y="1016363"/>
            <a:ext cx="574800" cy="574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 name="Google Shape;138;p26"/>
          <p:cNvGrpSpPr/>
          <p:nvPr/>
        </p:nvGrpSpPr>
        <p:grpSpPr>
          <a:xfrm>
            <a:off x="4315262" y="207323"/>
            <a:ext cx="513333" cy="521904"/>
            <a:chOff x="850092" y="3352934"/>
            <a:chExt cx="369517" cy="375660"/>
          </a:xfrm>
        </p:grpSpPr>
        <p:sp>
          <p:nvSpPr>
            <p:cNvPr id="139" name="Google Shape;139;p26"/>
            <p:cNvSpPr/>
            <p:nvPr/>
          </p:nvSpPr>
          <p:spPr>
            <a:xfrm>
              <a:off x="969859" y="3475692"/>
              <a:ext cx="53088" cy="53088"/>
            </a:xfrm>
            <a:custGeom>
              <a:avLst/>
              <a:gdLst/>
              <a:ahLst/>
              <a:cxnLst/>
              <a:rect l="l" t="t" r="r" b="b"/>
              <a:pathLst>
                <a:path w="1668" h="1668" extrusionOk="0">
                  <a:moveTo>
                    <a:pt x="834" y="346"/>
                  </a:moveTo>
                  <a:cubicBezTo>
                    <a:pt x="1108" y="346"/>
                    <a:pt x="1322" y="560"/>
                    <a:pt x="1322" y="834"/>
                  </a:cubicBezTo>
                  <a:cubicBezTo>
                    <a:pt x="1322" y="1096"/>
                    <a:pt x="1108" y="1322"/>
                    <a:pt x="834" y="1322"/>
                  </a:cubicBezTo>
                  <a:cubicBezTo>
                    <a:pt x="548" y="1322"/>
                    <a:pt x="346" y="1096"/>
                    <a:pt x="346" y="834"/>
                  </a:cubicBezTo>
                  <a:cubicBezTo>
                    <a:pt x="346" y="560"/>
                    <a:pt x="572" y="346"/>
                    <a:pt x="834" y="346"/>
                  </a:cubicBezTo>
                  <a:close/>
                  <a:moveTo>
                    <a:pt x="834" y="1"/>
                  </a:moveTo>
                  <a:cubicBezTo>
                    <a:pt x="369" y="1"/>
                    <a:pt x="0" y="370"/>
                    <a:pt x="0" y="834"/>
                  </a:cubicBezTo>
                  <a:cubicBezTo>
                    <a:pt x="0" y="1299"/>
                    <a:pt x="369" y="1668"/>
                    <a:pt x="834" y="1668"/>
                  </a:cubicBezTo>
                  <a:cubicBezTo>
                    <a:pt x="1298" y="1668"/>
                    <a:pt x="1667" y="1299"/>
                    <a:pt x="1667" y="834"/>
                  </a:cubicBezTo>
                  <a:cubicBezTo>
                    <a:pt x="1667" y="370"/>
                    <a:pt x="1298" y="1"/>
                    <a:pt x="8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1046786" y="3552237"/>
              <a:ext cx="53088" cy="53088"/>
            </a:xfrm>
            <a:custGeom>
              <a:avLst/>
              <a:gdLst/>
              <a:ahLst/>
              <a:cxnLst/>
              <a:rect l="l" t="t" r="r" b="b"/>
              <a:pathLst>
                <a:path w="1668" h="1668" extrusionOk="0">
                  <a:moveTo>
                    <a:pt x="834" y="346"/>
                  </a:moveTo>
                  <a:cubicBezTo>
                    <a:pt x="1096" y="346"/>
                    <a:pt x="1322" y="572"/>
                    <a:pt x="1322" y="834"/>
                  </a:cubicBezTo>
                  <a:cubicBezTo>
                    <a:pt x="1322" y="1108"/>
                    <a:pt x="1096" y="1334"/>
                    <a:pt x="834" y="1334"/>
                  </a:cubicBezTo>
                  <a:cubicBezTo>
                    <a:pt x="560" y="1334"/>
                    <a:pt x="334" y="1108"/>
                    <a:pt x="334" y="834"/>
                  </a:cubicBezTo>
                  <a:cubicBezTo>
                    <a:pt x="334" y="572"/>
                    <a:pt x="560" y="346"/>
                    <a:pt x="834" y="346"/>
                  </a:cubicBezTo>
                  <a:close/>
                  <a:moveTo>
                    <a:pt x="834" y="1"/>
                  </a:moveTo>
                  <a:cubicBezTo>
                    <a:pt x="369" y="1"/>
                    <a:pt x="0" y="382"/>
                    <a:pt x="0" y="834"/>
                  </a:cubicBezTo>
                  <a:cubicBezTo>
                    <a:pt x="0" y="1299"/>
                    <a:pt x="369" y="1668"/>
                    <a:pt x="834" y="1668"/>
                  </a:cubicBezTo>
                  <a:cubicBezTo>
                    <a:pt x="1286" y="1668"/>
                    <a:pt x="1667" y="1299"/>
                    <a:pt x="1667" y="834"/>
                  </a:cubicBezTo>
                  <a:cubicBezTo>
                    <a:pt x="1667" y="382"/>
                    <a:pt x="1286" y="1"/>
                    <a:pt x="8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984245" y="3485272"/>
              <a:ext cx="106527" cy="104999"/>
            </a:xfrm>
            <a:custGeom>
              <a:avLst/>
              <a:gdLst/>
              <a:ahLst/>
              <a:cxnLst/>
              <a:rect l="l" t="t" r="r" b="b"/>
              <a:pathLst>
                <a:path w="3347" h="3299" extrusionOk="0">
                  <a:moveTo>
                    <a:pt x="3160" y="0"/>
                  </a:moveTo>
                  <a:cubicBezTo>
                    <a:pt x="3117" y="0"/>
                    <a:pt x="3073" y="15"/>
                    <a:pt x="3037" y="45"/>
                  </a:cubicBezTo>
                  <a:lnTo>
                    <a:pt x="72" y="2998"/>
                  </a:lnTo>
                  <a:cubicBezTo>
                    <a:pt x="1" y="3081"/>
                    <a:pt x="1" y="3176"/>
                    <a:pt x="72" y="3236"/>
                  </a:cubicBezTo>
                  <a:cubicBezTo>
                    <a:pt x="108" y="3278"/>
                    <a:pt x="152" y="3298"/>
                    <a:pt x="196" y="3298"/>
                  </a:cubicBezTo>
                  <a:cubicBezTo>
                    <a:pt x="239" y="3298"/>
                    <a:pt x="280" y="3278"/>
                    <a:pt x="310" y="3236"/>
                  </a:cubicBezTo>
                  <a:lnTo>
                    <a:pt x="3275" y="283"/>
                  </a:lnTo>
                  <a:cubicBezTo>
                    <a:pt x="3346" y="200"/>
                    <a:pt x="3346" y="105"/>
                    <a:pt x="3275" y="45"/>
                  </a:cubicBezTo>
                  <a:cubicBezTo>
                    <a:pt x="3245" y="15"/>
                    <a:pt x="3203" y="0"/>
                    <a:pt x="3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922850" y="3428715"/>
              <a:ext cx="223620" cy="223620"/>
            </a:xfrm>
            <a:custGeom>
              <a:avLst/>
              <a:gdLst/>
              <a:ahLst/>
              <a:cxnLst/>
              <a:rect l="l" t="t" r="r" b="b"/>
              <a:pathLst>
                <a:path w="7026" h="7026" extrusionOk="0">
                  <a:moveTo>
                    <a:pt x="3513" y="0"/>
                  </a:moveTo>
                  <a:cubicBezTo>
                    <a:pt x="1584" y="0"/>
                    <a:pt x="1" y="1584"/>
                    <a:pt x="1" y="3513"/>
                  </a:cubicBezTo>
                  <a:cubicBezTo>
                    <a:pt x="1" y="5453"/>
                    <a:pt x="1584" y="7025"/>
                    <a:pt x="3513" y="7025"/>
                  </a:cubicBezTo>
                  <a:cubicBezTo>
                    <a:pt x="5454" y="7025"/>
                    <a:pt x="7026" y="5453"/>
                    <a:pt x="7026" y="3513"/>
                  </a:cubicBezTo>
                  <a:cubicBezTo>
                    <a:pt x="7026" y="1834"/>
                    <a:pt x="5835" y="393"/>
                    <a:pt x="4204" y="60"/>
                  </a:cubicBezTo>
                  <a:cubicBezTo>
                    <a:pt x="4196" y="59"/>
                    <a:pt x="4188" y="58"/>
                    <a:pt x="4180" y="58"/>
                  </a:cubicBezTo>
                  <a:cubicBezTo>
                    <a:pt x="4095" y="58"/>
                    <a:pt x="4022" y="115"/>
                    <a:pt x="3989" y="191"/>
                  </a:cubicBezTo>
                  <a:cubicBezTo>
                    <a:pt x="3978" y="286"/>
                    <a:pt x="4037" y="369"/>
                    <a:pt x="4132" y="405"/>
                  </a:cubicBezTo>
                  <a:cubicBezTo>
                    <a:pt x="5597" y="703"/>
                    <a:pt x="6692" y="2001"/>
                    <a:pt x="6692" y="3513"/>
                  </a:cubicBezTo>
                  <a:cubicBezTo>
                    <a:pt x="6692" y="5251"/>
                    <a:pt x="5263" y="6680"/>
                    <a:pt x="3513" y="6680"/>
                  </a:cubicBezTo>
                  <a:cubicBezTo>
                    <a:pt x="1775" y="6680"/>
                    <a:pt x="346" y="5251"/>
                    <a:pt x="346" y="3513"/>
                  </a:cubicBezTo>
                  <a:cubicBezTo>
                    <a:pt x="346" y="1774"/>
                    <a:pt x="1775" y="346"/>
                    <a:pt x="3513" y="346"/>
                  </a:cubicBezTo>
                  <a:cubicBezTo>
                    <a:pt x="3608" y="346"/>
                    <a:pt x="3692" y="274"/>
                    <a:pt x="3692" y="167"/>
                  </a:cubicBezTo>
                  <a:cubicBezTo>
                    <a:pt x="3680" y="72"/>
                    <a:pt x="3608" y="0"/>
                    <a:pt x="3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850092" y="3352934"/>
              <a:ext cx="369517" cy="375660"/>
            </a:xfrm>
            <a:custGeom>
              <a:avLst/>
              <a:gdLst/>
              <a:ahLst/>
              <a:cxnLst/>
              <a:rect l="l" t="t" r="r" b="b"/>
              <a:pathLst>
                <a:path w="11610" h="11803" extrusionOk="0">
                  <a:moveTo>
                    <a:pt x="5804" y="0"/>
                  </a:moveTo>
                  <a:cubicBezTo>
                    <a:pt x="5801" y="0"/>
                    <a:pt x="5799" y="0"/>
                    <a:pt x="5799" y="0"/>
                  </a:cubicBezTo>
                  <a:cubicBezTo>
                    <a:pt x="5585" y="0"/>
                    <a:pt x="5371" y="119"/>
                    <a:pt x="5252" y="310"/>
                  </a:cubicBezTo>
                  <a:lnTo>
                    <a:pt x="4573" y="1453"/>
                  </a:lnTo>
                  <a:cubicBezTo>
                    <a:pt x="4515" y="1551"/>
                    <a:pt x="4424" y="1605"/>
                    <a:pt x="4326" y="1605"/>
                  </a:cubicBezTo>
                  <a:cubicBezTo>
                    <a:pt x="4281" y="1605"/>
                    <a:pt x="4236" y="1594"/>
                    <a:pt x="4192" y="1572"/>
                  </a:cubicBezTo>
                  <a:lnTo>
                    <a:pt x="2977" y="1060"/>
                  </a:lnTo>
                  <a:cubicBezTo>
                    <a:pt x="2889" y="1020"/>
                    <a:pt x="2800" y="1002"/>
                    <a:pt x="2713" y="1002"/>
                  </a:cubicBezTo>
                  <a:cubicBezTo>
                    <a:pt x="2355" y="1002"/>
                    <a:pt x="2046" y="1312"/>
                    <a:pt x="2084" y="1715"/>
                  </a:cubicBezTo>
                  <a:lnTo>
                    <a:pt x="2204" y="3036"/>
                  </a:lnTo>
                  <a:cubicBezTo>
                    <a:pt x="2215" y="3179"/>
                    <a:pt x="2108" y="3322"/>
                    <a:pt x="1965" y="3346"/>
                  </a:cubicBezTo>
                  <a:lnTo>
                    <a:pt x="668" y="3643"/>
                  </a:lnTo>
                  <a:cubicBezTo>
                    <a:pt x="191" y="3751"/>
                    <a:pt x="1" y="4334"/>
                    <a:pt x="322" y="4703"/>
                  </a:cubicBezTo>
                  <a:lnTo>
                    <a:pt x="1203" y="5703"/>
                  </a:lnTo>
                  <a:cubicBezTo>
                    <a:pt x="1311" y="5822"/>
                    <a:pt x="1311" y="5989"/>
                    <a:pt x="1203" y="6084"/>
                  </a:cubicBezTo>
                  <a:lnTo>
                    <a:pt x="322" y="7084"/>
                  </a:lnTo>
                  <a:cubicBezTo>
                    <a:pt x="179" y="7263"/>
                    <a:pt x="132" y="7489"/>
                    <a:pt x="191" y="7715"/>
                  </a:cubicBezTo>
                  <a:cubicBezTo>
                    <a:pt x="263" y="7930"/>
                    <a:pt x="441" y="8084"/>
                    <a:pt x="668" y="8144"/>
                  </a:cubicBezTo>
                  <a:lnTo>
                    <a:pt x="1025" y="8215"/>
                  </a:lnTo>
                  <a:cubicBezTo>
                    <a:pt x="1033" y="8216"/>
                    <a:pt x="1041" y="8217"/>
                    <a:pt x="1049" y="8217"/>
                  </a:cubicBezTo>
                  <a:cubicBezTo>
                    <a:pt x="1136" y="8217"/>
                    <a:pt x="1217" y="8161"/>
                    <a:pt x="1239" y="8084"/>
                  </a:cubicBezTo>
                  <a:cubicBezTo>
                    <a:pt x="1251" y="7989"/>
                    <a:pt x="1192" y="7894"/>
                    <a:pt x="1096" y="7870"/>
                  </a:cubicBezTo>
                  <a:lnTo>
                    <a:pt x="739" y="7799"/>
                  </a:lnTo>
                  <a:cubicBezTo>
                    <a:pt x="644" y="7775"/>
                    <a:pt x="560" y="7692"/>
                    <a:pt x="525" y="7608"/>
                  </a:cubicBezTo>
                  <a:cubicBezTo>
                    <a:pt x="489" y="7501"/>
                    <a:pt x="501" y="7394"/>
                    <a:pt x="584" y="7322"/>
                  </a:cubicBezTo>
                  <a:lnTo>
                    <a:pt x="1453" y="6322"/>
                  </a:lnTo>
                  <a:cubicBezTo>
                    <a:pt x="1668" y="6084"/>
                    <a:pt x="1668" y="5715"/>
                    <a:pt x="1453" y="5477"/>
                  </a:cubicBezTo>
                  <a:lnTo>
                    <a:pt x="584" y="4477"/>
                  </a:lnTo>
                  <a:cubicBezTo>
                    <a:pt x="430" y="4322"/>
                    <a:pt x="525" y="4048"/>
                    <a:pt x="739" y="3989"/>
                  </a:cubicBezTo>
                  <a:lnTo>
                    <a:pt x="2037" y="3691"/>
                  </a:lnTo>
                  <a:cubicBezTo>
                    <a:pt x="2346" y="3620"/>
                    <a:pt x="2573" y="3322"/>
                    <a:pt x="2549" y="3012"/>
                  </a:cubicBezTo>
                  <a:lnTo>
                    <a:pt x="2430" y="1679"/>
                  </a:lnTo>
                  <a:cubicBezTo>
                    <a:pt x="2410" y="1503"/>
                    <a:pt x="2559" y="1359"/>
                    <a:pt x="2731" y="1359"/>
                  </a:cubicBezTo>
                  <a:cubicBezTo>
                    <a:pt x="2769" y="1359"/>
                    <a:pt x="2808" y="1366"/>
                    <a:pt x="2846" y="1381"/>
                  </a:cubicBezTo>
                  <a:lnTo>
                    <a:pt x="4061" y="1905"/>
                  </a:lnTo>
                  <a:cubicBezTo>
                    <a:pt x="4143" y="1941"/>
                    <a:pt x="4229" y="1958"/>
                    <a:pt x="4314" y="1958"/>
                  </a:cubicBezTo>
                  <a:cubicBezTo>
                    <a:pt x="4536" y="1958"/>
                    <a:pt x="4750" y="1841"/>
                    <a:pt x="4871" y="1643"/>
                  </a:cubicBezTo>
                  <a:lnTo>
                    <a:pt x="5549" y="488"/>
                  </a:lnTo>
                  <a:cubicBezTo>
                    <a:pt x="5609" y="393"/>
                    <a:pt x="5710" y="345"/>
                    <a:pt x="5810" y="345"/>
                  </a:cubicBezTo>
                  <a:cubicBezTo>
                    <a:pt x="5909" y="345"/>
                    <a:pt x="6008" y="393"/>
                    <a:pt x="6061" y="488"/>
                  </a:cubicBezTo>
                  <a:lnTo>
                    <a:pt x="6740" y="1643"/>
                  </a:lnTo>
                  <a:cubicBezTo>
                    <a:pt x="6861" y="1842"/>
                    <a:pt x="7077" y="1953"/>
                    <a:pt x="7300" y="1953"/>
                  </a:cubicBezTo>
                  <a:cubicBezTo>
                    <a:pt x="7383" y="1953"/>
                    <a:pt x="7468" y="1938"/>
                    <a:pt x="7549" y="1905"/>
                  </a:cubicBezTo>
                  <a:lnTo>
                    <a:pt x="8764" y="1381"/>
                  </a:lnTo>
                  <a:cubicBezTo>
                    <a:pt x="8802" y="1366"/>
                    <a:pt x="8841" y="1359"/>
                    <a:pt x="8878" y="1359"/>
                  </a:cubicBezTo>
                  <a:cubicBezTo>
                    <a:pt x="9048" y="1359"/>
                    <a:pt x="9190" y="1503"/>
                    <a:pt x="9181" y="1679"/>
                  </a:cubicBezTo>
                  <a:lnTo>
                    <a:pt x="9062" y="3012"/>
                  </a:lnTo>
                  <a:cubicBezTo>
                    <a:pt x="9038" y="3334"/>
                    <a:pt x="9240" y="3620"/>
                    <a:pt x="9574" y="3691"/>
                  </a:cubicBezTo>
                  <a:lnTo>
                    <a:pt x="10859" y="3989"/>
                  </a:lnTo>
                  <a:cubicBezTo>
                    <a:pt x="11086" y="4036"/>
                    <a:pt x="11181" y="4298"/>
                    <a:pt x="11026" y="4477"/>
                  </a:cubicBezTo>
                  <a:lnTo>
                    <a:pt x="10145" y="5477"/>
                  </a:lnTo>
                  <a:cubicBezTo>
                    <a:pt x="9943" y="5715"/>
                    <a:pt x="9943" y="6084"/>
                    <a:pt x="10145" y="6322"/>
                  </a:cubicBezTo>
                  <a:lnTo>
                    <a:pt x="11026" y="7322"/>
                  </a:lnTo>
                  <a:cubicBezTo>
                    <a:pt x="11181" y="7489"/>
                    <a:pt x="11086" y="7751"/>
                    <a:pt x="10859" y="7811"/>
                  </a:cubicBezTo>
                  <a:lnTo>
                    <a:pt x="9574" y="8108"/>
                  </a:lnTo>
                  <a:cubicBezTo>
                    <a:pt x="9252" y="8192"/>
                    <a:pt x="9038" y="8489"/>
                    <a:pt x="9062" y="8799"/>
                  </a:cubicBezTo>
                  <a:lnTo>
                    <a:pt x="9181" y="10120"/>
                  </a:lnTo>
                  <a:cubicBezTo>
                    <a:pt x="9190" y="10302"/>
                    <a:pt x="9054" y="10445"/>
                    <a:pt x="8889" y="10445"/>
                  </a:cubicBezTo>
                  <a:cubicBezTo>
                    <a:pt x="8848" y="10445"/>
                    <a:pt x="8806" y="10437"/>
                    <a:pt x="8764" y="10418"/>
                  </a:cubicBezTo>
                  <a:lnTo>
                    <a:pt x="7549" y="9894"/>
                  </a:lnTo>
                  <a:cubicBezTo>
                    <a:pt x="7468" y="9858"/>
                    <a:pt x="7382" y="9841"/>
                    <a:pt x="7298" y="9841"/>
                  </a:cubicBezTo>
                  <a:cubicBezTo>
                    <a:pt x="7076" y="9841"/>
                    <a:pt x="6861" y="9961"/>
                    <a:pt x="6740" y="10168"/>
                  </a:cubicBezTo>
                  <a:lnTo>
                    <a:pt x="6061" y="11311"/>
                  </a:lnTo>
                  <a:cubicBezTo>
                    <a:pt x="6002" y="11406"/>
                    <a:pt x="5900" y="11454"/>
                    <a:pt x="5801" y="11454"/>
                  </a:cubicBezTo>
                  <a:cubicBezTo>
                    <a:pt x="5701" y="11454"/>
                    <a:pt x="5603" y="11406"/>
                    <a:pt x="5549" y="11311"/>
                  </a:cubicBezTo>
                  <a:lnTo>
                    <a:pt x="4871" y="10168"/>
                  </a:lnTo>
                  <a:cubicBezTo>
                    <a:pt x="4749" y="9960"/>
                    <a:pt x="4533" y="9846"/>
                    <a:pt x="4309" y="9846"/>
                  </a:cubicBezTo>
                  <a:cubicBezTo>
                    <a:pt x="4226" y="9846"/>
                    <a:pt x="4142" y="9862"/>
                    <a:pt x="4061" y="9894"/>
                  </a:cubicBezTo>
                  <a:lnTo>
                    <a:pt x="2846" y="10418"/>
                  </a:lnTo>
                  <a:cubicBezTo>
                    <a:pt x="2804" y="10437"/>
                    <a:pt x="2762" y="10445"/>
                    <a:pt x="2721" y="10445"/>
                  </a:cubicBezTo>
                  <a:cubicBezTo>
                    <a:pt x="2553" y="10445"/>
                    <a:pt x="2411" y="10302"/>
                    <a:pt x="2430" y="10120"/>
                  </a:cubicBezTo>
                  <a:lnTo>
                    <a:pt x="2549" y="8799"/>
                  </a:lnTo>
                  <a:cubicBezTo>
                    <a:pt x="2573" y="8465"/>
                    <a:pt x="2370" y="8192"/>
                    <a:pt x="2037" y="8108"/>
                  </a:cubicBezTo>
                  <a:lnTo>
                    <a:pt x="1727" y="8037"/>
                  </a:lnTo>
                  <a:cubicBezTo>
                    <a:pt x="1719" y="8036"/>
                    <a:pt x="1711" y="8035"/>
                    <a:pt x="1703" y="8035"/>
                  </a:cubicBezTo>
                  <a:cubicBezTo>
                    <a:pt x="1616" y="8035"/>
                    <a:pt x="1535" y="8092"/>
                    <a:pt x="1513" y="8168"/>
                  </a:cubicBezTo>
                  <a:cubicBezTo>
                    <a:pt x="1501" y="8263"/>
                    <a:pt x="1561" y="8370"/>
                    <a:pt x="1656" y="8382"/>
                  </a:cubicBezTo>
                  <a:lnTo>
                    <a:pt x="1965" y="8454"/>
                  </a:lnTo>
                  <a:cubicBezTo>
                    <a:pt x="2108" y="8489"/>
                    <a:pt x="2204" y="8620"/>
                    <a:pt x="2204" y="8763"/>
                  </a:cubicBezTo>
                  <a:lnTo>
                    <a:pt x="2084" y="10097"/>
                  </a:lnTo>
                  <a:cubicBezTo>
                    <a:pt x="2046" y="10493"/>
                    <a:pt x="2361" y="10804"/>
                    <a:pt x="2723" y="10804"/>
                  </a:cubicBezTo>
                  <a:cubicBezTo>
                    <a:pt x="2807" y="10804"/>
                    <a:pt x="2893" y="10787"/>
                    <a:pt x="2977" y="10751"/>
                  </a:cubicBezTo>
                  <a:lnTo>
                    <a:pt x="4192" y="10228"/>
                  </a:lnTo>
                  <a:cubicBezTo>
                    <a:pt x="4230" y="10212"/>
                    <a:pt x="4269" y="10204"/>
                    <a:pt x="4308" y="10204"/>
                  </a:cubicBezTo>
                  <a:cubicBezTo>
                    <a:pt x="4413" y="10204"/>
                    <a:pt x="4512" y="10259"/>
                    <a:pt x="4573" y="10347"/>
                  </a:cubicBezTo>
                  <a:lnTo>
                    <a:pt x="5252" y="11490"/>
                  </a:lnTo>
                  <a:cubicBezTo>
                    <a:pt x="5377" y="11698"/>
                    <a:pt x="5594" y="11802"/>
                    <a:pt x="5810" y="11802"/>
                  </a:cubicBezTo>
                  <a:cubicBezTo>
                    <a:pt x="6025" y="11802"/>
                    <a:pt x="6240" y="11698"/>
                    <a:pt x="6359" y="11490"/>
                  </a:cubicBezTo>
                  <a:lnTo>
                    <a:pt x="7037" y="10347"/>
                  </a:lnTo>
                  <a:cubicBezTo>
                    <a:pt x="7088" y="10253"/>
                    <a:pt x="7188" y="10202"/>
                    <a:pt x="7288" y="10202"/>
                  </a:cubicBezTo>
                  <a:cubicBezTo>
                    <a:pt x="7328" y="10202"/>
                    <a:pt x="7369" y="10211"/>
                    <a:pt x="7407" y="10228"/>
                  </a:cubicBezTo>
                  <a:lnTo>
                    <a:pt x="8633" y="10751"/>
                  </a:lnTo>
                  <a:cubicBezTo>
                    <a:pt x="8715" y="10787"/>
                    <a:pt x="8800" y="10804"/>
                    <a:pt x="8883" y="10804"/>
                  </a:cubicBezTo>
                  <a:cubicBezTo>
                    <a:pt x="9242" y="10804"/>
                    <a:pt x="9565" y="10493"/>
                    <a:pt x="9526" y="10097"/>
                  </a:cubicBezTo>
                  <a:lnTo>
                    <a:pt x="9407" y="8763"/>
                  </a:lnTo>
                  <a:cubicBezTo>
                    <a:pt x="9395" y="8620"/>
                    <a:pt x="9490" y="8489"/>
                    <a:pt x="9645" y="8454"/>
                  </a:cubicBezTo>
                  <a:lnTo>
                    <a:pt x="10943" y="8156"/>
                  </a:lnTo>
                  <a:cubicBezTo>
                    <a:pt x="11419" y="8049"/>
                    <a:pt x="11609" y="7477"/>
                    <a:pt x="11276" y="7096"/>
                  </a:cubicBezTo>
                  <a:lnTo>
                    <a:pt x="10407" y="6084"/>
                  </a:lnTo>
                  <a:cubicBezTo>
                    <a:pt x="10300" y="5965"/>
                    <a:pt x="10300" y="5810"/>
                    <a:pt x="10407" y="5703"/>
                  </a:cubicBezTo>
                  <a:lnTo>
                    <a:pt x="11276" y="4703"/>
                  </a:lnTo>
                  <a:cubicBezTo>
                    <a:pt x="11609" y="4334"/>
                    <a:pt x="11419" y="3751"/>
                    <a:pt x="10943" y="3643"/>
                  </a:cubicBezTo>
                  <a:lnTo>
                    <a:pt x="9645" y="3346"/>
                  </a:lnTo>
                  <a:cubicBezTo>
                    <a:pt x="9490" y="3322"/>
                    <a:pt x="9407" y="3179"/>
                    <a:pt x="9407" y="3036"/>
                  </a:cubicBezTo>
                  <a:lnTo>
                    <a:pt x="9526" y="1715"/>
                  </a:lnTo>
                  <a:cubicBezTo>
                    <a:pt x="9564" y="1312"/>
                    <a:pt x="9248" y="1002"/>
                    <a:pt x="8893" y="1002"/>
                  </a:cubicBezTo>
                  <a:cubicBezTo>
                    <a:pt x="8807" y="1002"/>
                    <a:pt x="8719" y="1020"/>
                    <a:pt x="8633" y="1060"/>
                  </a:cubicBezTo>
                  <a:lnTo>
                    <a:pt x="7407" y="1572"/>
                  </a:lnTo>
                  <a:cubicBezTo>
                    <a:pt x="7371" y="1588"/>
                    <a:pt x="7334" y="1595"/>
                    <a:pt x="7296" y="1595"/>
                  </a:cubicBezTo>
                  <a:cubicBezTo>
                    <a:pt x="7193" y="1595"/>
                    <a:pt x="7090" y="1540"/>
                    <a:pt x="7037" y="1453"/>
                  </a:cubicBezTo>
                  <a:lnTo>
                    <a:pt x="6359" y="310"/>
                  </a:lnTo>
                  <a:cubicBezTo>
                    <a:pt x="6170" y="10"/>
                    <a:pt x="5848" y="0"/>
                    <a:pt x="5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26"/>
          <p:cNvSpPr/>
          <p:nvPr/>
        </p:nvSpPr>
        <p:spPr>
          <a:xfrm>
            <a:off x="2499420" y="1117695"/>
            <a:ext cx="372159" cy="372159"/>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5" name="Google Shape;145;p26"/>
          <p:cNvGrpSpPr/>
          <p:nvPr/>
        </p:nvGrpSpPr>
        <p:grpSpPr>
          <a:xfrm>
            <a:off x="5575721" y="453189"/>
            <a:ext cx="336492" cy="336854"/>
            <a:chOff x="3539102" y="2427549"/>
            <a:chExt cx="355099" cy="355481"/>
          </a:xfrm>
        </p:grpSpPr>
        <p:sp>
          <p:nvSpPr>
            <p:cNvPr id="146" name="Google Shape;146;p26"/>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26"/>
          <p:cNvGrpSpPr/>
          <p:nvPr/>
        </p:nvGrpSpPr>
        <p:grpSpPr>
          <a:xfrm>
            <a:off x="3199894" y="439413"/>
            <a:ext cx="402374" cy="362502"/>
            <a:chOff x="3988156" y="3380210"/>
            <a:chExt cx="353954" cy="318880"/>
          </a:xfrm>
        </p:grpSpPr>
        <p:sp>
          <p:nvSpPr>
            <p:cNvPr id="149" name="Google Shape;149;p26"/>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26"/>
          <p:cNvGrpSpPr/>
          <p:nvPr/>
        </p:nvGrpSpPr>
        <p:grpSpPr>
          <a:xfrm>
            <a:off x="6312295" y="1136251"/>
            <a:ext cx="336512" cy="335048"/>
            <a:chOff x="3996113" y="4291176"/>
            <a:chExt cx="336512" cy="335048"/>
          </a:xfrm>
        </p:grpSpPr>
        <p:sp>
          <p:nvSpPr>
            <p:cNvPr id="155" name="Google Shape;155;p26"/>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720000" y="3979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Auswahl der Rechtsformen</a:t>
            </a:r>
            <a:endParaRPr dirty="0"/>
          </a:p>
        </p:txBody>
      </p:sp>
      <p:cxnSp>
        <p:nvCxnSpPr>
          <p:cNvPr id="185" name="Google Shape;185;p28"/>
          <p:cNvCxnSpPr>
            <a:cxnSpLocks/>
          </p:cNvCxnSpPr>
          <p:nvPr/>
        </p:nvCxnSpPr>
        <p:spPr>
          <a:xfrm>
            <a:off x="-42150" y="1748850"/>
            <a:ext cx="1660800" cy="0"/>
          </a:xfrm>
          <a:prstGeom prst="straightConnector1">
            <a:avLst/>
          </a:prstGeom>
          <a:noFill/>
          <a:ln w="28575" cap="flat" cmpd="sng">
            <a:solidFill>
              <a:schemeClr val="dk1"/>
            </a:solidFill>
            <a:prstDash val="solid"/>
            <a:round/>
            <a:headEnd type="none" w="med" len="med"/>
            <a:tailEnd type="none" w="med" len="med"/>
          </a:ln>
        </p:spPr>
      </p:cxnSp>
      <p:cxnSp>
        <p:nvCxnSpPr>
          <p:cNvPr id="186" name="Google Shape;186;p28"/>
          <p:cNvCxnSpPr>
            <a:cxnSpLocks/>
          </p:cNvCxnSpPr>
          <p:nvPr/>
        </p:nvCxnSpPr>
        <p:spPr>
          <a:xfrm>
            <a:off x="7602150" y="1748850"/>
            <a:ext cx="1643700" cy="0"/>
          </a:xfrm>
          <a:prstGeom prst="straightConnector1">
            <a:avLst/>
          </a:prstGeom>
          <a:noFill/>
          <a:ln w="28575" cap="flat" cmpd="sng">
            <a:solidFill>
              <a:schemeClr val="dk1"/>
            </a:solidFill>
            <a:prstDash val="solid"/>
            <a:round/>
            <a:headEnd type="none" w="med" len="med"/>
            <a:tailEnd type="none" w="med" len="med"/>
          </a:ln>
        </p:spPr>
      </p:cxnSp>
      <p:pic>
        <p:nvPicPr>
          <p:cNvPr id="24" name="Grafik 23" descr="▷ Rechtsformen » Definition, Erklärung &amp; Beispiele + Übungsfragen">
            <a:extLst>
              <a:ext uri="{FF2B5EF4-FFF2-40B4-BE49-F238E27FC236}">
                <a16:creationId xmlns:a16="http://schemas.microsoft.com/office/drawing/2014/main" id="{3F02E92D-A475-A64E-5027-5B07B6693BC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9355" b="7812"/>
          <a:stretch/>
        </p:blipFill>
        <p:spPr bwMode="auto">
          <a:xfrm>
            <a:off x="1315762" y="1329399"/>
            <a:ext cx="6512476" cy="3573052"/>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10" name="Google Shape;210;p31"/>
          <p:cNvSpPr txBox="1">
            <a:spLocks noGrp="1"/>
          </p:cNvSpPr>
          <p:nvPr>
            <p:ph type="title"/>
          </p:nvPr>
        </p:nvSpPr>
        <p:spPr>
          <a:xfrm>
            <a:off x="720000" y="72537"/>
            <a:ext cx="7980868"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AT"/>
              <a:t>Gegenüberstellung: </a:t>
            </a:r>
            <a:br>
              <a:rPr lang="de-AT"/>
            </a:br>
            <a:r>
              <a:rPr lang="de-AT"/>
              <a:t>Einzelunternehmen und GmbH</a:t>
            </a:r>
          </a:p>
        </p:txBody>
      </p:sp>
      <p:graphicFrame>
        <p:nvGraphicFramePr>
          <p:cNvPr id="2" name="Tabelle 1">
            <a:extLst>
              <a:ext uri="{FF2B5EF4-FFF2-40B4-BE49-F238E27FC236}">
                <a16:creationId xmlns:a16="http://schemas.microsoft.com/office/drawing/2014/main" id="{911ABAE8-843B-8391-116F-469FFA2D02A0}"/>
              </a:ext>
            </a:extLst>
          </p:cNvPr>
          <p:cNvGraphicFramePr>
            <a:graphicFrameLocks noGrp="1"/>
          </p:cNvGraphicFramePr>
          <p:nvPr>
            <p:extLst>
              <p:ext uri="{D42A27DB-BD31-4B8C-83A1-F6EECF244321}">
                <p14:modId xmlns:p14="http://schemas.microsoft.com/office/powerpoint/2010/main" val="1588672754"/>
              </p:ext>
            </p:extLst>
          </p:nvPr>
        </p:nvGraphicFramePr>
        <p:xfrm>
          <a:off x="225083" y="1252799"/>
          <a:ext cx="8644596" cy="3403607"/>
        </p:xfrm>
        <a:graphic>
          <a:graphicData uri="http://schemas.openxmlformats.org/drawingml/2006/table">
            <a:tbl>
              <a:tblPr firstRow="1" bandRow="1">
                <a:tableStyleId>{69012ECD-51FC-41F1-AA8D-1B2483CD663E}</a:tableStyleId>
              </a:tblPr>
              <a:tblGrid>
                <a:gridCol w="2538608">
                  <a:extLst>
                    <a:ext uri="{9D8B030D-6E8A-4147-A177-3AD203B41FA5}">
                      <a16:colId xmlns:a16="http://schemas.microsoft.com/office/drawing/2014/main" val="551408303"/>
                    </a:ext>
                  </a:extLst>
                </a:gridCol>
                <a:gridCol w="2687540">
                  <a:extLst>
                    <a:ext uri="{9D8B030D-6E8A-4147-A177-3AD203B41FA5}">
                      <a16:colId xmlns:a16="http://schemas.microsoft.com/office/drawing/2014/main" val="764262971"/>
                    </a:ext>
                  </a:extLst>
                </a:gridCol>
                <a:gridCol w="3418448">
                  <a:extLst>
                    <a:ext uri="{9D8B030D-6E8A-4147-A177-3AD203B41FA5}">
                      <a16:colId xmlns:a16="http://schemas.microsoft.com/office/drawing/2014/main" val="1337282039"/>
                    </a:ext>
                  </a:extLst>
                </a:gridCol>
              </a:tblGrid>
              <a:tr h="441867">
                <a:tc>
                  <a:txBody>
                    <a:bodyPr/>
                    <a:lstStyle/>
                    <a:p>
                      <a:r>
                        <a:rPr lang="de-DE" sz="1300" b="1" dirty="0">
                          <a:latin typeface="Roboto" panose="02000000000000000000" pitchFamily="2" charset="0"/>
                          <a:ea typeface="Roboto" panose="02000000000000000000" pitchFamily="2" charset="0"/>
                          <a:cs typeface="Roboto" panose="02000000000000000000" pitchFamily="2" charset="0"/>
                        </a:rPr>
                        <a:t>Kriterium</a:t>
                      </a:r>
                      <a:endParaRPr lang="de-AT" sz="1300" b="1" i="1" dirty="0">
                        <a:latin typeface="Roboto" panose="02000000000000000000" pitchFamily="2" charset="0"/>
                        <a:ea typeface="Roboto" panose="02000000000000000000" pitchFamily="2" charset="0"/>
                        <a:cs typeface="Roboto" panose="02000000000000000000" pitchFamily="2" charset="0"/>
                      </a:endParaRPr>
                    </a:p>
                  </a:txBody>
                  <a:tcPr marL="86167" marR="86167" marT="43084" marB="43084">
                    <a:solidFill>
                      <a:schemeClr val="tx1"/>
                    </a:solidFill>
                  </a:tcPr>
                </a:tc>
                <a:tc>
                  <a:txBody>
                    <a:bodyPr/>
                    <a:lstStyle/>
                    <a:p>
                      <a:r>
                        <a:rPr lang="de-DE" sz="1300" b="1">
                          <a:latin typeface="Roboto" panose="02000000000000000000" pitchFamily="2" charset="0"/>
                          <a:ea typeface="Roboto" panose="02000000000000000000" pitchFamily="2" charset="0"/>
                          <a:cs typeface="Roboto" panose="02000000000000000000" pitchFamily="2" charset="0"/>
                        </a:rPr>
                        <a:t>Einzelunternehmen</a:t>
                      </a:r>
                      <a:endParaRPr lang="de-AT" sz="1300" b="1" i="1">
                        <a:latin typeface="Roboto" panose="02000000000000000000" pitchFamily="2" charset="0"/>
                        <a:ea typeface="Roboto" panose="02000000000000000000" pitchFamily="2" charset="0"/>
                        <a:cs typeface="Roboto" panose="02000000000000000000" pitchFamily="2" charset="0"/>
                      </a:endParaRPr>
                    </a:p>
                  </a:txBody>
                  <a:tcPr marL="86167" marR="86167" marT="43084" marB="43084">
                    <a:solidFill>
                      <a:schemeClr val="tx1"/>
                    </a:solidFill>
                  </a:tcPr>
                </a:tc>
                <a:tc>
                  <a:txBody>
                    <a:bodyPr/>
                    <a:lstStyle/>
                    <a:p>
                      <a:r>
                        <a:rPr lang="de-DE" sz="1300" b="1">
                          <a:latin typeface="Roboto" panose="02000000000000000000" pitchFamily="2" charset="0"/>
                          <a:ea typeface="Roboto" panose="02000000000000000000" pitchFamily="2" charset="0"/>
                          <a:cs typeface="Roboto" panose="02000000000000000000" pitchFamily="2" charset="0"/>
                        </a:rPr>
                        <a:t>Gesellschaft mit beschränkter Haftung</a:t>
                      </a:r>
                      <a:endParaRPr lang="de-AT" sz="1300" b="1" i="1">
                        <a:latin typeface="Roboto" panose="02000000000000000000" pitchFamily="2" charset="0"/>
                        <a:ea typeface="Roboto" panose="02000000000000000000" pitchFamily="2" charset="0"/>
                        <a:cs typeface="Roboto" panose="02000000000000000000" pitchFamily="2" charset="0"/>
                      </a:endParaRPr>
                    </a:p>
                  </a:txBody>
                  <a:tcPr marL="86167" marR="86167" marT="43084" marB="43084">
                    <a:solidFill>
                      <a:schemeClr val="tx1"/>
                    </a:solidFill>
                  </a:tcPr>
                </a:tc>
                <a:extLst>
                  <a:ext uri="{0D108BD9-81ED-4DB2-BD59-A6C34878D82A}">
                    <a16:rowId xmlns:a16="http://schemas.microsoft.com/office/drawing/2014/main" val="127030518"/>
                  </a:ext>
                </a:extLst>
              </a:tr>
              <a:tr h="515916">
                <a:tc>
                  <a:txBody>
                    <a:bodyPr/>
                    <a:lstStyle/>
                    <a:p>
                      <a:pPr fontAlgn="base"/>
                      <a:r>
                        <a:rPr lang="de-AT" sz="1100" b="1" i="1"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Haftung</a:t>
                      </a:r>
                    </a:p>
                  </a:txBody>
                  <a:tcPr marL="86167" marR="86167" marT="43084" marB="43084" anchor="ctr">
                    <a:solidFill>
                      <a:schemeClr val="tx2">
                        <a:lumMod val="40000"/>
                        <a:lumOff val="60000"/>
                      </a:schemeClr>
                    </a:solidFill>
                  </a:tcPr>
                </a:tc>
                <a:tc>
                  <a:txBody>
                    <a:bodyPr/>
                    <a:lstStyle/>
                    <a:p>
                      <a:pPr fontAlgn="base"/>
                      <a:r>
                        <a:rPr lang="de-AT" sz="1100" b="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Unbeschränkte persönliche Haftung</a:t>
                      </a:r>
                      <a:endParaRPr lang="de-AT" sz="11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tc>
                  <a:txBody>
                    <a:bodyPr/>
                    <a:lstStyle/>
                    <a:p>
                      <a:pPr fontAlgn="base"/>
                      <a:r>
                        <a:rPr lang="de-AT" sz="1100" b="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Haftung beschränkt auf das Gesellschaftsvermögen</a:t>
                      </a:r>
                      <a:endParaRPr lang="de-AT" sz="1100" b="0" i="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extLst>
                  <a:ext uri="{0D108BD9-81ED-4DB2-BD59-A6C34878D82A}">
                    <a16:rowId xmlns:a16="http://schemas.microsoft.com/office/drawing/2014/main" val="822023809"/>
                  </a:ext>
                </a:extLst>
              </a:tr>
              <a:tr h="515916">
                <a:tc>
                  <a:txBody>
                    <a:bodyPr/>
                    <a:lstStyle/>
                    <a:p>
                      <a:pPr fontAlgn="base"/>
                      <a:r>
                        <a:rPr lang="de-AT" sz="1100" b="1" i="1"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Mindestkapital</a:t>
                      </a:r>
                    </a:p>
                  </a:txBody>
                  <a:tcPr marL="86167" marR="86167" marT="43084" marB="43084" anchor="ctr">
                    <a:solidFill>
                      <a:schemeClr val="tx2">
                        <a:lumMod val="40000"/>
                        <a:lumOff val="60000"/>
                      </a:schemeClr>
                    </a:solidFill>
                  </a:tcPr>
                </a:tc>
                <a:tc>
                  <a:txBody>
                    <a:bodyPr/>
                    <a:lstStyle/>
                    <a:p>
                      <a:pPr fontAlgn="base"/>
                      <a:r>
                        <a:rPr lang="de-AT" sz="1100" b="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Kein Mindestkapital</a:t>
                      </a:r>
                      <a:endParaRPr lang="de-AT" sz="1100" b="0" i="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tc>
                  <a:txBody>
                    <a:bodyPr/>
                    <a:lstStyle/>
                    <a:p>
                      <a:pPr fontAlgn="base"/>
                      <a:r>
                        <a:rPr lang="de-DE" sz="1100" b="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10.000 Euro und Stammeinlage mindestens 70 Euro</a:t>
                      </a:r>
                      <a:endParaRPr lang="de-DE" sz="11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extLst>
                  <a:ext uri="{0D108BD9-81ED-4DB2-BD59-A6C34878D82A}">
                    <a16:rowId xmlns:a16="http://schemas.microsoft.com/office/drawing/2014/main" val="1491897066"/>
                  </a:ext>
                </a:extLst>
              </a:tr>
              <a:tr h="706996">
                <a:tc>
                  <a:txBody>
                    <a:bodyPr/>
                    <a:lstStyle/>
                    <a:p>
                      <a:pPr fontAlgn="base"/>
                      <a:r>
                        <a:rPr lang="de-AT" sz="1100" b="1" i="1"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Geschäftsführung</a:t>
                      </a:r>
                    </a:p>
                  </a:txBody>
                  <a:tcPr marL="86167" marR="86167" marT="43084" marB="43084" anchor="ctr">
                    <a:solidFill>
                      <a:schemeClr val="tx2">
                        <a:lumMod val="40000"/>
                        <a:lumOff val="60000"/>
                      </a:schemeClr>
                    </a:solidFill>
                  </a:tcPr>
                </a:tc>
                <a:tc>
                  <a:txBody>
                    <a:bodyPr/>
                    <a:lstStyle/>
                    <a:p>
                      <a:pPr fontAlgn="base"/>
                      <a:r>
                        <a:rPr lang="de-AT" sz="1100" b="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Allein durch den Unternehmer</a:t>
                      </a:r>
                      <a:endParaRPr lang="de-AT" sz="11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tc>
                  <a:txBody>
                    <a:bodyPr/>
                    <a:lstStyle/>
                    <a:p>
                      <a:pPr fontAlgn="base"/>
                      <a:r>
                        <a:rPr lang="de-DE" sz="1100" b="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Durch den Geschäftsführer, ggf. Generalversammlung und Aufsichtsrat</a:t>
                      </a:r>
                      <a:endParaRPr lang="de-DE" sz="1100" b="0" i="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extLst>
                  <a:ext uri="{0D108BD9-81ED-4DB2-BD59-A6C34878D82A}">
                    <a16:rowId xmlns:a16="http://schemas.microsoft.com/office/drawing/2014/main" val="3261755628"/>
                  </a:ext>
                </a:extLst>
              </a:tr>
              <a:tr h="706996">
                <a:tc>
                  <a:txBody>
                    <a:bodyPr/>
                    <a:lstStyle/>
                    <a:p>
                      <a:pPr fontAlgn="base"/>
                      <a:r>
                        <a:rPr lang="de-AT" sz="1100" b="1" i="1"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Gründungs- und Laufende Kosten</a:t>
                      </a:r>
                    </a:p>
                  </a:txBody>
                  <a:tcPr marL="86167" marR="86167" marT="43084" marB="43084" anchor="ctr">
                    <a:solidFill>
                      <a:schemeClr val="tx2">
                        <a:lumMod val="40000"/>
                        <a:lumOff val="60000"/>
                      </a:schemeClr>
                    </a:solidFill>
                  </a:tcPr>
                </a:tc>
                <a:tc>
                  <a:txBody>
                    <a:bodyPr/>
                    <a:lstStyle/>
                    <a:p>
                      <a:pPr fontAlgn="base"/>
                      <a:r>
                        <a:rPr lang="de-DE" sz="1100" b="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In der Regel niedriger, einfacher Gründungsprozess</a:t>
                      </a:r>
                      <a:endParaRPr lang="de-DE" sz="1100" b="0" i="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tc>
                  <a:txBody>
                    <a:bodyPr/>
                    <a:lstStyle/>
                    <a:p>
                      <a:pPr fontAlgn="base"/>
                      <a:r>
                        <a:rPr lang="de-DE" sz="1100" b="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Höher durch Formalitäten, Gründungskosten und laufende Pflichten wie Bilanzierung</a:t>
                      </a:r>
                      <a:endParaRPr lang="de-AT" sz="1100" b="0" i="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extLst>
                  <a:ext uri="{0D108BD9-81ED-4DB2-BD59-A6C34878D82A}">
                    <a16:rowId xmlns:a16="http://schemas.microsoft.com/office/drawing/2014/main" val="3697772837"/>
                  </a:ext>
                </a:extLst>
              </a:tr>
              <a:tr h="515916">
                <a:tc>
                  <a:txBody>
                    <a:bodyPr/>
                    <a:lstStyle/>
                    <a:p>
                      <a:pPr fontAlgn="base"/>
                      <a:r>
                        <a:rPr lang="de-DE" sz="1100" b="1" i="1"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Entscheidungsfreiheit</a:t>
                      </a:r>
                      <a:endParaRPr lang="de-AT" sz="1100" b="1" i="1"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solidFill>
                      <a:schemeClr val="tx2">
                        <a:lumMod val="40000"/>
                        <a:lumOff val="60000"/>
                      </a:schemeClr>
                    </a:solidFill>
                  </a:tcPr>
                </a:tc>
                <a:tc>
                  <a:txBody>
                    <a:bodyPr/>
                    <a:lstStyle/>
                    <a:p>
                      <a:pPr fontAlgn="base"/>
                      <a:r>
                        <a:rPr lang="de-DE" sz="1100" b="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Maximale Entscheidungsfreiheit </a:t>
                      </a:r>
                      <a:endParaRPr lang="de-DE" sz="1100" b="0" i="0" u="none" strike="noStrike" cap="none">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tc>
                  <a:txBody>
                    <a:bodyPr/>
                    <a:lstStyle/>
                    <a:p>
                      <a:pPr fontAlgn="base"/>
                      <a:r>
                        <a:rPr lang="de-DE" sz="1100" b="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rPr>
                        <a:t>Abhängig von der Geschäftsführung oder Gesellschafterversammlung</a:t>
                      </a:r>
                      <a:endParaRPr lang="de-AT" sz="1100" b="0" i="0" u="none" strike="noStrike" cap="none" dirty="0">
                        <a:solidFill>
                          <a:srgbClr val="000000"/>
                        </a:solidFill>
                        <a:effectLst/>
                        <a:latin typeface="Roboto" panose="02000000000000000000" pitchFamily="2" charset="0"/>
                        <a:ea typeface="Roboto" panose="02000000000000000000" pitchFamily="2" charset="0"/>
                        <a:cs typeface="Roboto" panose="02000000000000000000" pitchFamily="2" charset="0"/>
                        <a:sym typeface="Arial"/>
                      </a:endParaRPr>
                    </a:p>
                  </a:txBody>
                  <a:tcPr marL="86167" marR="86167" marT="43084" marB="43084" anchor="ctr"/>
                </a:tc>
                <a:extLst>
                  <a:ext uri="{0D108BD9-81ED-4DB2-BD59-A6C34878D82A}">
                    <a16:rowId xmlns:a16="http://schemas.microsoft.com/office/drawing/2014/main" val="1010311959"/>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TechAccessories: Online vs Stationär</a:t>
            </a:r>
            <a:endParaRPr/>
          </a:p>
        </p:txBody>
      </p:sp>
      <p:sp>
        <p:nvSpPr>
          <p:cNvPr id="232" name="Google Shape;232;p32"/>
          <p:cNvSpPr txBox="1">
            <a:spLocks noGrp="1"/>
          </p:cNvSpPr>
          <p:nvPr>
            <p:ph type="subTitle" idx="4"/>
          </p:nvPr>
        </p:nvSpPr>
        <p:spPr>
          <a:xfrm>
            <a:off x="1886850" y="3483523"/>
            <a:ext cx="2333700" cy="49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Online</a:t>
            </a:r>
            <a:endParaRPr/>
          </a:p>
        </p:txBody>
      </p:sp>
      <p:sp>
        <p:nvSpPr>
          <p:cNvPr id="233" name="Google Shape;233;p32"/>
          <p:cNvSpPr txBox="1">
            <a:spLocks noGrp="1"/>
          </p:cNvSpPr>
          <p:nvPr>
            <p:ph type="subTitle" idx="5"/>
          </p:nvPr>
        </p:nvSpPr>
        <p:spPr>
          <a:xfrm>
            <a:off x="4923452" y="3483523"/>
            <a:ext cx="2333700" cy="49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Stationär</a:t>
            </a:r>
            <a:endParaRPr dirty="0"/>
          </a:p>
        </p:txBody>
      </p:sp>
      <p:sp>
        <p:nvSpPr>
          <p:cNvPr id="234" name="Google Shape;234;p32"/>
          <p:cNvSpPr txBox="1">
            <a:spLocks noGrp="1"/>
          </p:cNvSpPr>
          <p:nvPr>
            <p:ph type="subTitle" idx="1"/>
          </p:nvPr>
        </p:nvSpPr>
        <p:spPr>
          <a:xfrm>
            <a:off x="1886840" y="3793893"/>
            <a:ext cx="2333700" cy="158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a:t>ECG</a:t>
            </a:r>
          </a:p>
          <a:p>
            <a:pPr marL="0" lvl="0" indent="0" algn="ctr" rtl="0">
              <a:spcBef>
                <a:spcPts val="0"/>
              </a:spcBef>
              <a:spcAft>
                <a:spcPts val="0"/>
              </a:spcAft>
              <a:buNone/>
            </a:pPr>
            <a:r>
              <a:rPr lang="de-DE"/>
              <a:t>FAGG</a:t>
            </a:r>
            <a:endParaRPr/>
          </a:p>
        </p:txBody>
      </p:sp>
      <p:sp>
        <p:nvSpPr>
          <p:cNvPr id="237" name="Google Shape;237;p32"/>
          <p:cNvSpPr txBox="1">
            <a:spLocks noGrp="1"/>
          </p:cNvSpPr>
          <p:nvPr>
            <p:ph type="subTitle" idx="6"/>
          </p:nvPr>
        </p:nvSpPr>
        <p:spPr>
          <a:xfrm>
            <a:off x="3405150" y="2298772"/>
            <a:ext cx="2333700" cy="495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B2C</a:t>
            </a:r>
            <a:endParaRPr/>
          </a:p>
        </p:txBody>
      </p:sp>
      <p:sp>
        <p:nvSpPr>
          <p:cNvPr id="239" name="Google Shape;239;p32"/>
          <p:cNvSpPr/>
          <p:nvPr/>
        </p:nvSpPr>
        <p:spPr>
          <a:xfrm>
            <a:off x="4246350" y="1607600"/>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384;p40">
            <a:extLst>
              <a:ext uri="{FF2B5EF4-FFF2-40B4-BE49-F238E27FC236}">
                <a16:creationId xmlns:a16="http://schemas.microsoft.com/office/drawing/2014/main" id="{9FA23CC6-8649-77CB-09FA-A07C9E3545C5}"/>
              </a:ext>
            </a:extLst>
          </p:cNvPr>
          <p:cNvCxnSpPr>
            <a:cxnSpLocks/>
            <a:stCxn id="239" idx="2"/>
          </p:cNvCxnSpPr>
          <p:nvPr/>
        </p:nvCxnSpPr>
        <p:spPr>
          <a:xfrm flipH="1">
            <a:off x="3053700" y="1933250"/>
            <a:ext cx="1192650" cy="14896"/>
          </a:xfrm>
          <a:prstGeom prst="straightConnector1">
            <a:avLst/>
          </a:prstGeom>
          <a:noFill/>
          <a:ln w="28575" cap="flat" cmpd="sng">
            <a:solidFill>
              <a:schemeClr val="dk1"/>
            </a:solidFill>
            <a:prstDash val="solid"/>
            <a:round/>
            <a:headEnd type="none" w="med" len="med"/>
            <a:tailEnd type="none" w="med" len="med"/>
          </a:ln>
        </p:spPr>
      </p:cxnSp>
      <p:cxnSp>
        <p:nvCxnSpPr>
          <p:cNvPr id="22" name="Google Shape;384;p40">
            <a:extLst>
              <a:ext uri="{FF2B5EF4-FFF2-40B4-BE49-F238E27FC236}">
                <a16:creationId xmlns:a16="http://schemas.microsoft.com/office/drawing/2014/main" id="{7AFD4C44-D9B3-191A-D230-BE86776A4C16}"/>
              </a:ext>
            </a:extLst>
          </p:cNvPr>
          <p:cNvCxnSpPr>
            <a:cxnSpLocks/>
            <a:endCxn id="238" idx="0"/>
          </p:cNvCxnSpPr>
          <p:nvPr/>
        </p:nvCxnSpPr>
        <p:spPr>
          <a:xfrm>
            <a:off x="3079501" y="1964507"/>
            <a:ext cx="0" cy="867716"/>
          </a:xfrm>
          <a:prstGeom prst="straightConnector1">
            <a:avLst/>
          </a:prstGeom>
          <a:noFill/>
          <a:ln w="28575" cap="flat" cmpd="sng">
            <a:solidFill>
              <a:schemeClr val="dk1"/>
            </a:solidFill>
            <a:prstDash val="solid"/>
            <a:round/>
            <a:headEnd type="none" w="med" len="med"/>
            <a:tailEnd type="none" w="med" len="med"/>
          </a:ln>
        </p:spPr>
      </p:cxnSp>
      <p:cxnSp>
        <p:nvCxnSpPr>
          <p:cNvPr id="27" name="Google Shape;384;p40">
            <a:extLst>
              <a:ext uri="{FF2B5EF4-FFF2-40B4-BE49-F238E27FC236}">
                <a16:creationId xmlns:a16="http://schemas.microsoft.com/office/drawing/2014/main" id="{FB5F3CEF-CC1C-695A-D86D-6EE1F656375F}"/>
              </a:ext>
            </a:extLst>
          </p:cNvPr>
          <p:cNvCxnSpPr>
            <a:cxnSpLocks/>
          </p:cNvCxnSpPr>
          <p:nvPr/>
        </p:nvCxnSpPr>
        <p:spPr>
          <a:xfrm flipH="1">
            <a:off x="4897649" y="1917878"/>
            <a:ext cx="1179097" cy="0"/>
          </a:xfrm>
          <a:prstGeom prst="straightConnector1">
            <a:avLst/>
          </a:prstGeom>
          <a:noFill/>
          <a:ln w="28575" cap="flat" cmpd="sng">
            <a:solidFill>
              <a:schemeClr val="dk1"/>
            </a:solidFill>
            <a:prstDash val="solid"/>
            <a:round/>
            <a:headEnd type="none" w="med" len="med"/>
            <a:tailEnd type="none" w="med" len="med"/>
          </a:ln>
        </p:spPr>
      </p:cxnSp>
      <p:cxnSp>
        <p:nvCxnSpPr>
          <p:cNvPr id="28" name="Google Shape;384;p40">
            <a:extLst>
              <a:ext uri="{FF2B5EF4-FFF2-40B4-BE49-F238E27FC236}">
                <a16:creationId xmlns:a16="http://schemas.microsoft.com/office/drawing/2014/main" id="{437A6F21-1281-2D3B-1EDC-3FE83759702A}"/>
              </a:ext>
            </a:extLst>
          </p:cNvPr>
          <p:cNvCxnSpPr>
            <a:cxnSpLocks/>
          </p:cNvCxnSpPr>
          <p:nvPr/>
        </p:nvCxnSpPr>
        <p:spPr>
          <a:xfrm>
            <a:off x="6076746" y="1917878"/>
            <a:ext cx="13553" cy="925641"/>
          </a:xfrm>
          <a:prstGeom prst="straightConnector1">
            <a:avLst/>
          </a:prstGeom>
          <a:noFill/>
          <a:ln w="28575" cap="flat" cmpd="sng">
            <a:solidFill>
              <a:schemeClr val="dk1"/>
            </a:solidFill>
            <a:prstDash val="solid"/>
            <a:round/>
            <a:headEnd type="none" w="med" len="med"/>
            <a:tailEnd type="none" w="med" len="med"/>
          </a:ln>
        </p:spPr>
      </p:cxnSp>
      <p:grpSp>
        <p:nvGrpSpPr>
          <p:cNvPr id="2" name="Gruppieren 1">
            <a:extLst>
              <a:ext uri="{FF2B5EF4-FFF2-40B4-BE49-F238E27FC236}">
                <a16:creationId xmlns:a16="http://schemas.microsoft.com/office/drawing/2014/main" id="{00CA80B7-B1C7-EFE7-DFE4-579BE73E7E44}"/>
              </a:ext>
            </a:extLst>
          </p:cNvPr>
          <p:cNvGrpSpPr/>
          <p:nvPr/>
        </p:nvGrpSpPr>
        <p:grpSpPr>
          <a:xfrm>
            <a:off x="2753851" y="2832223"/>
            <a:ext cx="651300" cy="651300"/>
            <a:chOff x="2753851" y="2832223"/>
            <a:chExt cx="651300" cy="651300"/>
          </a:xfrm>
        </p:grpSpPr>
        <p:sp>
          <p:nvSpPr>
            <p:cNvPr id="238" name="Google Shape;238;p32"/>
            <p:cNvSpPr/>
            <p:nvPr/>
          </p:nvSpPr>
          <p:spPr>
            <a:xfrm>
              <a:off x="2753851" y="2832223"/>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9177;p60">
              <a:extLst>
                <a:ext uri="{FF2B5EF4-FFF2-40B4-BE49-F238E27FC236}">
                  <a16:creationId xmlns:a16="http://schemas.microsoft.com/office/drawing/2014/main" id="{9EFEEA1E-6009-AA84-14BF-02F1DA2CCF0D}"/>
                </a:ext>
              </a:extLst>
            </p:cNvPr>
            <p:cNvGrpSpPr/>
            <p:nvPr/>
          </p:nvGrpSpPr>
          <p:grpSpPr>
            <a:xfrm>
              <a:off x="2875423" y="3007981"/>
              <a:ext cx="408156" cy="299783"/>
              <a:chOff x="1289311" y="2926222"/>
              <a:chExt cx="408156" cy="299783"/>
            </a:xfrm>
            <a:solidFill>
              <a:schemeClr val="tx1"/>
            </a:solidFill>
          </p:grpSpPr>
          <p:sp>
            <p:nvSpPr>
              <p:cNvPr id="32" name="Google Shape;9178;p60">
                <a:extLst>
                  <a:ext uri="{FF2B5EF4-FFF2-40B4-BE49-F238E27FC236}">
                    <a16:creationId xmlns:a16="http://schemas.microsoft.com/office/drawing/2014/main" id="{DC2177CC-A526-0C5F-BCD4-DE556B2780C8}"/>
                  </a:ext>
                </a:extLst>
              </p:cNvPr>
              <p:cNvSpPr/>
              <p:nvPr/>
            </p:nvSpPr>
            <p:spPr>
              <a:xfrm>
                <a:off x="1334029" y="2952385"/>
                <a:ext cx="318339" cy="216395"/>
              </a:xfrm>
              <a:custGeom>
                <a:avLst/>
                <a:gdLst/>
                <a:ahLst/>
                <a:cxnLst/>
                <a:rect l="l" t="t" r="r" b="b"/>
                <a:pathLst>
                  <a:path w="10002" h="6799" extrusionOk="0">
                    <a:moveTo>
                      <a:pt x="3203" y="1369"/>
                    </a:moveTo>
                    <a:cubicBezTo>
                      <a:pt x="3429" y="1369"/>
                      <a:pt x="3620" y="1548"/>
                      <a:pt x="3620" y="1786"/>
                    </a:cubicBezTo>
                    <a:lnTo>
                      <a:pt x="3620" y="2179"/>
                    </a:lnTo>
                    <a:cubicBezTo>
                      <a:pt x="3620" y="2524"/>
                      <a:pt x="3334" y="2798"/>
                      <a:pt x="3012" y="2798"/>
                    </a:cubicBezTo>
                    <a:cubicBezTo>
                      <a:pt x="2679" y="2798"/>
                      <a:pt x="2381" y="2524"/>
                      <a:pt x="2381" y="2179"/>
                    </a:cubicBezTo>
                    <a:lnTo>
                      <a:pt x="2381" y="1786"/>
                    </a:lnTo>
                    <a:cubicBezTo>
                      <a:pt x="2381" y="1560"/>
                      <a:pt x="2560" y="1369"/>
                      <a:pt x="2798" y="1369"/>
                    </a:cubicBezTo>
                    <a:close/>
                    <a:moveTo>
                      <a:pt x="8013" y="1191"/>
                    </a:moveTo>
                    <a:cubicBezTo>
                      <a:pt x="8132" y="1191"/>
                      <a:pt x="8215" y="1274"/>
                      <a:pt x="8215" y="1393"/>
                    </a:cubicBezTo>
                    <a:lnTo>
                      <a:pt x="8215" y="1989"/>
                    </a:lnTo>
                    <a:cubicBezTo>
                      <a:pt x="8215" y="2060"/>
                      <a:pt x="8168" y="2131"/>
                      <a:pt x="8108" y="2167"/>
                    </a:cubicBezTo>
                    <a:cubicBezTo>
                      <a:pt x="8061" y="2203"/>
                      <a:pt x="8025" y="2262"/>
                      <a:pt x="8025" y="2334"/>
                    </a:cubicBezTo>
                    <a:lnTo>
                      <a:pt x="8025" y="2632"/>
                    </a:lnTo>
                    <a:cubicBezTo>
                      <a:pt x="8025" y="2715"/>
                      <a:pt x="8085" y="2798"/>
                      <a:pt x="8168" y="2810"/>
                    </a:cubicBezTo>
                    <a:lnTo>
                      <a:pt x="8680" y="2929"/>
                    </a:lnTo>
                    <a:cubicBezTo>
                      <a:pt x="8763" y="2953"/>
                      <a:pt x="8847" y="3036"/>
                      <a:pt x="8847" y="3132"/>
                    </a:cubicBezTo>
                    <a:lnTo>
                      <a:pt x="8847" y="3191"/>
                    </a:lnTo>
                    <a:lnTo>
                      <a:pt x="6799" y="3191"/>
                    </a:lnTo>
                    <a:lnTo>
                      <a:pt x="6799" y="3132"/>
                    </a:lnTo>
                    <a:cubicBezTo>
                      <a:pt x="6799" y="3024"/>
                      <a:pt x="6858" y="2953"/>
                      <a:pt x="6965" y="2929"/>
                    </a:cubicBezTo>
                    <a:lnTo>
                      <a:pt x="7477" y="2810"/>
                    </a:lnTo>
                    <a:cubicBezTo>
                      <a:pt x="7561" y="2798"/>
                      <a:pt x="7620" y="2715"/>
                      <a:pt x="7620" y="2632"/>
                    </a:cubicBezTo>
                    <a:lnTo>
                      <a:pt x="7620" y="2334"/>
                    </a:lnTo>
                    <a:cubicBezTo>
                      <a:pt x="7596" y="2274"/>
                      <a:pt x="7561" y="2215"/>
                      <a:pt x="7501" y="2167"/>
                    </a:cubicBezTo>
                    <a:cubicBezTo>
                      <a:pt x="7430" y="2120"/>
                      <a:pt x="7406" y="2060"/>
                      <a:pt x="7406" y="1989"/>
                    </a:cubicBezTo>
                    <a:lnTo>
                      <a:pt x="7406" y="1393"/>
                    </a:lnTo>
                    <a:cubicBezTo>
                      <a:pt x="7406" y="1274"/>
                      <a:pt x="7489" y="1191"/>
                      <a:pt x="7608" y="1191"/>
                    </a:cubicBezTo>
                    <a:close/>
                    <a:moveTo>
                      <a:pt x="9620" y="369"/>
                    </a:moveTo>
                    <a:lnTo>
                      <a:pt x="9620" y="3191"/>
                    </a:lnTo>
                    <a:lnTo>
                      <a:pt x="9192" y="3191"/>
                    </a:lnTo>
                    <a:lnTo>
                      <a:pt x="9192" y="3132"/>
                    </a:lnTo>
                    <a:cubicBezTo>
                      <a:pt x="9192" y="2870"/>
                      <a:pt x="9013" y="2632"/>
                      <a:pt x="8739" y="2572"/>
                    </a:cubicBezTo>
                    <a:lnTo>
                      <a:pt x="8382" y="2477"/>
                    </a:lnTo>
                    <a:lnTo>
                      <a:pt x="8382" y="2417"/>
                    </a:lnTo>
                    <a:cubicBezTo>
                      <a:pt x="8501" y="2322"/>
                      <a:pt x="8573" y="2155"/>
                      <a:pt x="8573" y="1977"/>
                    </a:cubicBezTo>
                    <a:lnTo>
                      <a:pt x="8573" y="1381"/>
                    </a:lnTo>
                    <a:cubicBezTo>
                      <a:pt x="8573" y="1048"/>
                      <a:pt x="8311" y="786"/>
                      <a:pt x="7977" y="786"/>
                    </a:cubicBezTo>
                    <a:lnTo>
                      <a:pt x="7584" y="786"/>
                    </a:lnTo>
                    <a:cubicBezTo>
                      <a:pt x="7251" y="786"/>
                      <a:pt x="6989" y="1048"/>
                      <a:pt x="6989" y="1381"/>
                    </a:cubicBezTo>
                    <a:lnTo>
                      <a:pt x="6989" y="1977"/>
                    </a:lnTo>
                    <a:cubicBezTo>
                      <a:pt x="6989" y="2143"/>
                      <a:pt x="7061" y="2298"/>
                      <a:pt x="7180" y="2417"/>
                    </a:cubicBezTo>
                    <a:lnTo>
                      <a:pt x="7180" y="2477"/>
                    </a:lnTo>
                    <a:lnTo>
                      <a:pt x="6822" y="2572"/>
                    </a:lnTo>
                    <a:cubicBezTo>
                      <a:pt x="6549" y="2632"/>
                      <a:pt x="6370" y="2870"/>
                      <a:pt x="6370" y="3132"/>
                    </a:cubicBezTo>
                    <a:lnTo>
                      <a:pt x="6370" y="3191"/>
                    </a:lnTo>
                    <a:lnTo>
                      <a:pt x="5941" y="3191"/>
                    </a:lnTo>
                    <a:lnTo>
                      <a:pt x="5941" y="369"/>
                    </a:lnTo>
                    <a:close/>
                    <a:moveTo>
                      <a:pt x="3227" y="3179"/>
                    </a:moveTo>
                    <a:lnTo>
                      <a:pt x="3227" y="3274"/>
                    </a:lnTo>
                    <a:cubicBezTo>
                      <a:pt x="3203" y="3346"/>
                      <a:pt x="3239" y="3405"/>
                      <a:pt x="3262" y="3465"/>
                    </a:cubicBezTo>
                    <a:lnTo>
                      <a:pt x="3012" y="3715"/>
                    </a:lnTo>
                    <a:lnTo>
                      <a:pt x="3001" y="3715"/>
                    </a:lnTo>
                    <a:lnTo>
                      <a:pt x="2739" y="3465"/>
                    </a:lnTo>
                    <a:cubicBezTo>
                      <a:pt x="2774" y="3405"/>
                      <a:pt x="2798" y="3346"/>
                      <a:pt x="2798" y="3274"/>
                    </a:cubicBezTo>
                    <a:lnTo>
                      <a:pt x="2798" y="3179"/>
                    </a:lnTo>
                    <a:close/>
                    <a:moveTo>
                      <a:pt x="3572" y="3667"/>
                    </a:moveTo>
                    <a:lnTo>
                      <a:pt x="3953" y="3822"/>
                    </a:lnTo>
                    <a:cubicBezTo>
                      <a:pt x="4108" y="3882"/>
                      <a:pt x="4215" y="4048"/>
                      <a:pt x="4215" y="4203"/>
                    </a:cubicBezTo>
                    <a:lnTo>
                      <a:pt x="4215" y="5394"/>
                    </a:lnTo>
                    <a:cubicBezTo>
                      <a:pt x="4215" y="5513"/>
                      <a:pt x="4132" y="5608"/>
                      <a:pt x="4013" y="5608"/>
                    </a:cubicBezTo>
                    <a:lnTo>
                      <a:pt x="3191" y="5608"/>
                    </a:lnTo>
                    <a:lnTo>
                      <a:pt x="3191" y="5382"/>
                    </a:lnTo>
                    <a:lnTo>
                      <a:pt x="3608" y="5382"/>
                    </a:lnTo>
                    <a:cubicBezTo>
                      <a:pt x="3715" y="5382"/>
                      <a:pt x="3798" y="5299"/>
                      <a:pt x="3798" y="5191"/>
                    </a:cubicBezTo>
                    <a:lnTo>
                      <a:pt x="3798" y="4596"/>
                    </a:lnTo>
                    <a:cubicBezTo>
                      <a:pt x="3798" y="4489"/>
                      <a:pt x="3715" y="4406"/>
                      <a:pt x="3608" y="4406"/>
                    </a:cubicBezTo>
                    <a:cubicBezTo>
                      <a:pt x="3501" y="4406"/>
                      <a:pt x="3417" y="4489"/>
                      <a:pt x="3417" y="4596"/>
                    </a:cubicBezTo>
                    <a:lnTo>
                      <a:pt x="3417" y="5013"/>
                    </a:lnTo>
                    <a:lnTo>
                      <a:pt x="2584" y="5013"/>
                    </a:lnTo>
                    <a:lnTo>
                      <a:pt x="2584" y="4596"/>
                    </a:lnTo>
                    <a:cubicBezTo>
                      <a:pt x="2584" y="4489"/>
                      <a:pt x="2489" y="4406"/>
                      <a:pt x="2381" y="4406"/>
                    </a:cubicBezTo>
                    <a:cubicBezTo>
                      <a:pt x="2286" y="4406"/>
                      <a:pt x="2191" y="4489"/>
                      <a:pt x="2191" y="4596"/>
                    </a:cubicBezTo>
                    <a:lnTo>
                      <a:pt x="2191" y="5191"/>
                    </a:lnTo>
                    <a:cubicBezTo>
                      <a:pt x="2191" y="5299"/>
                      <a:pt x="2286" y="5382"/>
                      <a:pt x="2381" y="5382"/>
                    </a:cubicBezTo>
                    <a:lnTo>
                      <a:pt x="2798" y="5382"/>
                    </a:lnTo>
                    <a:lnTo>
                      <a:pt x="2798" y="5608"/>
                    </a:lnTo>
                    <a:lnTo>
                      <a:pt x="1989" y="5608"/>
                    </a:lnTo>
                    <a:cubicBezTo>
                      <a:pt x="1869" y="5608"/>
                      <a:pt x="1774" y="5513"/>
                      <a:pt x="1774" y="5394"/>
                    </a:cubicBezTo>
                    <a:lnTo>
                      <a:pt x="1774" y="4203"/>
                    </a:lnTo>
                    <a:cubicBezTo>
                      <a:pt x="1774" y="4048"/>
                      <a:pt x="1881" y="3882"/>
                      <a:pt x="2048" y="3822"/>
                    </a:cubicBezTo>
                    <a:lnTo>
                      <a:pt x="2417" y="3667"/>
                    </a:lnTo>
                    <a:lnTo>
                      <a:pt x="2727" y="3989"/>
                    </a:lnTo>
                    <a:cubicBezTo>
                      <a:pt x="2798" y="4060"/>
                      <a:pt x="2905" y="4108"/>
                      <a:pt x="3001" y="4108"/>
                    </a:cubicBezTo>
                    <a:cubicBezTo>
                      <a:pt x="3096" y="4108"/>
                      <a:pt x="3191" y="4060"/>
                      <a:pt x="3262" y="3989"/>
                    </a:cubicBezTo>
                    <a:lnTo>
                      <a:pt x="3572" y="3667"/>
                    </a:lnTo>
                    <a:close/>
                    <a:moveTo>
                      <a:pt x="5632" y="5596"/>
                    </a:moveTo>
                    <a:lnTo>
                      <a:pt x="5632" y="6406"/>
                    </a:lnTo>
                    <a:lnTo>
                      <a:pt x="381" y="6406"/>
                    </a:lnTo>
                    <a:lnTo>
                      <a:pt x="381" y="5596"/>
                    </a:lnTo>
                    <a:lnTo>
                      <a:pt x="1429" y="5596"/>
                    </a:lnTo>
                    <a:cubicBezTo>
                      <a:pt x="1512" y="5834"/>
                      <a:pt x="1727" y="5989"/>
                      <a:pt x="2000" y="5989"/>
                    </a:cubicBezTo>
                    <a:lnTo>
                      <a:pt x="4013" y="5989"/>
                    </a:lnTo>
                    <a:cubicBezTo>
                      <a:pt x="4263" y="5989"/>
                      <a:pt x="4489" y="5834"/>
                      <a:pt x="4572" y="5596"/>
                    </a:cubicBezTo>
                    <a:close/>
                    <a:moveTo>
                      <a:pt x="8025" y="4406"/>
                    </a:moveTo>
                    <a:cubicBezTo>
                      <a:pt x="8144" y="4406"/>
                      <a:pt x="8227" y="4489"/>
                      <a:pt x="8227" y="4608"/>
                    </a:cubicBezTo>
                    <a:lnTo>
                      <a:pt x="8227" y="5203"/>
                    </a:lnTo>
                    <a:cubicBezTo>
                      <a:pt x="8227" y="5275"/>
                      <a:pt x="8192" y="5358"/>
                      <a:pt x="8132" y="5382"/>
                    </a:cubicBezTo>
                    <a:cubicBezTo>
                      <a:pt x="8073" y="5418"/>
                      <a:pt x="8037" y="5477"/>
                      <a:pt x="8037" y="5549"/>
                    </a:cubicBezTo>
                    <a:lnTo>
                      <a:pt x="8037" y="5846"/>
                    </a:lnTo>
                    <a:cubicBezTo>
                      <a:pt x="8037" y="5930"/>
                      <a:pt x="8096" y="6013"/>
                      <a:pt x="8192" y="6025"/>
                    </a:cubicBezTo>
                    <a:lnTo>
                      <a:pt x="8692" y="6144"/>
                    </a:lnTo>
                    <a:cubicBezTo>
                      <a:pt x="8787" y="6168"/>
                      <a:pt x="8858" y="6251"/>
                      <a:pt x="8858" y="6346"/>
                    </a:cubicBezTo>
                    <a:lnTo>
                      <a:pt x="8858" y="6406"/>
                    </a:lnTo>
                    <a:lnTo>
                      <a:pt x="6787" y="6406"/>
                    </a:lnTo>
                    <a:lnTo>
                      <a:pt x="6787" y="6346"/>
                    </a:lnTo>
                    <a:cubicBezTo>
                      <a:pt x="6787" y="6251"/>
                      <a:pt x="6846" y="6168"/>
                      <a:pt x="6953" y="6144"/>
                    </a:cubicBezTo>
                    <a:lnTo>
                      <a:pt x="7465" y="6025"/>
                    </a:lnTo>
                    <a:cubicBezTo>
                      <a:pt x="7549" y="6013"/>
                      <a:pt x="7608" y="5930"/>
                      <a:pt x="7608" y="5846"/>
                    </a:cubicBezTo>
                    <a:lnTo>
                      <a:pt x="7608" y="5549"/>
                    </a:lnTo>
                    <a:cubicBezTo>
                      <a:pt x="7608" y="5489"/>
                      <a:pt x="7584" y="5418"/>
                      <a:pt x="7513" y="5382"/>
                    </a:cubicBezTo>
                    <a:cubicBezTo>
                      <a:pt x="7442" y="5334"/>
                      <a:pt x="7418" y="5275"/>
                      <a:pt x="7418" y="5203"/>
                    </a:cubicBezTo>
                    <a:lnTo>
                      <a:pt x="7418" y="4608"/>
                    </a:lnTo>
                    <a:cubicBezTo>
                      <a:pt x="7418" y="4489"/>
                      <a:pt x="7501" y="4406"/>
                      <a:pt x="7620" y="4406"/>
                    </a:cubicBezTo>
                    <a:close/>
                    <a:moveTo>
                      <a:pt x="9585" y="3584"/>
                    </a:moveTo>
                    <a:lnTo>
                      <a:pt x="9585" y="6406"/>
                    </a:lnTo>
                    <a:lnTo>
                      <a:pt x="9204" y="6406"/>
                    </a:lnTo>
                    <a:lnTo>
                      <a:pt x="9204" y="6346"/>
                    </a:lnTo>
                    <a:cubicBezTo>
                      <a:pt x="9204" y="6084"/>
                      <a:pt x="9025" y="5846"/>
                      <a:pt x="8751" y="5787"/>
                    </a:cubicBezTo>
                    <a:lnTo>
                      <a:pt x="8394" y="5691"/>
                    </a:lnTo>
                    <a:lnTo>
                      <a:pt x="8394" y="5632"/>
                    </a:lnTo>
                    <a:cubicBezTo>
                      <a:pt x="8513" y="5537"/>
                      <a:pt x="8596" y="5370"/>
                      <a:pt x="8596" y="5191"/>
                    </a:cubicBezTo>
                    <a:lnTo>
                      <a:pt x="8596" y="4596"/>
                    </a:lnTo>
                    <a:cubicBezTo>
                      <a:pt x="8596" y="4263"/>
                      <a:pt x="8323" y="4001"/>
                      <a:pt x="8001" y="4001"/>
                    </a:cubicBezTo>
                    <a:lnTo>
                      <a:pt x="7596" y="4001"/>
                    </a:lnTo>
                    <a:cubicBezTo>
                      <a:pt x="7263" y="4001"/>
                      <a:pt x="7001" y="4263"/>
                      <a:pt x="7001" y="4596"/>
                    </a:cubicBezTo>
                    <a:lnTo>
                      <a:pt x="7001" y="5191"/>
                    </a:lnTo>
                    <a:cubicBezTo>
                      <a:pt x="7001" y="5358"/>
                      <a:pt x="7072" y="5513"/>
                      <a:pt x="7192" y="5632"/>
                    </a:cubicBezTo>
                    <a:lnTo>
                      <a:pt x="7192" y="5691"/>
                    </a:lnTo>
                    <a:lnTo>
                      <a:pt x="6834" y="5787"/>
                    </a:lnTo>
                    <a:cubicBezTo>
                      <a:pt x="6572" y="5846"/>
                      <a:pt x="6394" y="6084"/>
                      <a:pt x="6394" y="6346"/>
                    </a:cubicBezTo>
                    <a:lnTo>
                      <a:pt x="6394" y="6406"/>
                    </a:lnTo>
                    <a:lnTo>
                      <a:pt x="5953" y="6406"/>
                    </a:lnTo>
                    <a:lnTo>
                      <a:pt x="5953" y="3584"/>
                    </a:lnTo>
                    <a:close/>
                    <a:moveTo>
                      <a:pt x="203" y="0"/>
                    </a:moveTo>
                    <a:cubicBezTo>
                      <a:pt x="95" y="0"/>
                      <a:pt x="0" y="84"/>
                      <a:pt x="0" y="191"/>
                    </a:cubicBezTo>
                    <a:lnTo>
                      <a:pt x="0" y="6596"/>
                    </a:lnTo>
                    <a:cubicBezTo>
                      <a:pt x="0" y="6703"/>
                      <a:pt x="95" y="6799"/>
                      <a:pt x="203" y="6799"/>
                    </a:cubicBezTo>
                    <a:lnTo>
                      <a:pt x="9811" y="6799"/>
                    </a:lnTo>
                    <a:cubicBezTo>
                      <a:pt x="9918" y="6799"/>
                      <a:pt x="10001" y="6703"/>
                      <a:pt x="10001" y="6596"/>
                    </a:cubicBezTo>
                    <a:lnTo>
                      <a:pt x="10001" y="191"/>
                    </a:lnTo>
                    <a:cubicBezTo>
                      <a:pt x="10001" y="84"/>
                      <a:pt x="9918" y="0"/>
                      <a:pt x="9811" y="0"/>
                    </a:cubicBezTo>
                    <a:lnTo>
                      <a:pt x="1584" y="0"/>
                    </a:lnTo>
                    <a:cubicBezTo>
                      <a:pt x="1477" y="0"/>
                      <a:pt x="1381" y="84"/>
                      <a:pt x="1381" y="191"/>
                    </a:cubicBezTo>
                    <a:cubicBezTo>
                      <a:pt x="1381" y="286"/>
                      <a:pt x="1477" y="381"/>
                      <a:pt x="1584" y="381"/>
                    </a:cubicBezTo>
                    <a:lnTo>
                      <a:pt x="5596" y="381"/>
                    </a:lnTo>
                    <a:lnTo>
                      <a:pt x="5596" y="5215"/>
                    </a:lnTo>
                    <a:lnTo>
                      <a:pt x="4572" y="5215"/>
                    </a:lnTo>
                    <a:lnTo>
                      <a:pt x="4572" y="4203"/>
                    </a:lnTo>
                    <a:cubicBezTo>
                      <a:pt x="4572" y="3882"/>
                      <a:pt x="4370" y="3584"/>
                      <a:pt x="4072" y="3477"/>
                    </a:cubicBezTo>
                    <a:lnTo>
                      <a:pt x="3572" y="3286"/>
                    </a:lnTo>
                    <a:lnTo>
                      <a:pt x="3572" y="3274"/>
                    </a:lnTo>
                    <a:lnTo>
                      <a:pt x="3572" y="2989"/>
                    </a:lnTo>
                    <a:cubicBezTo>
                      <a:pt x="3810" y="2810"/>
                      <a:pt x="3977" y="2512"/>
                      <a:pt x="3977" y="2203"/>
                    </a:cubicBezTo>
                    <a:lnTo>
                      <a:pt x="3977" y="1798"/>
                    </a:lnTo>
                    <a:cubicBezTo>
                      <a:pt x="3977" y="1369"/>
                      <a:pt x="3620" y="1012"/>
                      <a:pt x="3191" y="1012"/>
                    </a:cubicBezTo>
                    <a:lnTo>
                      <a:pt x="2786" y="1012"/>
                    </a:lnTo>
                    <a:cubicBezTo>
                      <a:pt x="2358" y="1012"/>
                      <a:pt x="2000" y="1369"/>
                      <a:pt x="2000" y="1798"/>
                    </a:cubicBezTo>
                    <a:lnTo>
                      <a:pt x="2000" y="2203"/>
                    </a:lnTo>
                    <a:cubicBezTo>
                      <a:pt x="2000" y="2524"/>
                      <a:pt x="2167" y="2810"/>
                      <a:pt x="2405" y="2989"/>
                    </a:cubicBezTo>
                    <a:lnTo>
                      <a:pt x="2405" y="3274"/>
                    </a:lnTo>
                    <a:lnTo>
                      <a:pt x="2405" y="3286"/>
                    </a:lnTo>
                    <a:lnTo>
                      <a:pt x="1905" y="3477"/>
                    </a:lnTo>
                    <a:cubicBezTo>
                      <a:pt x="1608" y="3596"/>
                      <a:pt x="1405" y="3894"/>
                      <a:pt x="1405" y="4203"/>
                    </a:cubicBezTo>
                    <a:lnTo>
                      <a:pt x="1405" y="5215"/>
                    </a:lnTo>
                    <a:lnTo>
                      <a:pt x="381" y="5215"/>
                    </a:lnTo>
                    <a:lnTo>
                      <a:pt x="381" y="381"/>
                    </a:lnTo>
                    <a:lnTo>
                      <a:pt x="798" y="381"/>
                    </a:lnTo>
                    <a:cubicBezTo>
                      <a:pt x="893" y="381"/>
                      <a:pt x="988" y="286"/>
                      <a:pt x="988" y="191"/>
                    </a:cubicBezTo>
                    <a:cubicBezTo>
                      <a:pt x="988" y="84"/>
                      <a:pt x="893" y="0"/>
                      <a:pt x="7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179;p60">
                <a:extLst>
                  <a:ext uri="{FF2B5EF4-FFF2-40B4-BE49-F238E27FC236}">
                    <a16:creationId xmlns:a16="http://schemas.microsoft.com/office/drawing/2014/main" id="{0DCDA63E-85F9-0807-819B-B8E41650C1E9}"/>
                  </a:ext>
                </a:extLst>
              </p:cNvPr>
              <p:cNvSpPr/>
              <p:nvPr/>
            </p:nvSpPr>
            <p:spPr>
              <a:xfrm>
                <a:off x="1289311" y="2926222"/>
                <a:ext cx="408156" cy="299783"/>
              </a:xfrm>
              <a:custGeom>
                <a:avLst/>
                <a:gdLst/>
                <a:ahLst/>
                <a:cxnLst/>
                <a:rect l="l" t="t" r="r" b="b"/>
                <a:pathLst>
                  <a:path w="12824" h="9419" extrusionOk="0">
                    <a:moveTo>
                      <a:pt x="11621" y="382"/>
                    </a:moveTo>
                    <a:cubicBezTo>
                      <a:pt x="11740" y="382"/>
                      <a:pt x="11823" y="477"/>
                      <a:pt x="11823" y="596"/>
                    </a:cubicBezTo>
                    <a:lnTo>
                      <a:pt x="11823" y="8037"/>
                    </a:lnTo>
                    <a:lnTo>
                      <a:pt x="11406" y="8037"/>
                    </a:lnTo>
                    <a:cubicBezTo>
                      <a:pt x="11299" y="8037"/>
                      <a:pt x="11216" y="8121"/>
                      <a:pt x="11216" y="8228"/>
                    </a:cubicBezTo>
                    <a:cubicBezTo>
                      <a:pt x="11216" y="8335"/>
                      <a:pt x="11299" y="8418"/>
                      <a:pt x="11406" y="8418"/>
                    </a:cubicBezTo>
                    <a:lnTo>
                      <a:pt x="12407" y="8418"/>
                    </a:lnTo>
                    <a:cubicBezTo>
                      <a:pt x="12407" y="8418"/>
                      <a:pt x="12418" y="8418"/>
                      <a:pt x="12418" y="8442"/>
                    </a:cubicBezTo>
                    <a:lnTo>
                      <a:pt x="12418" y="8835"/>
                    </a:lnTo>
                    <a:cubicBezTo>
                      <a:pt x="12442" y="8942"/>
                      <a:pt x="12347" y="9049"/>
                      <a:pt x="12228" y="9049"/>
                    </a:cubicBezTo>
                    <a:lnTo>
                      <a:pt x="596" y="9049"/>
                    </a:lnTo>
                    <a:cubicBezTo>
                      <a:pt x="476" y="9049"/>
                      <a:pt x="381" y="8954"/>
                      <a:pt x="381" y="8835"/>
                    </a:cubicBezTo>
                    <a:lnTo>
                      <a:pt x="381" y="8442"/>
                    </a:lnTo>
                    <a:cubicBezTo>
                      <a:pt x="381" y="8442"/>
                      <a:pt x="381" y="8418"/>
                      <a:pt x="393" y="8418"/>
                    </a:cubicBezTo>
                    <a:lnTo>
                      <a:pt x="10621" y="8418"/>
                    </a:lnTo>
                    <a:cubicBezTo>
                      <a:pt x="10728" y="8418"/>
                      <a:pt x="10811" y="8335"/>
                      <a:pt x="10811" y="8228"/>
                    </a:cubicBezTo>
                    <a:cubicBezTo>
                      <a:pt x="10811" y="8121"/>
                      <a:pt x="10728" y="8037"/>
                      <a:pt x="10621" y="8037"/>
                    </a:cubicBezTo>
                    <a:lnTo>
                      <a:pt x="977" y="8037"/>
                    </a:lnTo>
                    <a:lnTo>
                      <a:pt x="977" y="596"/>
                    </a:lnTo>
                    <a:cubicBezTo>
                      <a:pt x="977" y="477"/>
                      <a:pt x="1072" y="382"/>
                      <a:pt x="1179" y="382"/>
                    </a:cubicBezTo>
                    <a:close/>
                    <a:moveTo>
                      <a:pt x="1191" y="1"/>
                    </a:moveTo>
                    <a:cubicBezTo>
                      <a:pt x="857" y="1"/>
                      <a:pt x="596" y="263"/>
                      <a:pt x="596" y="596"/>
                    </a:cubicBezTo>
                    <a:lnTo>
                      <a:pt x="596" y="8037"/>
                    </a:lnTo>
                    <a:lnTo>
                      <a:pt x="381" y="8037"/>
                    </a:lnTo>
                    <a:cubicBezTo>
                      <a:pt x="179" y="8037"/>
                      <a:pt x="0" y="8216"/>
                      <a:pt x="0" y="8418"/>
                    </a:cubicBezTo>
                    <a:lnTo>
                      <a:pt x="0" y="8823"/>
                    </a:lnTo>
                    <a:cubicBezTo>
                      <a:pt x="0" y="9157"/>
                      <a:pt x="262" y="9419"/>
                      <a:pt x="596" y="9419"/>
                    </a:cubicBezTo>
                    <a:lnTo>
                      <a:pt x="12228" y="9419"/>
                    </a:lnTo>
                    <a:cubicBezTo>
                      <a:pt x="12561" y="9419"/>
                      <a:pt x="12823" y="9157"/>
                      <a:pt x="12823" y="8823"/>
                    </a:cubicBezTo>
                    <a:lnTo>
                      <a:pt x="12823" y="8418"/>
                    </a:lnTo>
                    <a:cubicBezTo>
                      <a:pt x="12811" y="8216"/>
                      <a:pt x="12645" y="8037"/>
                      <a:pt x="12418" y="8037"/>
                    </a:cubicBezTo>
                    <a:lnTo>
                      <a:pt x="12216" y="8037"/>
                    </a:lnTo>
                    <a:lnTo>
                      <a:pt x="12216" y="596"/>
                    </a:lnTo>
                    <a:cubicBezTo>
                      <a:pt x="12216" y="263"/>
                      <a:pt x="11942" y="1"/>
                      <a:pt x="11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 name="Gruppieren 34">
            <a:extLst>
              <a:ext uri="{FF2B5EF4-FFF2-40B4-BE49-F238E27FC236}">
                <a16:creationId xmlns:a16="http://schemas.microsoft.com/office/drawing/2014/main" id="{203E4CA6-FFF2-E7BA-F882-90BA6476FFA1}"/>
              </a:ext>
            </a:extLst>
          </p:cNvPr>
          <p:cNvGrpSpPr/>
          <p:nvPr/>
        </p:nvGrpSpPr>
        <p:grpSpPr>
          <a:xfrm>
            <a:off x="5748794" y="2832223"/>
            <a:ext cx="651300" cy="651300"/>
            <a:chOff x="4083527" y="1240761"/>
            <a:chExt cx="651300" cy="651300"/>
          </a:xfrm>
        </p:grpSpPr>
        <p:sp>
          <p:nvSpPr>
            <p:cNvPr id="36" name="Google Shape;239;p32">
              <a:extLst>
                <a:ext uri="{FF2B5EF4-FFF2-40B4-BE49-F238E27FC236}">
                  <a16:creationId xmlns:a16="http://schemas.microsoft.com/office/drawing/2014/main" id="{A3EAEB26-2575-7DFE-36D1-3A07F19A2B24}"/>
                </a:ext>
              </a:extLst>
            </p:cNvPr>
            <p:cNvSpPr/>
            <p:nvPr/>
          </p:nvSpPr>
          <p:spPr>
            <a:xfrm>
              <a:off x="4083527" y="1240761"/>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9116;p60">
              <a:extLst>
                <a:ext uri="{FF2B5EF4-FFF2-40B4-BE49-F238E27FC236}">
                  <a16:creationId xmlns:a16="http://schemas.microsoft.com/office/drawing/2014/main" id="{E8580CFD-8B7D-E922-5DBC-627DB50B8299}"/>
                </a:ext>
              </a:extLst>
            </p:cNvPr>
            <p:cNvGrpSpPr/>
            <p:nvPr/>
          </p:nvGrpSpPr>
          <p:grpSpPr>
            <a:xfrm>
              <a:off x="4236364" y="1391137"/>
              <a:ext cx="350198" cy="350548"/>
              <a:chOff x="3094217" y="1976585"/>
              <a:chExt cx="350198" cy="350548"/>
            </a:xfrm>
            <a:solidFill>
              <a:schemeClr val="tx1"/>
            </a:solidFill>
          </p:grpSpPr>
          <p:sp>
            <p:nvSpPr>
              <p:cNvPr id="38" name="Google Shape;9117;p60">
                <a:extLst>
                  <a:ext uri="{FF2B5EF4-FFF2-40B4-BE49-F238E27FC236}">
                    <a16:creationId xmlns:a16="http://schemas.microsoft.com/office/drawing/2014/main" id="{A154BF13-2B9D-88A1-38AF-4AEA3AD30F89}"/>
                  </a:ext>
                </a:extLst>
              </p:cNvPr>
              <p:cNvSpPr/>
              <p:nvPr/>
            </p:nvSpPr>
            <p:spPr>
              <a:xfrm>
                <a:off x="3094217" y="2129039"/>
                <a:ext cx="131543" cy="197362"/>
              </a:xfrm>
              <a:custGeom>
                <a:avLst/>
                <a:gdLst/>
                <a:ahLst/>
                <a:cxnLst/>
                <a:rect l="l" t="t" r="r" b="b"/>
                <a:pathLst>
                  <a:path w="4133" h="6201" extrusionOk="0">
                    <a:moveTo>
                      <a:pt x="2072" y="345"/>
                    </a:moveTo>
                    <a:cubicBezTo>
                      <a:pt x="2117" y="345"/>
                      <a:pt x="2162" y="348"/>
                      <a:pt x="2203" y="354"/>
                    </a:cubicBezTo>
                    <a:cubicBezTo>
                      <a:pt x="2906" y="414"/>
                      <a:pt x="3454" y="1045"/>
                      <a:pt x="3454" y="1759"/>
                    </a:cubicBezTo>
                    <a:cubicBezTo>
                      <a:pt x="3454" y="2438"/>
                      <a:pt x="3620" y="3069"/>
                      <a:pt x="3751" y="3402"/>
                    </a:cubicBezTo>
                    <a:lnTo>
                      <a:pt x="3751" y="3426"/>
                    </a:lnTo>
                    <a:cubicBezTo>
                      <a:pt x="3608" y="3509"/>
                      <a:pt x="3299" y="3688"/>
                      <a:pt x="2763" y="3807"/>
                    </a:cubicBezTo>
                    <a:lnTo>
                      <a:pt x="2763" y="3759"/>
                    </a:lnTo>
                    <a:lnTo>
                      <a:pt x="2763" y="3438"/>
                    </a:lnTo>
                    <a:cubicBezTo>
                      <a:pt x="2965" y="3319"/>
                      <a:pt x="3144" y="3140"/>
                      <a:pt x="3263" y="2926"/>
                    </a:cubicBezTo>
                    <a:cubicBezTo>
                      <a:pt x="3489" y="2533"/>
                      <a:pt x="3418" y="2021"/>
                      <a:pt x="3073" y="1712"/>
                    </a:cubicBezTo>
                    <a:cubicBezTo>
                      <a:pt x="2834" y="1485"/>
                      <a:pt x="2418" y="1235"/>
                      <a:pt x="1727" y="1235"/>
                    </a:cubicBezTo>
                    <a:cubicBezTo>
                      <a:pt x="1691" y="1235"/>
                      <a:pt x="1644" y="1247"/>
                      <a:pt x="1608" y="1283"/>
                    </a:cubicBezTo>
                    <a:lnTo>
                      <a:pt x="1275" y="1616"/>
                    </a:lnTo>
                    <a:cubicBezTo>
                      <a:pt x="1215" y="1676"/>
                      <a:pt x="1215" y="1783"/>
                      <a:pt x="1275" y="1843"/>
                    </a:cubicBezTo>
                    <a:cubicBezTo>
                      <a:pt x="1304" y="1872"/>
                      <a:pt x="1343" y="1887"/>
                      <a:pt x="1382" y="1887"/>
                    </a:cubicBezTo>
                    <a:cubicBezTo>
                      <a:pt x="1421" y="1887"/>
                      <a:pt x="1459" y="1872"/>
                      <a:pt x="1489" y="1843"/>
                    </a:cubicBezTo>
                    <a:lnTo>
                      <a:pt x="1787" y="1545"/>
                    </a:lnTo>
                    <a:cubicBezTo>
                      <a:pt x="2227" y="1557"/>
                      <a:pt x="2584" y="1700"/>
                      <a:pt x="2846" y="1938"/>
                    </a:cubicBezTo>
                    <a:cubicBezTo>
                      <a:pt x="3073" y="2140"/>
                      <a:pt x="3132" y="2485"/>
                      <a:pt x="2977" y="2747"/>
                    </a:cubicBezTo>
                    <a:cubicBezTo>
                      <a:pt x="2799" y="3081"/>
                      <a:pt x="2441" y="3283"/>
                      <a:pt x="2072" y="3283"/>
                    </a:cubicBezTo>
                    <a:cubicBezTo>
                      <a:pt x="1489" y="3283"/>
                      <a:pt x="1037" y="2831"/>
                      <a:pt x="1037" y="2247"/>
                    </a:cubicBezTo>
                    <a:cubicBezTo>
                      <a:pt x="1037" y="2152"/>
                      <a:pt x="953" y="2081"/>
                      <a:pt x="870" y="2081"/>
                    </a:cubicBezTo>
                    <a:cubicBezTo>
                      <a:pt x="775" y="2081"/>
                      <a:pt x="703" y="2152"/>
                      <a:pt x="703" y="2247"/>
                    </a:cubicBezTo>
                    <a:cubicBezTo>
                      <a:pt x="703" y="2747"/>
                      <a:pt x="989" y="3200"/>
                      <a:pt x="1394" y="3438"/>
                    </a:cubicBezTo>
                    <a:lnTo>
                      <a:pt x="1394" y="3759"/>
                    </a:lnTo>
                    <a:lnTo>
                      <a:pt x="1394" y="3807"/>
                    </a:lnTo>
                    <a:cubicBezTo>
                      <a:pt x="858" y="3688"/>
                      <a:pt x="525" y="3509"/>
                      <a:pt x="394" y="3426"/>
                    </a:cubicBezTo>
                    <a:cubicBezTo>
                      <a:pt x="394" y="3426"/>
                      <a:pt x="382" y="3426"/>
                      <a:pt x="394" y="3402"/>
                    </a:cubicBezTo>
                    <a:cubicBezTo>
                      <a:pt x="525" y="3081"/>
                      <a:pt x="691" y="2438"/>
                      <a:pt x="691" y="1759"/>
                    </a:cubicBezTo>
                    <a:cubicBezTo>
                      <a:pt x="691" y="1045"/>
                      <a:pt x="1239" y="414"/>
                      <a:pt x="1941" y="354"/>
                    </a:cubicBezTo>
                    <a:cubicBezTo>
                      <a:pt x="1983" y="348"/>
                      <a:pt x="2028" y="345"/>
                      <a:pt x="2072" y="345"/>
                    </a:cubicBezTo>
                    <a:close/>
                    <a:moveTo>
                      <a:pt x="2430" y="3581"/>
                    </a:moveTo>
                    <a:lnTo>
                      <a:pt x="2430" y="3783"/>
                    </a:lnTo>
                    <a:cubicBezTo>
                      <a:pt x="2430" y="3974"/>
                      <a:pt x="2537" y="4152"/>
                      <a:pt x="2715" y="4224"/>
                    </a:cubicBezTo>
                    <a:lnTo>
                      <a:pt x="2822" y="4271"/>
                    </a:lnTo>
                    <a:cubicBezTo>
                      <a:pt x="2656" y="4509"/>
                      <a:pt x="2370" y="4676"/>
                      <a:pt x="2072" y="4676"/>
                    </a:cubicBezTo>
                    <a:cubicBezTo>
                      <a:pt x="1775" y="4676"/>
                      <a:pt x="1489" y="4509"/>
                      <a:pt x="1334" y="4271"/>
                    </a:cubicBezTo>
                    <a:lnTo>
                      <a:pt x="1429" y="4224"/>
                    </a:lnTo>
                    <a:cubicBezTo>
                      <a:pt x="1608" y="4140"/>
                      <a:pt x="1715" y="3974"/>
                      <a:pt x="1715" y="3783"/>
                    </a:cubicBezTo>
                    <a:lnTo>
                      <a:pt x="1715" y="3581"/>
                    </a:lnTo>
                    <a:cubicBezTo>
                      <a:pt x="1834" y="3617"/>
                      <a:pt x="1953" y="3628"/>
                      <a:pt x="2072" y="3628"/>
                    </a:cubicBezTo>
                    <a:cubicBezTo>
                      <a:pt x="2191" y="3628"/>
                      <a:pt x="2311" y="3617"/>
                      <a:pt x="2430" y="3581"/>
                    </a:cubicBezTo>
                    <a:close/>
                    <a:moveTo>
                      <a:pt x="2065" y="0"/>
                    </a:moveTo>
                    <a:cubicBezTo>
                      <a:pt x="2010" y="0"/>
                      <a:pt x="1953" y="3"/>
                      <a:pt x="1894" y="9"/>
                    </a:cubicBezTo>
                    <a:cubicBezTo>
                      <a:pt x="1037" y="92"/>
                      <a:pt x="346" y="842"/>
                      <a:pt x="346" y="1735"/>
                    </a:cubicBezTo>
                    <a:cubicBezTo>
                      <a:pt x="346" y="2378"/>
                      <a:pt x="203" y="2962"/>
                      <a:pt x="60" y="3271"/>
                    </a:cubicBezTo>
                    <a:cubicBezTo>
                      <a:pt x="1" y="3426"/>
                      <a:pt x="48" y="3581"/>
                      <a:pt x="179" y="3676"/>
                    </a:cubicBezTo>
                    <a:cubicBezTo>
                      <a:pt x="310" y="3759"/>
                      <a:pt x="584" y="3926"/>
                      <a:pt x="1013" y="4045"/>
                    </a:cubicBezTo>
                    <a:lnTo>
                      <a:pt x="382" y="4379"/>
                    </a:lnTo>
                    <a:cubicBezTo>
                      <a:pt x="144" y="4498"/>
                      <a:pt x="1" y="4712"/>
                      <a:pt x="1" y="4986"/>
                    </a:cubicBezTo>
                    <a:lnTo>
                      <a:pt x="1" y="6045"/>
                    </a:lnTo>
                    <a:cubicBezTo>
                      <a:pt x="1" y="6129"/>
                      <a:pt x="84" y="6200"/>
                      <a:pt x="167" y="6200"/>
                    </a:cubicBezTo>
                    <a:cubicBezTo>
                      <a:pt x="263" y="6200"/>
                      <a:pt x="334" y="6129"/>
                      <a:pt x="334" y="6045"/>
                    </a:cubicBezTo>
                    <a:lnTo>
                      <a:pt x="334" y="4974"/>
                    </a:lnTo>
                    <a:cubicBezTo>
                      <a:pt x="334" y="4831"/>
                      <a:pt x="406" y="4712"/>
                      <a:pt x="525" y="4652"/>
                    </a:cubicBezTo>
                    <a:lnTo>
                      <a:pt x="1037" y="4402"/>
                    </a:lnTo>
                    <a:cubicBezTo>
                      <a:pt x="1239" y="4760"/>
                      <a:pt x="1644" y="4986"/>
                      <a:pt x="2060" y="4986"/>
                    </a:cubicBezTo>
                    <a:cubicBezTo>
                      <a:pt x="2489" y="4986"/>
                      <a:pt x="2882" y="4760"/>
                      <a:pt x="3084" y="4402"/>
                    </a:cubicBezTo>
                    <a:lnTo>
                      <a:pt x="3596" y="4652"/>
                    </a:lnTo>
                    <a:cubicBezTo>
                      <a:pt x="3704" y="4712"/>
                      <a:pt x="3787" y="4831"/>
                      <a:pt x="3787" y="4974"/>
                    </a:cubicBezTo>
                    <a:lnTo>
                      <a:pt x="3787" y="6022"/>
                    </a:lnTo>
                    <a:cubicBezTo>
                      <a:pt x="3787" y="6117"/>
                      <a:pt x="3858" y="6188"/>
                      <a:pt x="3954" y="6188"/>
                    </a:cubicBezTo>
                    <a:cubicBezTo>
                      <a:pt x="4037" y="6188"/>
                      <a:pt x="4108" y="6117"/>
                      <a:pt x="4108" y="6022"/>
                    </a:cubicBezTo>
                    <a:lnTo>
                      <a:pt x="4108" y="4974"/>
                    </a:lnTo>
                    <a:cubicBezTo>
                      <a:pt x="4132" y="4712"/>
                      <a:pt x="3977" y="4474"/>
                      <a:pt x="3739" y="4379"/>
                    </a:cubicBezTo>
                    <a:lnTo>
                      <a:pt x="3096" y="4045"/>
                    </a:lnTo>
                    <a:cubicBezTo>
                      <a:pt x="3537" y="3926"/>
                      <a:pt x="3799" y="3759"/>
                      <a:pt x="3930" y="3676"/>
                    </a:cubicBezTo>
                    <a:cubicBezTo>
                      <a:pt x="4073" y="3581"/>
                      <a:pt x="4108" y="3426"/>
                      <a:pt x="4049" y="3271"/>
                    </a:cubicBezTo>
                    <a:cubicBezTo>
                      <a:pt x="3918" y="2962"/>
                      <a:pt x="3775" y="2378"/>
                      <a:pt x="3775" y="1735"/>
                    </a:cubicBezTo>
                    <a:cubicBezTo>
                      <a:pt x="3775" y="866"/>
                      <a:pt x="3084" y="104"/>
                      <a:pt x="2227" y="9"/>
                    </a:cubicBezTo>
                    <a:cubicBezTo>
                      <a:pt x="2174" y="3"/>
                      <a:pt x="2120" y="0"/>
                      <a:pt x="20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118;p60">
                <a:extLst>
                  <a:ext uri="{FF2B5EF4-FFF2-40B4-BE49-F238E27FC236}">
                    <a16:creationId xmlns:a16="http://schemas.microsoft.com/office/drawing/2014/main" id="{189DF8AB-F127-5C20-BE10-5B6FD5989DD8}"/>
                  </a:ext>
                </a:extLst>
              </p:cNvPr>
              <p:cNvSpPr/>
              <p:nvPr/>
            </p:nvSpPr>
            <p:spPr>
              <a:xfrm>
                <a:off x="3116592" y="2293778"/>
                <a:ext cx="10630" cy="32241"/>
              </a:xfrm>
              <a:custGeom>
                <a:avLst/>
                <a:gdLst/>
                <a:ahLst/>
                <a:cxnLst/>
                <a:rect l="l" t="t" r="r" b="b"/>
                <a:pathLst>
                  <a:path w="334" h="1013" extrusionOk="0">
                    <a:moveTo>
                      <a:pt x="167" y="0"/>
                    </a:moveTo>
                    <a:cubicBezTo>
                      <a:pt x="72" y="0"/>
                      <a:pt x="0" y="72"/>
                      <a:pt x="0" y="167"/>
                    </a:cubicBezTo>
                    <a:lnTo>
                      <a:pt x="0" y="846"/>
                    </a:lnTo>
                    <a:cubicBezTo>
                      <a:pt x="0" y="941"/>
                      <a:pt x="72" y="1012"/>
                      <a:pt x="167" y="1012"/>
                    </a:cubicBezTo>
                    <a:cubicBezTo>
                      <a:pt x="250" y="1012"/>
                      <a:pt x="334" y="941"/>
                      <a:pt x="334" y="846"/>
                    </a:cubicBezTo>
                    <a:lnTo>
                      <a:pt x="334" y="167"/>
                    </a:lnTo>
                    <a:cubicBezTo>
                      <a:pt x="310" y="72"/>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119;p60">
                <a:extLst>
                  <a:ext uri="{FF2B5EF4-FFF2-40B4-BE49-F238E27FC236}">
                    <a16:creationId xmlns:a16="http://schemas.microsoft.com/office/drawing/2014/main" id="{DC44918A-D2E9-FB47-509D-1E3844FF85A2}"/>
                  </a:ext>
                </a:extLst>
              </p:cNvPr>
              <p:cNvSpPr/>
              <p:nvPr/>
            </p:nvSpPr>
            <p:spPr>
              <a:xfrm>
                <a:off x="3193519" y="2293778"/>
                <a:ext cx="10248" cy="32241"/>
              </a:xfrm>
              <a:custGeom>
                <a:avLst/>
                <a:gdLst/>
                <a:ahLst/>
                <a:cxnLst/>
                <a:rect l="l" t="t" r="r" b="b"/>
                <a:pathLst>
                  <a:path w="322" h="1013" extrusionOk="0">
                    <a:moveTo>
                      <a:pt x="155" y="0"/>
                    </a:moveTo>
                    <a:cubicBezTo>
                      <a:pt x="72" y="0"/>
                      <a:pt x="0" y="72"/>
                      <a:pt x="0" y="167"/>
                    </a:cubicBezTo>
                    <a:lnTo>
                      <a:pt x="0" y="846"/>
                    </a:lnTo>
                    <a:cubicBezTo>
                      <a:pt x="0" y="941"/>
                      <a:pt x="72" y="1012"/>
                      <a:pt x="155" y="1012"/>
                    </a:cubicBezTo>
                    <a:cubicBezTo>
                      <a:pt x="250" y="1012"/>
                      <a:pt x="322" y="941"/>
                      <a:pt x="322" y="846"/>
                    </a:cubicBezTo>
                    <a:lnTo>
                      <a:pt x="322" y="167"/>
                    </a:lnTo>
                    <a:cubicBezTo>
                      <a:pt x="310" y="72"/>
                      <a:pt x="250" y="0"/>
                      <a:pt x="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120;p60">
                <a:extLst>
                  <a:ext uri="{FF2B5EF4-FFF2-40B4-BE49-F238E27FC236}">
                    <a16:creationId xmlns:a16="http://schemas.microsoft.com/office/drawing/2014/main" id="{97BAD61D-06D2-AC0A-5B77-1F6EFB793376}"/>
                  </a:ext>
                </a:extLst>
              </p:cNvPr>
              <p:cNvSpPr/>
              <p:nvPr/>
            </p:nvSpPr>
            <p:spPr>
              <a:xfrm>
                <a:off x="3346227" y="2166755"/>
                <a:ext cx="54966" cy="18301"/>
              </a:xfrm>
              <a:custGeom>
                <a:avLst/>
                <a:gdLst/>
                <a:ahLst/>
                <a:cxnLst/>
                <a:rect l="l" t="t" r="r" b="b"/>
                <a:pathLst>
                  <a:path w="1727" h="575" extrusionOk="0">
                    <a:moveTo>
                      <a:pt x="646" y="0"/>
                    </a:moveTo>
                    <a:cubicBezTo>
                      <a:pt x="494" y="0"/>
                      <a:pt x="326" y="15"/>
                      <a:pt x="143" y="50"/>
                    </a:cubicBezTo>
                    <a:cubicBezTo>
                      <a:pt x="60" y="62"/>
                      <a:pt x="0" y="122"/>
                      <a:pt x="0" y="217"/>
                    </a:cubicBezTo>
                    <a:lnTo>
                      <a:pt x="0" y="396"/>
                    </a:lnTo>
                    <a:cubicBezTo>
                      <a:pt x="0" y="479"/>
                      <a:pt x="84" y="550"/>
                      <a:pt x="167" y="550"/>
                    </a:cubicBezTo>
                    <a:cubicBezTo>
                      <a:pt x="262" y="550"/>
                      <a:pt x="334" y="479"/>
                      <a:pt x="334" y="396"/>
                    </a:cubicBezTo>
                    <a:lnTo>
                      <a:pt x="334" y="360"/>
                    </a:lnTo>
                    <a:cubicBezTo>
                      <a:pt x="445" y="344"/>
                      <a:pt x="549" y="338"/>
                      <a:pt x="645" y="338"/>
                    </a:cubicBezTo>
                    <a:cubicBezTo>
                      <a:pt x="845" y="338"/>
                      <a:pt x="1007" y="367"/>
                      <a:pt x="1120" y="407"/>
                    </a:cubicBezTo>
                    <a:cubicBezTo>
                      <a:pt x="1334" y="467"/>
                      <a:pt x="1453" y="538"/>
                      <a:pt x="1453" y="538"/>
                    </a:cubicBezTo>
                    <a:cubicBezTo>
                      <a:pt x="1477" y="550"/>
                      <a:pt x="1512" y="574"/>
                      <a:pt x="1536" y="574"/>
                    </a:cubicBezTo>
                    <a:cubicBezTo>
                      <a:pt x="1584" y="574"/>
                      <a:pt x="1643" y="538"/>
                      <a:pt x="1667" y="491"/>
                    </a:cubicBezTo>
                    <a:cubicBezTo>
                      <a:pt x="1727" y="396"/>
                      <a:pt x="1715" y="288"/>
                      <a:pt x="1643" y="241"/>
                    </a:cubicBezTo>
                    <a:cubicBezTo>
                      <a:pt x="1615" y="231"/>
                      <a:pt x="1258" y="0"/>
                      <a:pt x="6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121;p60">
                <a:extLst>
                  <a:ext uri="{FF2B5EF4-FFF2-40B4-BE49-F238E27FC236}">
                    <a16:creationId xmlns:a16="http://schemas.microsoft.com/office/drawing/2014/main" id="{E683885D-F73A-1EE4-6B9C-2A8007AB0155}"/>
                  </a:ext>
                </a:extLst>
              </p:cNvPr>
              <p:cNvSpPr/>
              <p:nvPr/>
            </p:nvSpPr>
            <p:spPr>
              <a:xfrm>
                <a:off x="3302655" y="2134991"/>
                <a:ext cx="141760" cy="192143"/>
              </a:xfrm>
              <a:custGeom>
                <a:avLst/>
                <a:gdLst/>
                <a:ahLst/>
                <a:cxnLst/>
                <a:rect l="l" t="t" r="r" b="b"/>
                <a:pathLst>
                  <a:path w="4454" h="6037" extrusionOk="0">
                    <a:moveTo>
                      <a:pt x="3453" y="334"/>
                    </a:moveTo>
                    <a:lnTo>
                      <a:pt x="3453" y="1132"/>
                    </a:lnTo>
                    <a:cubicBezTo>
                      <a:pt x="3453" y="1263"/>
                      <a:pt x="3429" y="1405"/>
                      <a:pt x="3370" y="1525"/>
                    </a:cubicBezTo>
                    <a:lnTo>
                      <a:pt x="3310" y="1644"/>
                    </a:lnTo>
                    <a:cubicBezTo>
                      <a:pt x="3298" y="1667"/>
                      <a:pt x="3298" y="1691"/>
                      <a:pt x="3298" y="1715"/>
                    </a:cubicBezTo>
                    <a:lnTo>
                      <a:pt x="3298" y="2060"/>
                    </a:lnTo>
                    <a:cubicBezTo>
                      <a:pt x="3274" y="2346"/>
                      <a:pt x="3155" y="2608"/>
                      <a:pt x="2953" y="2799"/>
                    </a:cubicBezTo>
                    <a:cubicBezTo>
                      <a:pt x="2739" y="3001"/>
                      <a:pt x="2477" y="3096"/>
                      <a:pt x="2191" y="3096"/>
                    </a:cubicBezTo>
                    <a:cubicBezTo>
                      <a:pt x="1643" y="3084"/>
                      <a:pt x="1179" y="2596"/>
                      <a:pt x="1179" y="2013"/>
                    </a:cubicBezTo>
                    <a:lnTo>
                      <a:pt x="1179" y="1715"/>
                    </a:lnTo>
                    <a:cubicBezTo>
                      <a:pt x="1179" y="1691"/>
                      <a:pt x="1179" y="1667"/>
                      <a:pt x="1167" y="1644"/>
                    </a:cubicBezTo>
                    <a:lnTo>
                      <a:pt x="1107" y="1525"/>
                    </a:lnTo>
                    <a:cubicBezTo>
                      <a:pt x="1048" y="1405"/>
                      <a:pt x="1012" y="1275"/>
                      <a:pt x="1012" y="1132"/>
                    </a:cubicBezTo>
                    <a:cubicBezTo>
                      <a:pt x="1012" y="691"/>
                      <a:pt x="1369" y="334"/>
                      <a:pt x="1822" y="334"/>
                    </a:cubicBezTo>
                    <a:close/>
                    <a:moveTo>
                      <a:pt x="2762" y="3310"/>
                    </a:moveTo>
                    <a:lnTo>
                      <a:pt x="2762" y="3537"/>
                    </a:lnTo>
                    <a:cubicBezTo>
                      <a:pt x="2762" y="3572"/>
                      <a:pt x="2774" y="3620"/>
                      <a:pt x="2774" y="3680"/>
                    </a:cubicBezTo>
                    <a:lnTo>
                      <a:pt x="2239" y="4096"/>
                    </a:lnTo>
                    <a:lnTo>
                      <a:pt x="1691" y="3680"/>
                    </a:lnTo>
                    <a:cubicBezTo>
                      <a:pt x="1703" y="3632"/>
                      <a:pt x="1703" y="3584"/>
                      <a:pt x="1703" y="3537"/>
                    </a:cubicBezTo>
                    <a:lnTo>
                      <a:pt x="1703" y="3310"/>
                    </a:lnTo>
                    <a:cubicBezTo>
                      <a:pt x="1846" y="3370"/>
                      <a:pt x="2012" y="3406"/>
                      <a:pt x="2191" y="3406"/>
                    </a:cubicBezTo>
                    <a:lnTo>
                      <a:pt x="2239" y="3406"/>
                    </a:lnTo>
                    <a:cubicBezTo>
                      <a:pt x="2417" y="3406"/>
                      <a:pt x="2596" y="3382"/>
                      <a:pt x="2762" y="3310"/>
                    </a:cubicBezTo>
                    <a:close/>
                    <a:moveTo>
                      <a:pt x="1822" y="1"/>
                    </a:moveTo>
                    <a:cubicBezTo>
                      <a:pt x="1191" y="1"/>
                      <a:pt x="703" y="513"/>
                      <a:pt x="703" y="1120"/>
                    </a:cubicBezTo>
                    <a:cubicBezTo>
                      <a:pt x="703" y="1298"/>
                      <a:pt x="750" y="1489"/>
                      <a:pt x="822" y="1656"/>
                    </a:cubicBezTo>
                    <a:lnTo>
                      <a:pt x="869" y="1751"/>
                    </a:lnTo>
                    <a:lnTo>
                      <a:pt x="869" y="2001"/>
                    </a:lnTo>
                    <a:cubicBezTo>
                      <a:pt x="869" y="2441"/>
                      <a:pt x="1072" y="2846"/>
                      <a:pt x="1381" y="3096"/>
                    </a:cubicBezTo>
                    <a:lnTo>
                      <a:pt x="1381" y="3537"/>
                    </a:lnTo>
                    <a:cubicBezTo>
                      <a:pt x="1381" y="3608"/>
                      <a:pt x="1346" y="3680"/>
                      <a:pt x="1274" y="3703"/>
                    </a:cubicBezTo>
                    <a:lnTo>
                      <a:pt x="453" y="4025"/>
                    </a:lnTo>
                    <a:cubicBezTo>
                      <a:pt x="179" y="4132"/>
                      <a:pt x="0" y="4382"/>
                      <a:pt x="0" y="4668"/>
                    </a:cubicBezTo>
                    <a:lnTo>
                      <a:pt x="0" y="5858"/>
                    </a:lnTo>
                    <a:cubicBezTo>
                      <a:pt x="0" y="5942"/>
                      <a:pt x="83" y="6013"/>
                      <a:pt x="167" y="6013"/>
                    </a:cubicBezTo>
                    <a:cubicBezTo>
                      <a:pt x="262" y="6013"/>
                      <a:pt x="334" y="5942"/>
                      <a:pt x="334" y="5858"/>
                    </a:cubicBezTo>
                    <a:lnTo>
                      <a:pt x="334" y="4668"/>
                    </a:lnTo>
                    <a:cubicBezTo>
                      <a:pt x="334" y="4513"/>
                      <a:pt x="417" y="4382"/>
                      <a:pt x="560" y="4334"/>
                    </a:cubicBezTo>
                    <a:lnTo>
                      <a:pt x="1369" y="4025"/>
                    </a:lnTo>
                    <a:cubicBezTo>
                      <a:pt x="1417" y="4001"/>
                      <a:pt x="1465" y="3977"/>
                      <a:pt x="1488" y="3965"/>
                    </a:cubicBezTo>
                    <a:lnTo>
                      <a:pt x="2060" y="4394"/>
                    </a:lnTo>
                    <a:lnTo>
                      <a:pt x="2060" y="5870"/>
                    </a:lnTo>
                    <a:cubicBezTo>
                      <a:pt x="2060" y="5954"/>
                      <a:pt x="2131" y="6037"/>
                      <a:pt x="2215" y="6037"/>
                    </a:cubicBezTo>
                    <a:cubicBezTo>
                      <a:pt x="2310" y="6037"/>
                      <a:pt x="2381" y="5954"/>
                      <a:pt x="2381" y="5870"/>
                    </a:cubicBezTo>
                    <a:lnTo>
                      <a:pt x="2381" y="4394"/>
                    </a:lnTo>
                    <a:lnTo>
                      <a:pt x="2953" y="3965"/>
                    </a:lnTo>
                    <a:cubicBezTo>
                      <a:pt x="2977" y="3989"/>
                      <a:pt x="3024" y="4013"/>
                      <a:pt x="3072" y="4025"/>
                    </a:cubicBezTo>
                    <a:lnTo>
                      <a:pt x="3882" y="4334"/>
                    </a:lnTo>
                    <a:cubicBezTo>
                      <a:pt x="4024" y="4382"/>
                      <a:pt x="4108" y="4513"/>
                      <a:pt x="4108" y="4668"/>
                    </a:cubicBezTo>
                    <a:lnTo>
                      <a:pt x="4108" y="5858"/>
                    </a:lnTo>
                    <a:cubicBezTo>
                      <a:pt x="4108" y="5942"/>
                      <a:pt x="4179" y="6013"/>
                      <a:pt x="4274" y="6013"/>
                    </a:cubicBezTo>
                    <a:cubicBezTo>
                      <a:pt x="4358" y="6013"/>
                      <a:pt x="4441" y="5942"/>
                      <a:pt x="4441" y="5858"/>
                    </a:cubicBezTo>
                    <a:lnTo>
                      <a:pt x="4441" y="4668"/>
                    </a:lnTo>
                    <a:cubicBezTo>
                      <a:pt x="4453" y="4382"/>
                      <a:pt x="4274" y="4108"/>
                      <a:pt x="4024" y="4025"/>
                    </a:cubicBezTo>
                    <a:lnTo>
                      <a:pt x="3203" y="3703"/>
                    </a:lnTo>
                    <a:cubicBezTo>
                      <a:pt x="3131" y="3680"/>
                      <a:pt x="3084" y="3620"/>
                      <a:pt x="3084" y="3537"/>
                    </a:cubicBezTo>
                    <a:lnTo>
                      <a:pt x="3084" y="3108"/>
                    </a:lnTo>
                    <a:cubicBezTo>
                      <a:pt x="3120" y="3084"/>
                      <a:pt x="3155" y="3060"/>
                      <a:pt x="3191" y="3025"/>
                    </a:cubicBezTo>
                    <a:cubicBezTo>
                      <a:pt x="3453" y="2775"/>
                      <a:pt x="3608" y="2418"/>
                      <a:pt x="3608" y="2037"/>
                    </a:cubicBezTo>
                    <a:lnTo>
                      <a:pt x="3608" y="1727"/>
                    </a:lnTo>
                    <a:lnTo>
                      <a:pt x="3655" y="1644"/>
                    </a:lnTo>
                    <a:cubicBezTo>
                      <a:pt x="3739" y="1477"/>
                      <a:pt x="3774" y="1298"/>
                      <a:pt x="3774" y="1108"/>
                    </a:cubicBezTo>
                    <a:lnTo>
                      <a:pt x="3774" y="167"/>
                    </a:lnTo>
                    <a:cubicBezTo>
                      <a:pt x="3774" y="84"/>
                      <a:pt x="3691" y="1"/>
                      <a:pt x="3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122;p60">
                <a:extLst>
                  <a:ext uri="{FF2B5EF4-FFF2-40B4-BE49-F238E27FC236}">
                    <a16:creationId xmlns:a16="http://schemas.microsoft.com/office/drawing/2014/main" id="{7746CF4F-4C45-60C4-2EB5-D5CD1BF8F6A5}"/>
                  </a:ext>
                </a:extLst>
              </p:cNvPr>
              <p:cNvSpPr/>
              <p:nvPr/>
            </p:nvSpPr>
            <p:spPr>
              <a:xfrm>
                <a:off x="3330313" y="2288463"/>
                <a:ext cx="10248" cy="37938"/>
              </a:xfrm>
              <a:custGeom>
                <a:avLst/>
                <a:gdLst/>
                <a:ahLst/>
                <a:cxnLst/>
                <a:rect l="l" t="t" r="r" b="b"/>
                <a:pathLst>
                  <a:path w="322" h="1192" extrusionOk="0">
                    <a:moveTo>
                      <a:pt x="167" y="1"/>
                    </a:moveTo>
                    <a:cubicBezTo>
                      <a:pt x="72" y="1"/>
                      <a:pt x="0" y="84"/>
                      <a:pt x="0" y="167"/>
                    </a:cubicBezTo>
                    <a:lnTo>
                      <a:pt x="0" y="1036"/>
                    </a:lnTo>
                    <a:cubicBezTo>
                      <a:pt x="0" y="1120"/>
                      <a:pt x="72" y="1191"/>
                      <a:pt x="167" y="1191"/>
                    </a:cubicBezTo>
                    <a:cubicBezTo>
                      <a:pt x="250" y="1191"/>
                      <a:pt x="322" y="1120"/>
                      <a:pt x="322" y="1036"/>
                    </a:cubicBezTo>
                    <a:lnTo>
                      <a:pt x="322" y="167"/>
                    </a:lnTo>
                    <a:cubicBezTo>
                      <a:pt x="310" y="84"/>
                      <a:pt x="250"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123;p60">
                <a:extLst>
                  <a:ext uri="{FF2B5EF4-FFF2-40B4-BE49-F238E27FC236}">
                    <a16:creationId xmlns:a16="http://schemas.microsoft.com/office/drawing/2014/main" id="{AD49EDA7-D403-E854-797C-9F9520376D17}"/>
                  </a:ext>
                </a:extLst>
              </p:cNvPr>
              <p:cNvSpPr/>
              <p:nvPr/>
            </p:nvSpPr>
            <p:spPr>
              <a:xfrm>
                <a:off x="3406859" y="2288463"/>
                <a:ext cx="10630" cy="37938"/>
              </a:xfrm>
              <a:custGeom>
                <a:avLst/>
                <a:gdLst/>
                <a:ahLst/>
                <a:cxnLst/>
                <a:rect l="l" t="t" r="r" b="b"/>
                <a:pathLst>
                  <a:path w="334" h="1192" extrusionOk="0">
                    <a:moveTo>
                      <a:pt x="167" y="1"/>
                    </a:moveTo>
                    <a:cubicBezTo>
                      <a:pt x="84" y="1"/>
                      <a:pt x="0" y="84"/>
                      <a:pt x="0" y="167"/>
                    </a:cubicBezTo>
                    <a:lnTo>
                      <a:pt x="0" y="1036"/>
                    </a:lnTo>
                    <a:cubicBezTo>
                      <a:pt x="0" y="1120"/>
                      <a:pt x="84" y="1191"/>
                      <a:pt x="167" y="1191"/>
                    </a:cubicBezTo>
                    <a:cubicBezTo>
                      <a:pt x="262" y="1191"/>
                      <a:pt x="334" y="1120"/>
                      <a:pt x="334" y="1036"/>
                    </a:cubicBezTo>
                    <a:lnTo>
                      <a:pt x="334" y="167"/>
                    </a:lnTo>
                    <a:cubicBezTo>
                      <a:pt x="322" y="84"/>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124;p60">
                <a:extLst>
                  <a:ext uri="{FF2B5EF4-FFF2-40B4-BE49-F238E27FC236}">
                    <a16:creationId xmlns:a16="http://schemas.microsoft.com/office/drawing/2014/main" id="{92E5AB7D-DC36-A7AD-7E28-A0C7F0361BFD}"/>
                  </a:ext>
                </a:extLst>
              </p:cNvPr>
              <p:cNvSpPr/>
              <p:nvPr/>
            </p:nvSpPr>
            <p:spPr>
              <a:xfrm>
                <a:off x="3149183" y="1976585"/>
                <a:ext cx="219419" cy="183072"/>
              </a:xfrm>
              <a:custGeom>
                <a:avLst/>
                <a:gdLst/>
                <a:ahLst/>
                <a:cxnLst/>
                <a:rect l="l" t="t" r="r" b="b"/>
                <a:pathLst>
                  <a:path w="6894" h="5752" extrusionOk="0">
                    <a:moveTo>
                      <a:pt x="2369" y="4108"/>
                    </a:moveTo>
                    <a:lnTo>
                      <a:pt x="2286" y="4466"/>
                    </a:lnTo>
                    <a:lnTo>
                      <a:pt x="2060" y="4466"/>
                    </a:lnTo>
                    <a:cubicBezTo>
                      <a:pt x="1869" y="4466"/>
                      <a:pt x="1703" y="4299"/>
                      <a:pt x="1703" y="4108"/>
                    </a:cubicBezTo>
                    <a:close/>
                    <a:moveTo>
                      <a:pt x="5513" y="310"/>
                    </a:moveTo>
                    <a:cubicBezTo>
                      <a:pt x="5703" y="310"/>
                      <a:pt x="5870" y="477"/>
                      <a:pt x="5870" y="667"/>
                    </a:cubicBezTo>
                    <a:lnTo>
                      <a:pt x="5870" y="3418"/>
                    </a:lnTo>
                    <a:cubicBezTo>
                      <a:pt x="5870" y="3608"/>
                      <a:pt x="5703" y="3775"/>
                      <a:pt x="5513" y="3775"/>
                    </a:cubicBezTo>
                    <a:lnTo>
                      <a:pt x="4132" y="3775"/>
                    </a:lnTo>
                    <a:cubicBezTo>
                      <a:pt x="4096" y="3775"/>
                      <a:pt x="4048" y="3787"/>
                      <a:pt x="4036" y="3811"/>
                    </a:cubicBezTo>
                    <a:lnTo>
                      <a:pt x="2500" y="4918"/>
                    </a:lnTo>
                    <a:lnTo>
                      <a:pt x="2739" y="3966"/>
                    </a:lnTo>
                    <a:cubicBezTo>
                      <a:pt x="2762" y="3930"/>
                      <a:pt x="2739" y="3870"/>
                      <a:pt x="2715" y="3835"/>
                    </a:cubicBezTo>
                    <a:cubicBezTo>
                      <a:pt x="2679" y="3787"/>
                      <a:pt x="2643" y="3775"/>
                      <a:pt x="2584" y="3775"/>
                    </a:cubicBezTo>
                    <a:lnTo>
                      <a:pt x="691" y="3775"/>
                    </a:lnTo>
                    <a:cubicBezTo>
                      <a:pt x="500" y="3775"/>
                      <a:pt x="333" y="3608"/>
                      <a:pt x="333" y="3418"/>
                    </a:cubicBezTo>
                    <a:lnTo>
                      <a:pt x="333" y="667"/>
                    </a:lnTo>
                    <a:cubicBezTo>
                      <a:pt x="333" y="477"/>
                      <a:pt x="500" y="310"/>
                      <a:pt x="691" y="310"/>
                    </a:cubicBezTo>
                    <a:close/>
                    <a:moveTo>
                      <a:pt x="6215" y="989"/>
                    </a:moveTo>
                    <a:cubicBezTo>
                      <a:pt x="6406" y="989"/>
                      <a:pt x="6572" y="1156"/>
                      <a:pt x="6572" y="1346"/>
                    </a:cubicBezTo>
                    <a:lnTo>
                      <a:pt x="6572" y="4108"/>
                    </a:lnTo>
                    <a:lnTo>
                      <a:pt x="6549" y="4108"/>
                    </a:lnTo>
                    <a:cubicBezTo>
                      <a:pt x="6549" y="4299"/>
                      <a:pt x="6394" y="4466"/>
                      <a:pt x="6191" y="4466"/>
                    </a:cubicBezTo>
                    <a:lnTo>
                      <a:pt x="4810" y="4466"/>
                    </a:lnTo>
                    <a:cubicBezTo>
                      <a:pt x="4763" y="4466"/>
                      <a:pt x="4727" y="4477"/>
                      <a:pt x="4691" y="4513"/>
                    </a:cubicBezTo>
                    <a:cubicBezTo>
                      <a:pt x="4667" y="4549"/>
                      <a:pt x="4644" y="4608"/>
                      <a:pt x="4667" y="4656"/>
                    </a:cubicBezTo>
                    <a:lnTo>
                      <a:pt x="4763" y="5323"/>
                    </a:lnTo>
                    <a:lnTo>
                      <a:pt x="3596" y="4537"/>
                    </a:lnTo>
                    <a:lnTo>
                      <a:pt x="4191" y="4096"/>
                    </a:lnTo>
                    <a:lnTo>
                      <a:pt x="5513" y="4096"/>
                    </a:lnTo>
                    <a:cubicBezTo>
                      <a:pt x="5882" y="4096"/>
                      <a:pt x="6191" y="3799"/>
                      <a:pt x="6191" y="3418"/>
                    </a:cubicBezTo>
                    <a:lnTo>
                      <a:pt x="6191" y="989"/>
                    </a:lnTo>
                    <a:close/>
                    <a:moveTo>
                      <a:pt x="691" y="1"/>
                    </a:moveTo>
                    <a:cubicBezTo>
                      <a:pt x="322" y="1"/>
                      <a:pt x="0" y="298"/>
                      <a:pt x="0" y="679"/>
                    </a:cubicBezTo>
                    <a:lnTo>
                      <a:pt x="0" y="3430"/>
                    </a:lnTo>
                    <a:cubicBezTo>
                      <a:pt x="0" y="3811"/>
                      <a:pt x="298" y="4120"/>
                      <a:pt x="691" y="4120"/>
                    </a:cubicBezTo>
                    <a:lnTo>
                      <a:pt x="1393" y="4120"/>
                    </a:lnTo>
                    <a:lnTo>
                      <a:pt x="1393" y="4132"/>
                    </a:lnTo>
                    <a:cubicBezTo>
                      <a:pt x="1393" y="4501"/>
                      <a:pt x="1691" y="4823"/>
                      <a:pt x="2072" y="4823"/>
                    </a:cubicBezTo>
                    <a:lnTo>
                      <a:pt x="2203" y="4823"/>
                    </a:lnTo>
                    <a:lnTo>
                      <a:pt x="2143" y="5073"/>
                    </a:lnTo>
                    <a:cubicBezTo>
                      <a:pt x="2119" y="5180"/>
                      <a:pt x="2167" y="5275"/>
                      <a:pt x="2250" y="5335"/>
                    </a:cubicBezTo>
                    <a:cubicBezTo>
                      <a:pt x="2298" y="5370"/>
                      <a:pt x="2346" y="5382"/>
                      <a:pt x="2381" y="5382"/>
                    </a:cubicBezTo>
                    <a:cubicBezTo>
                      <a:pt x="2429" y="5382"/>
                      <a:pt x="2489" y="5370"/>
                      <a:pt x="2536" y="5335"/>
                    </a:cubicBezTo>
                    <a:lnTo>
                      <a:pt x="3251" y="4823"/>
                    </a:lnTo>
                    <a:lnTo>
                      <a:pt x="3417" y="4823"/>
                    </a:lnTo>
                    <a:lnTo>
                      <a:pt x="4751" y="5716"/>
                    </a:lnTo>
                    <a:cubicBezTo>
                      <a:pt x="4798" y="5740"/>
                      <a:pt x="4846" y="5751"/>
                      <a:pt x="4882" y="5751"/>
                    </a:cubicBezTo>
                    <a:cubicBezTo>
                      <a:pt x="4929" y="5751"/>
                      <a:pt x="4977" y="5740"/>
                      <a:pt x="5025" y="5716"/>
                    </a:cubicBezTo>
                    <a:cubicBezTo>
                      <a:pt x="5108" y="5656"/>
                      <a:pt x="5144" y="5561"/>
                      <a:pt x="5120" y="5454"/>
                    </a:cubicBezTo>
                    <a:lnTo>
                      <a:pt x="5025" y="4799"/>
                    </a:lnTo>
                    <a:lnTo>
                      <a:pt x="6215" y="4799"/>
                    </a:lnTo>
                    <a:cubicBezTo>
                      <a:pt x="6584" y="4799"/>
                      <a:pt x="6894" y="4501"/>
                      <a:pt x="6894" y="4120"/>
                    </a:cubicBezTo>
                    <a:lnTo>
                      <a:pt x="6894" y="1370"/>
                    </a:lnTo>
                    <a:cubicBezTo>
                      <a:pt x="6870" y="977"/>
                      <a:pt x="6572" y="679"/>
                      <a:pt x="6191" y="679"/>
                    </a:cubicBezTo>
                    <a:cubicBezTo>
                      <a:pt x="6179" y="298"/>
                      <a:pt x="5882" y="1"/>
                      <a:pt x="55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9125;p60">
                <a:extLst>
                  <a:ext uri="{FF2B5EF4-FFF2-40B4-BE49-F238E27FC236}">
                    <a16:creationId xmlns:a16="http://schemas.microsoft.com/office/drawing/2014/main" id="{11687A3F-F655-A875-12BB-DA62A921278F}"/>
                  </a:ext>
                </a:extLst>
              </p:cNvPr>
              <p:cNvSpPr/>
              <p:nvPr/>
            </p:nvSpPr>
            <p:spPr>
              <a:xfrm>
                <a:off x="3187822" y="2009177"/>
                <a:ext cx="26926" cy="10280"/>
              </a:xfrm>
              <a:custGeom>
                <a:avLst/>
                <a:gdLst/>
                <a:ahLst/>
                <a:cxnLst/>
                <a:rect l="l" t="t" r="r" b="b"/>
                <a:pathLst>
                  <a:path w="846" h="323" extrusionOk="0">
                    <a:moveTo>
                      <a:pt x="155" y="1"/>
                    </a:moveTo>
                    <a:cubicBezTo>
                      <a:pt x="72" y="1"/>
                      <a:pt x="1" y="72"/>
                      <a:pt x="1" y="167"/>
                    </a:cubicBezTo>
                    <a:cubicBezTo>
                      <a:pt x="1" y="251"/>
                      <a:pt x="72" y="322"/>
                      <a:pt x="155" y="322"/>
                    </a:cubicBezTo>
                    <a:lnTo>
                      <a:pt x="679" y="322"/>
                    </a:lnTo>
                    <a:cubicBezTo>
                      <a:pt x="774" y="322"/>
                      <a:pt x="846" y="251"/>
                      <a:pt x="846" y="167"/>
                    </a:cubicBezTo>
                    <a:cubicBezTo>
                      <a:pt x="846" y="72"/>
                      <a:pt x="774" y="1"/>
                      <a:pt x="6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126;p60">
                <a:extLst>
                  <a:ext uri="{FF2B5EF4-FFF2-40B4-BE49-F238E27FC236}">
                    <a16:creationId xmlns:a16="http://schemas.microsoft.com/office/drawing/2014/main" id="{1C776056-EF61-AD08-8559-6EC742DC2709}"/>
                  </a:ext>
                </a:extLst>
              </p:cNvPr>
              <p:cNvSpPr/>
              <p:nvPr/>
            </p:nvSpPr>
            <p:spPr>
              <a:xfrm>
                <a:off x="3226110" y="2009177"/>
                <a:ext cx="81478" cy="10280"/>
              </a:xfrm>
              <a:custGeom>
                <a:avLst/>
                <a:gdLst/>
                <a:ahLst/>
                <a:cxnLst/>
                <a:rect l="l" t="t" r="r" b="b"/>
                <a:pathLst>
                  <a:path w="2560" h="323" extrusionOk="0">
                    <a:moveTo>
                      <a:pt x="167" y="1"/>
                    </a:moveTo>
                    <a:cubicBezTo>
                      <a:pt x="72" y="1"/>
                      <a:pt x="0" y="72"/>
                      <a:pt x="0" y="167"/>
                    </a:cubicBezTo>
                    <a:cubicBezTo>
                      <a:pt x="0" y="251"/>
                      <a:pt x="72" y="322"/>
                      <a:pt x="167" y="322"/>
                    </a:cubicBezTo>
                    <a:lnTo>
                      <a:pt x="2393" y="322"/>
                    </a:lnTo>
                    <a:cubicBezTo>
                      <a:pt x="2488" y="322"/>
                      <a:pt x="2560" y="251"/>
                      <a:pt x="2560" y="167"/>
                    </a:cubicBezTo>
                    <a:cubicBezTo>
                      <a:pt x="2560" y="72"/>
                      <a:pt x="2488" y="1"/>
                      <a:pt x="23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127;p60">
                <a:extLst>
                  <a:ext uri="{FF2B5EF4-FFF2-40B4-BE49-F238E27FC236}">
                    <a16:creationId xmlns:a16="http://schemas.microsoft.com/office/drawing/2014/main" id="{00719542-47AC-7DCA-6C00-044C5A97027D}"/>
                  </a:ext>
                </a:extLst>
              </p:cNvPr>
              <p:cNvSpPr/>
              <p:nvPr/>
            </p:nvSpPr>
            <p:spPr>
              <a:xfrm>
                <a:off x="3187822" y="2036453"/>
                <a:ext cx="119767" cy="10662"/>
              </a:xfrm>
              <a:custGeom>
                <a:avLst/>
                <a:gdLst/>
                <a:ahLst/>
                <a:cxnLst/>
                <a:rect l="l" t="t" r="r" b="b"/>
                <a:pathLst>
                  <a:path w="3763" h="335" extrusionOk="0">
                    <a:moveTo>
                      <a:pt x="155" y="1"/>
                    </a:moveTo>
                    <a:cubicBezTo>
                      <a:pt x="72" y="1"/>
                      <a:pt x="1" y="84"/>
                      <a:pt x="1" y="168"/>
                    </a:cubicBezTo>
                    <a:cubicBezTo>
                      <a:pt x="1" y="263"/>
                      <a:pt x="72" y="334"/>
                      <a:pt x="155" y="334"/>
                    </a:cubicBezTo>
                    <a:lnTo>
                      <a:pt x="3596" y="334"/>
                    </a:lnTo>
                    <a:cubicBezTo>
                      <a:pt x="3691" y="334"/>
                      <a:pt x="3763" y="263"/>
                      <a:pt x="3763" y="168"/>
                    </a:cubicBezTo>
                    <a:cubicBezTo>
                      <a:pt x="3763" y="84"/>
                      <a:pt x="3691" y="1"/>
                      <a:pt x="35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128;p60">
                <a:extLst>
                  <a:ext uri="{FF2B5EF4-FFF2-40B4-BE49-F238E27FC236}">
                    <a16:creationId xmlns:a16="http://schemas.microsoft.com/office/drawing/2014/main" id="{FDC01065-C623-55D8-03E3-2B8CB7E2E430}"/>
                  </a:ext>
                </a:extLst>
              </p:cNvPr>
              <p:cNvSpPr/>
              <p:nvPr/>
            </p:nvSpPr>
            <p:spPr>
              <a:xfrm>
                <a:off x="3187822" y="2064143"/>
                <a:ext cx="81510" cy="10248"/>
              </a:xfrm>
              <a:custGeom>
                <a:avLst/>
                <a:gdLst/>
                <a:ahLst/>
                <a:cxnLst/>
                <a:rect l="l" t="t" r="r" b="b"/>
                <a:pathLst>
                  <a:path w="2561" h="322" extrusionOk="0">
                    <a:moveTo>
                      <a:pt x="155" y="0"/>
                    </a:moveTo>
                    <a:cubicBezTo>
                      <a:pt x="72" y="0"/>
                      <a:pt x="1" y="72"/>
                      <a:pt x="1" y="167"/>
                    </a:cubicBezTo>
                    <a:cubicBezTo>
                      <a:pt x="1" y="250"/>
                      <a:pt x="72" y="322"/>
                      <a:pt x="155" y="322"/>
                    </a:cubicBezTo>
                    <a:lnTo>
                      <a:pt x="2394" y="322"/>
                    </a:lnTo>
                    <a:cubicBezTo>
                      <a:pt x="2477" y="322"/>
                      <a:pt x="2560" y="250"/>
                      <a:pt x="2560" y="167"/>
                    </a:cubicBezTo>
                    <a:cubicBezTo>
                      <a:pt x="2560" y="72"/>
                      <a:pt x="2477" y="0"/>
                      <a:pt x="23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129;p60">
                <a:extLst>
                  <a:ext uri="{FF2B5EF4-FFF2-40B4-BE49-F238E27FC236}">
                    <a16:creationId xmlns:a16="http://schemas.microsoft.com/office/drawing/2014/main" id="{7D854800-F540-1F44-8B7E-1CEA1C52FE49}"/>
                  </a:ext>
                </a:extLst>
              </p:cNvPr>
              <p:cNvSpPr/>
              <p:nvPr/>
            </p:nvSpPr>
            <p:spPr>
              <a:xfrm>
                <a:off x="3280663" y="2064143"/>
                <a:ext cx="26926" cy="10248"/>
              </a:xfrm>
              <a:custGeom>
                <a:avLst/>
                <a:gdLst/>
                <a:ahLst/>
                <a:cxnLst/>
                <a:rect l="l" t="t" r="r" b="b"/>
                <a:pathLst>
                  <a:path w="846" h="322" extrusionOk="0">
                    <a:moveTo>
                      <a:pt x="155" y="0"/>
                    </a:moveTo>
                    <a:cubicBezTo>
                      <a:pt x="72" y="0"/>
                      <a:pt x="1" y="72"/>
                      <a:pt x="1" y="167"/>
                    </a:cubicBezTo>
                    <a:cubicBezTo>
                      <a:pt x="1" y="250"/>
                      <a:pt x="72" y="322"/>
                      <a:pt x="155" y="322"/>
                    </a:cubicBezTo>
                    <a:lnTo>
                      <a:pt x="679" y="322"/>
                    </a:lnTo>
                    <a:cubicBezTo>
                      <a:pt x="774" y="322"/>
                      <a:pt x="846" y="250"/>
                      <a:pt x="846" y="167"/>
                    </a:cubicBezTo>
                    <a:cubicBezTo>
                      <a:pt x="846" y="72"/>
                      <a:pt x="774" y="0"/>
                      <a:pt x="6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 name="Google Shape;11937;p64">
            <a:extLst>
              <a:ext uri="{FF2B5EF4-FFF2-40B4-BE49-F238E27FC236}">
                <a16:creationId xmlns:a16="http://schemas.microsoft.com/office/drawing/2014/main" id="{8A672AA3-BA03-C71B-939A-E7CB4A12CAEB}"/>
              </a:ext>
            </a:extLst>
          </p:cNvPr>
          <p:cNvGrpSpPr/>
          <p:nvPr/>
        </p:nvGrpSpPr>
        <p:grpSpPr>
          <a:xfrm>
            <a:off x="4419018" y="1809606"/>
            <a:ext cx="327085" cy="277080"/>
            <a:chOff x="2770052" y="2009628"/>
            <a:chExt cx="327085" cy="277080"/>
          </a:xfrm>
          <a:solidFill>
            <a:schemeClr val="tx1"/>
          </a:solidFill>
        </p:grpSpPr>
        <p:sp>
          <p:nvSpPr>
            <p:cNvPr id="52" name="Google Shape;11938;p64">
              <a:extLst>
                <a:ext uri="{FF2B5EF4-FFF2-40B4-BE49-F238E27FC236}">
                  <a16:creationId xmlns:a16="http://schemas.microsoft.com/office/drawing/2014/main" id="{97E1D611-B820-9DAD-DD3B-1662AFC4257B}"/>
                </a:ext>
              </a:extLst>
            </p:cNvPr>
            <p:cNvSpPr/>
            <p:nvPr/>
          </p:nvSpPr>
          <p:spPr>
            <a:xfrm>
              <a:off x="2770052" y="2023537"/>
              <a:ext cx="327085" cy="263170"/>
            </a:xfrm>
            <a:custGeom>
              <a:avLst/>
              <a:gdLst/>
              <a:ahLst/>
              <a:cxnLst/>
              <a:rect l="l" t="t" r="r" b="b"/>
              <a:pathLst>
                <a:path w="10276" h="8268" extrusionOk="0">
                  <a:moveTo>
                    <a:pt x="6251" y="2267"/>
                  </a:moveTo>
                  <a:lnTo>
                    <a:pt x="7061" y="2541"/>
                  </a:lnTo>
                  <a:cubicBezTo>
                    <a:pt x="7073" y="2544"/>
                    <a:pt x="7086" y="2545"/>
                    <a:pt x="7098" y="2545"/>
                  </a:cubicBezTo>
                  <a:cubicBezTo>
                    <a:pt x="7136" y="2545"/>
                    <a:pt x="7174" y="2532"/>
                    <a:pt x="7192" y="2505"/>
                  </a:cubicBezTo>
                  <a:lnTo>
                    <a:pt x="7454" y="2314"/>
                  </a:lnTo>
                  <a:lnTo>
                    <a:pt x="9240" y="4660"/>
                  </a:lnTo>
                  <a:lnTo>
                    <a:pt x="8978" y="4874"/>
                  </a:lnTo>
                  <a:cubicBezTo>
                    <a:pt x="8966" y="4862"/>
                    <a:pt x="8942" y="4839"/>
                    <a:pt x="8930" y="4839"/>
                  </a:cubicBezTo>
                  <a:lnTo>
                    <a:pt x="5811" y="3148"/>
                  </a:lnTo>
                  <a:lnTo>
                    <a:pt x="5930" y="2969"/>
                  </a:lnTo>
                  <a:cubicBezTo>
                    <a:pt x="5978" y="2898"/>
                    <a:pt x="5966" y="2803"/>
                    <a:pt x="5894" y="2755"/>
                  </a:cubicBezTo>
                  <a:cubicBezTo>
                    <a:pt x="5864" y="2742"/>
                    <a:pt x="5834" y="2735"/>
                    <a:pt x="5806" y="2735"/>
                  </a:cubicBezTo>
                  <a:cubicBezTo>
                    <a:pt x="5756" y="2735"/>
                    <a:pt x="5710" y="2757"/>
                    <a:pt x="5680" y="2803"/>
                  </a:cubicBezTo>
                  <a:lnTo>
                    <a:pt x="5358" y="3326"/>
                  </a:lnTo>
                  <a:cubicBezTo>
                    <a:pt x="5335" y="3350"/>
                    <a:pt x="5323" y="3374"/>
                    <a:pt x="5323" y="3398"/>
                  </a:cubicBezTo>
                  <a:lnTo>
                    <a:pt x="5323" y="4684"/>
                  </a:lnTo>
                  <a:cubicBezTo>
                    <a:pt x="5323" y="4946"/>
                    <a:pt x="5097" y="5172"/>
                    <a:pt x="4835" y="5172"/>
                  </a:cubicBezTo>
                  <a:cubicBezTo>
                    <a:pt x="4561" y="5172"/>
                    <a:pt x="4346" y="4946"/>
                    <a:pt x="4346" y="4684"/>
                  </a:cubicBezTo>
                  <a:lnTo>
                    <a:pt x="4346" y="3410"/>
                  </a:lnTo>
                  <a:lnTo>
                    <a:pt x="4620" y="2267"/>
                  </a:lnTo>
                  <a:close/>
                  <a:moveTo>
                    <a:pt x="2680" y="1767"/>
                  </a:moveTo>
                  <a:lnTo>
                    <a:pt x="2918" y="1898"/>
                  </a:lnTo>
                  <a:lnTo>
                    <a:pt x="941" y="5303"/>
                  </a:lnTo>
                  <a:lnTo>
                    <a:pt x="703" y="5172"/>
                  </a:lnTo>
                  <a:lnTo>
                    <a:pt x="2680" y="1767"/>
                  </a:lnTo>
                  <a:close/>
                  <a:moveTo>
                    <a:pt x="3180" y="4743"/>
                  </a:moveTo>
                  <a:cubicBezTo>
                    <a:pt x="3287" y="4743"/>
                    <a:pt x="3370" y="4779"/>
                    <a:pt x="3442" y="4874"/>
                  </a:cubicBezTo>
                  <a:cubicBezTo>
                    <a:pt x="3561" y="5017"/>
                    <a:pt x="3525" y="5231"/>
                    <a:pt x="3370" y="5339"/>
                  </a:cubicBezTo>
                  <a:lnTo>
                    <a:pt x="2322" y="6112"/>
                  </a:lnTo>
                  <a:cubicBezTo>
                    <a:pt x="2262" y="6150"/>
                    <a:pt x="2194" y="6169"/>
                    <a:pt x="2127" y="6169"/>
                  </a:cubicBezTo>
                  <a:cubicBezTo>
                    <a:pt x="2023" y="6169"/>
                    <a:pt x="1923" y="6123"/>
                    <a:pt x="1858" y="6029"/>
                  </a:cubicBezTo>
                  <a:cubicBezTo>
                    <a:pt x="1751" y="5886"/>
                    <a:pt x="1787" y="5672"/>
                    <a:pt x="1929" y="5565"/>
                  </a:cubicBezTo>
                  <a:lnTo>
                    <a:pt x="2989" y="4803"/>
                  </a:lnTo>
                  <a:cubicBezTo>
                    <a:pt x="3049" y="4755"/>
                    <a:pt x="3120" y="4743"/>
                    <a:pt x="3180" y="4743"/>
                  </a:cubicBezTo>
                  <a:close/>
                  <a:moveTo>
                    <a:pt x="3775" y="5493"/>
                  </a:moveTo>
                  <a:cubicBezTo>
                    <a:pt x="3870" y="5493"/>
                    <a:pt x="3954" y="5553"/>
                    <a:pt x="4013" y="5636"/>
                  </a:cubicBezTo>
                  <a:cubicBezTo>
                    <a:pt x="4132" y="5779"/>
                    <a:pt x="4085" y="5993"/>
                    <a:pt x="3942" y="6089"/>
                  </a:cubicBezTo>
                  <a:lnTo>
                    <a:pt x="3132" y="6708"/>
                  </a:lnTo>
                  <a:cubicBezTo>
                    <a:pt x="3076" y="6745"/>
                    <a:pt x="3013" y="6764"/>
                    <a:pt x="2949" y="6764"/>
                  </a:cubicBezTo>
                  <a:cubicBezTo>
                    <a:pt x="2851" y="6764"/>
                    <a:pt x="2752" y="6718"/>
                    <a:pt x="2680" y="6624"/>
                  </a:cubicBezTo>
                  <a:cubicBezTo>
                    <a:pt x="2572" y="6482"/>
                    <a:pt x="2596" y="6255"/>
                    <a:pt x="2751" y="6148"/>
                  </a:cubicBezTo>
                  <a:lnTo>
                    <a:pt x="3537" y="5589"/>
                  </a:lnTo>
                  <a:cubicBezTo>
                    <a:pt x="3573" y="5565"/>
                    <a:pt x="3596" y="5541"/>
                    <a:pt x="3620" y="5529"/>
                  </a:cubicBezTo>
                  <a:cubicBezTo>
                    <a:pt x="3668" y="5517"/>
                    <a:pt x="3715" y="5493"/>
                    <a:pt x="3775" y="5493"/>
                  </a:cubicBezTo>
                  <a:close/>
                  <a:moveTo>
                    <a:pt x="4359" y="6281"/>
                  </a:moveTo>
                  <a:cubicBezTo>
                    <a:pt x="4454" y="6281"/>
                    <a:pt x="4550" y="6321"/>
                    <a:pt x="4620" y="6398"/>
                  </a:cubicBezTo>
                  <a:cubicBezTo>
                    <a:pt x="4739" y="6553"/>
                    <a:pt x="4704" y="6755"/>
                    <a:pt x="4549" y="6863"/>
                  </a:cubicBezTo>
                  <a:lnTo>
                    <a:pt x="3954" y="7303"/>
                  </a:lnTo>
                  <a:cubicBezTo>
                    <a:pt x="3898" y="7331"/>
                    <a:pt x="3829" y="7358"/>
                    <a:pt x="3767" y="7358"/>
                  </a:cubicBezTo>
                  <a:cubicBezTo>
                    <a:pt x="3749" y="7358"/>
                    <a:pt x="3732" y="7356"/>
                    <a:pt x="3715" y="7351"/>
                  </a:cubicBezTo>
                  <a:cubicBezTo>
                    <a:pt x="3620" y="7339"/>
                    <a:pt x="3549" y="7303"/>
                    <a:pt x="3513" y="7220"/>
                  </a:cubicBezTo>
                  <a:cubicBezTo>
                    <a:pt x="3406" y="7077"/>
                    <a:pt x="3430" y="6863"/>
                    <a:pt x="3584" y="6755"/>
                  </a:cubicBezTo>
                  <a:lnTo>
                    <a:pt x="4144" y="6363"/>
                  </a:lnTo>
                  <a:lnTo>
                    <a:pt x="4168" y="6339"/>
                  </a:lnTo>
                  <a:cubicBezTo>
                    <a:pt x="4226" y="6300"/>
                    <a:pt x="4292" y="6281"/>
                    <a:pt x="4359" y="6281"/>
                  </a:cubicBezTo>
                  <a:close/>
                  <a:moveTo>
                    <a:pt x="2870" y="2553"/>
                  </a:moveTo>
                  <a:lnTo>
                    <a:pt x="3156" y="2707"/>
                  </a:lnTo>
                  <a:cubicBezTo>
                    <a:pt x="3173" y="2725"/>
                    <a:pt x="3197" y="2736"/>
                    <a:pt x="3218" y="2736"/>
                  </a:cubicBezTo>
                  <a:cubicBezTo>
                    <a:pt x="3226" y="2736"/>
                    <a:pt x="3233" y="2734"/>
                    <a:pt x="3239" y="2731"/>
                  </a:cubicBezTo>
                  <a:lnTo>
                    <a:pt x="3942" y="2636"/>
                  </a:lnTo>
                  <a:lnTo>
                    <a:pt x="4192" y="2743"/>
                  </a:lnTo>
                  <a:lnTo>
                    <a:pt x="4049" y="3338"/>
                  </a:lnTo>
                  <a:lnTo>
                    <a:pt x="4049" y="3362"/>
                  </a:lnTo>
                  <a:lnTo>
                    <a:pt x="4049" y="4648"/>
                  </a:lnTo>
                  <a:cubicBezTo>
                    <a:pt x="4049" y="5077"/>
                    <a:pt x="4406" y="5434"/>
                    <a:pt x="4835" y="5434"/>
                  </a:cubicBezTo>
                  <a:cubicBezTo>
                    <a:pt x="5263" y="5434"/>
                    <a:pt x="5620" y="5077"/>
                    <a:pt x="5620" y="4648"/>
                  </a:cubicBezTo>
                  <a:lnTo>
                    <a:pt x="5620" y="3410"/>
                  </a:lnTo>
                  <a:lnTo>
                    <a:pt x="5656" y="3362"/>
                  </a:lnTo>
                  <a:lnTo>
                    <a:pt x="8776" y="5065"/>
                  </a:lnTo>
                  <a:cubicBezTo>
                    <a:pt x="8942" y="5184"/>
                    <a:pt x="9002" y="5374"/>
                    <a:pt x="8907" y="5541"/>
                  </a:cubicBezTo>
                  <a:cubicBezTo>
                    <a:pt x="8850" y="5654"/>
                    <a:pt x="8745" y="5717"/>
                    <a:pt x="8631" y="5717"/>
                  </a:cubicBezTo>
                  <a:cubicBezTo>
                    <a:pt x="8576" y="5717"/>
                    <a:pt x="8520" y="5703"/>
                    <a:pt x="8466" y="5672"/>
                  </a:cubicBezTo>
                  <a:lnTo>
                    <a:pt x="6740" y="4743"/>
                  </a:lnTo>
                  <a:cubicBezTo>
                    <a:pt x="6711" y="4727"/>
                    <a:pt x="6682" y="4719"/>
                    <a:pt x="6655" y="4719"/>
                  </a:cubicBezTo>
                  <a:cubicBezTo>
                    <a:pt x="6603" y="4719"/>
                    <a:pt x="6557" y="4748"/>
                    <a:pt x="6525" y="4803"/>
                  </a:cubicBezTo>
                  <a:cubicBezTo>
                    <a:pt x="6490" y="4874"/>
                    <a:pt x="6513" y="4958"/>
                    <a:pt x="6585" y="5005"/>
                  </a:cubicBezTo>
                  <a:lnTo>
                    <a:pt x="8037" y="5791"/>
                  </a:lnTo>
                  <a:cubicBezTo>
                    <a:pt x="8192" y="5886"/>
                    <a:pt x="8252" y="6077"/>
                    <a:pt x="8168" y="6243"/>
                  </a:cubicBezTo>
                  <a:cubicBezTo>
                    <a:pt x="8104" y="6356"/>
                    <a:pt x="7996" y="6415"/>
                    <a:pt x="7881" y="6415"/>
                  </a:cubicBezTo>
                  <a:cubicBezTo>
                    <a:pt x="7826" y="6415"/>
                    <a:pt x="7770" y="6401"/>
                    <a:pt x="7716" y="6374"/>
                  </a:cubicBezTo>
                  <a:lnTo>
                    <a:pt x="6251" y="5565"/>
                  </a:lnTo>
                  <a:cubicBezTo>
                    <a:pt x="6226" y="5554"/>
                    <a:pt x="6200" y="5548"/>
                    <a:pt x="6175" y="5548"/>
                  </a:cubicBezTo>
                  <a:cubicBezTo>
                    <a:pt x="6120" y="5548"/>
                    <a:pt x="6070" y="5575"/>
                    <a:pt x="6037" y="5624"/>
                  </a:cubicBezTo>
                  <a:cubicBezTo>
                    <a:pt x="5990" y="5708"/>
                    <a:pt x="6025" y="5791"/>
                    <a:pt x="6097" y="5839"/>
                  </a:cubicBezTo>
                  <a:lnTo>
                    <a:pt x="7287" y="6493"/>
                  </a:lnTo>
                  <a:cubicBezTo>
                    <a:pt x="7454" y="6577"/>
                    <a:pt x="7514" y="6779"/>
                    <a:pt x="7418" y="6934"/>
                  </a:cubicBezTo>
                  <a:cubicBezTo>
                    <a:pt x="7360" y="7050"/>
                    <a:pt x="7250" y="7114"/>
                    <a:pt x="7132" y="7114"/>
                  </a:cubicBezTo>
                  <a:cubicBezTo>
                    <a:pt x="7081" y="7114"/>
                    <a:pt x="7028" y="7102"/>
                    <a:pt x="6978" y="7077"/>
                  </a:cubicBezTo>
                  <a:lnTo>
                    <a:pt x="5728" y="6386"/>
                  </a:lnTo>
                  <a:cubicBezTo>
                    <a:pt x="5705" y="6371"/>
                    <a:pt x="5680" y="6365"/>
                    <a:pt x="5655" y="6365"/>
                  </a:cubicBezTo>
                  <a:cubicBezTo>
                    <a:pt x="5601" y="6365"/>
                    <a:pt x="5546" y="6397"/>
                    <a:pt x="5513" y="6446"/>
                  </a:cubicBezTo>
                  <a:cubicBezTo>
                    <a:pt x="5478" y="6517"/>
                    <a:pt x="5501" y="6613"/>
                    <a:pt x="5573" y="6660"/>
                  </a:cubicBezTo>
                  <a:lnTo>
                    <a:pt x="6549" y="7172"/>
                  </a:lnTo>
                  <a:cubicBezTo>
                    <a:pt x="6704" y="7267"/>
                    <a:pt x="6763" y="7458"/>
                    <a:pt x="6680" y="7625"/>
                  </a:cubicBezTo>
                  <a:cubicBezTo>
                    <a:pt x="6616" y="7737"/>
                    <a:pt x="6508" y="7801"/>
                    <a:pt x="6393" y="7801"/>
                  </a:cubicBezTo>
                  <a:cubicBezTo>
                    <a:pt x="6338" y="7801"/>
                    <a:pt x="6282" y="7786"/>
                    <a:pt x="6228" y="7756"/>
                  </a:cubicBezTo>
                  <a:lnTo>
                    <a:pt x="5549" y="7386"/>
                  </a:lnTo>
                  <a:cubicBezTo>
                    <a:pt x="5549" y="7255"/>
                    <a:pt x="5501" y="7101"/>
                    <a:pt x="5406" y="6994"/>
                  </a:cubicBezTo>
                  <a:cubicBezTo>
                    <a:pt x="5299" y="6851"/>
                    <a:pt x="5132" y="6755"/>
                    <a:pt x="4954" y="6744"/>
                  </a:cubicBezTo>
                  <a:lnTo>
                    <a:pt x="4954" y="6696"/>
                  </a:lnTo>
                  <a:cubicBezTo>
                    <a:pt x="4977" y="6541"/>
                    <a:pt x="4930" y="6363"/>
                    <a:pt x="4835" y="6220"/>
                  </a:cubicBezTo>
                  <a:cubicBezTo>
                    <a:pt x="4716" y="6077"/>
                    <a:pt x="4549" y="5982"/>
                    <a:pt x="4370" y="5970"/>
                  </a:cubicBezTo>
                  <a:lnTo>
                    <a:pt x="4370" y="5922"/>
                  </a:lnTo>
                  <a:cubicBezTo>
                    <a:pt x="4406" y="5767"/>
                    <a:pt x="4358" y="5589"/>
                    <a:pt x="4251" y="5446"/>
                  </a:cubicBezTo>
                  <a:cubicBezTo>
                    <a:pt x="4132" y="5303"/>
                    <a:pt x="3965" y="5208"/>
                    <a:pt x="3787" y="5196"/>
                  </a:cubicBezTo>
                  <a:lnTo>
                    <a:pt x="3787" y="5148"/>
                  </a:lnTo>
                  <a:cubicBezTo>
                    <a:pt x="3823" y="4993"/>
                    <a:pt x="3775" y="4815"/>
                    <a:pt x="3668" y="4672"/>
                  </a:cubicBezTo>
                  <a:cubicBezTo>
                    <a:pt x="3547" y="4516"/>
                    <a:pt x="3359" y="4432"/>
                    <a:pt x="3172" y="4432"/>
                  </a:cubicBezTo>
                  <a:cubicBezTo>
                    <a:pt x="3044" y="4432"/>
                    <a:pt x="2917" y="4471"/>
                    <a:pt x="2811" y="4553"/>
                  </a:cubicBezTo>
                  <a:lnTo>
                    <a:pt x="1763" y="5315"/>
                  </a:lnTo>
                  <a:lnTo>
                    <a:pt x="1394" y="5112"/>
                  </a:lnTo>
                  <a:lnTo>
                    <a:pt x="2870" y="2553"/>
                  </a:lnTo>
                  <a:close/>
                  <a:moveTo>
                    <a:pt x="4936" y="7026"/>
                  </a:moveTo>
                  <a:cubicBezTo>
                    <a:pt x="5036" y="7026"/>
                    <a:pt x="5132" y="7070"/>
                    <a:pt x="5204" y="7148"/>
                  </a:cubicBezTo>
                  <a:cubicBezTo>
                    <a:pt x="5251" y="7244"/>
                    <a:pt x="5275" y="7315"/>
                    <a:pt x="5263" y="7398"/>
                  </a:cubicBezTo>
                  <a:cubicBezTo>
                    <a:pt x="5251" y="7494"/>
                    <a:pt x="5204" y="7565"/>
                    <a:pt x="5132" y="7625"/>
                  </a:cubicBezTo>
                  <a:lnTo>
                    <a:pt x="4787" y="7875"/>
                  </a:lnTo>
                  <a:cubicBezTo>
                    <a:pt x="4729" y="7918"/>
                    <a:pt x="4658" y="7940"/>
                    <a:pt x="4588" y="7940"/>
                  </a:cubicBezTo>
                  <a:cubicBezTo>
                    <a:pt x="4487" y="7940"/>
                    <a:pt x="4386" y="7895"/>
                    <a:pt x="4323" y="7803"/>
                  </a:cubicBezTo>
                  <a:cubicBezTo>
                    <a:pt x="4215" y="7660"/>
                    <a:pt x="4251" y="7446"/>
                    <a:pt x="4406" y="7339"/>
                  </a:cubicBezTo>
                  <a:lnTo>
                    <a:pt x="4727" y="7101"/>
                  </a:lnTo>
                  <a:lnTo>
                    <a:pt x="4739" y="7089"/>
                  </a:lnTo>
                  <a:cubicBezTo>
                    <a:pt x="4802" y="7046"/>
                    <a:pt x="4870" y="7026"/>
                    <a:pt x="4936" y="7026"/>
                  </a:cubicBezTo>
                  <a:close/>
                  <a:moveTo>
                    <a:pt x="180" y="0"/>
                  </a:moveTo>
                  <a:cubicBezTo>
                    <a:pt x="125" y="0"/>
                    <a:pt x="69" y="27"/>
                    <a:pt x="36" y="76"/>
                  </a:cubicBezTo>
                  <a:cubicBezTo>
                    <a:pt x="1" y="159"/>
                    <a:pt x="24" y="243"/>
                    <a:pt x="96" y="290"/>
                  </a:cubicBezTo>
                  <a:lnTo>
                    <a:pt x="2382" y="1600"/>
                  </a:lnTo>
                  <a:lnTo>
                    <a:pt x="405" y="5005"/>
                  </a:lnTo>
                  <a:lnTo>
                    <a:pt x="251" y="4922"/>
                  </a:lnTo>
                  <a:cubicBezTo>
                    <a:pt x="221" y="4905"/>
                    <a:pt x="192" y="4897"/>
                    <a:pt x="164" y="4897"/>
                  </a:cubicBezTo>
                  <a:cubicBezTo>
                    <a:pt x="113" y="4897"/>
                    <a:pt x="67" y="4923"/>
                    <a:pt x="36" y="4969"/>
                  </a:cubicBezTo>
                  <a:cubicBezTo>
                    <a:pt x="1" y="5053"/>
                    <a:pt x="24" y="5136"/>
                    <a:pt x="96" y="5184"/>
                  </a:cubicBezTo>
                  <a:lnTo>
                    <a:pt x="882" y="5648"/>
                  </a:lnTo>
                  <a:cubicBezTo>
                    <a:pt x="908" y="5663"/>
                    <a:pt x="934" y="5670"/>
                    <a:pt x="959" y="5670"/>
                  </a:cubicBezTo>
                  <a:cubicBezTo>
                    <a:pt x="1014" y="5670"/>
                    <a:pt x="1063" y="5638"/>
                    <a:pt x="1096" y="5589"/>
                  </a:cubicBezTo>
                  <a:lnTo>
                    <a:pt x="1215" y="5398"/>
                  </a:lnTo>
                  <a:lnTo>
                    <a:pt x="1537" y="5565"/>
                  </a:lnTo>
                  <a:cubicBezTo>
                    <a:pt x="1441" y="5779"/>
                    <a:pt x="1453" y="6029"/>
                    <a:pt x="1584" y="6220"/>
                  </a:cubicBezTo>
                  <a:cubicBezTo>
                    <a:pt x="1703" y="6386"/>
                    <a:pt x="1894" y="6482"/>
                    <a:pt x="2096" y="6482"/>
                  </a:cubicBezTo>
                  <a:cubicBezTo>
                    <a:pt x="2156" y="6482"/>
                    <a:pt x="2227" y="6458"/>
                    <a:pt x="2287" y="6446"/>
                  </a:cubicBezTo>
                  <a:cubicBezTo>
                    <a:pt x="2287" y="6577"/>
                    <a:pt x="2334" y="6720"/>
                    <a:pt x="2406" y="6815"/>
                  </a:cubicBezTo>
                  <a:cubicBezTo>
                    <a:pt x="2525" y="6982"/>
                    <a:pt x="2715" y="7077"/>
                    <a:pt x="2906" y="7077"/>
                  </a:cubicBezTo>
                  <a:cubicBezTo>
                    <a:pt x="2965" y="7077"/>
                    <a:pt x="3049" y="7053"/>
                    <a:pt x="3108" y="7041"/>
                  </a:cubicBezTo>
                  <a:cubicBezTo>
                    <a:pt x="3108" y="7160"/>
                    <a:pt x="3144" y="7291"/>
                    <a:pt x="3227" y="7398"/>
                  </a:cubicBezTo>
                  <a:cubicBezTo>
                    <a:pt x="3323" y="7529"/>
                    <a:pt x="3465" y="7625"/>
                    <a:pt x="3644" y="7648"/>
                  </a:cubicBezTo>
                  <a:cubicBezTo>
                    <a:pt x="3668" y="7648"/>
                    <a:pt x="3715" y="7672"/>
                    <a:pt x="3739" y="7672"/>
                  </a:cubicBezTo>
                  <a:cubicBezTo>
                    <a:pt x="3799" y="7672"/>
                    <a:pt x="3882" y="7648"/>
                    <a:pt x="3942" y="7636"/>
                  </a:cubicBezTo>
                  <a:cubicBezTo>
                    <a:pt x="3942" y="7767"/>
                    <a:pt x="3977" y="7886"/>
                    <a:pt x="4061" y="7994"/>
                  </a:cubicBezTo>
                  <a:cubicBezTo>
                    <a:pt x="4156" y="8125"/>
                    <a:pt x="4299" y="8220"/>
                    <a:pt x="4477" y="8244"/>
                  </a:cubicBezTo>
                  <a:cubicBezTo>
                    <a:pt x="4501" y="8244"/>
                    <a:pt x="4549" y="8267"/>
                    <a:pt x="4573" y="8267"/>
                  </a:cubicBezTo>
                  <a:cubicBezTo>
                    <a:pt x="4716" y="8267"/>
                    <a:pt x="4835" y="8220"/>
                    <a:pt x="4954" y="8148"/>
                  </a:cubicBezTo>
                  <a:lnTo>
                    <a:pt x="5287" y="7886"/>
                  </a:lnTo>
                  <a:cubicBezTo>
                    <a:pt x="5370" y="7827"/>
                    <a:pt x="5430" y="7767"/>
                    <a:pt x="5466" y="7684"/>
                  </a:cubicBezTo>
                  <a:lnTo>
                    <a:pt x="6085" y="8029"/>
                  </a:lnTo>
                  <a:cubicBezTo>
                    <a:pt x="6168" y="8077"/>
                    <a:pt x="6275" y="8101"/>
                    <a:pt x="6382" y="8101"/>
                  </a:cubicBezTo>
                  <a:cubicBezTo>
                    <a:pt x="6442" y="8101"/>
                    <a:pt x="6501" y="8089"/>
                    <a:pt x="6561" y="8077"/>
                  </a:cubicBezTo>
                  <a:cubicBezTo>
                    <a:pt x="6716" y="8029"/>
                    <a:pt x="6859" y="7922"/>
                    <a:pt x="6930" y="7779"/>
                  </a:cubicBezTo>
                  <a:cubicBezTo>
                    <a:pt x="6990" y="7648"/>
                    <a:pt x="7013" y="7529"/>
                    <a:pt x="7002" y="7398"/>
                  </a:cubicBezTo>
                  <a:cubicBezTo>
                    <a:pt x="7049" y="7398"/>
                    <a:pt x="7073" y="7422"/>
                    <a:pt x="7121" y="7422"/>
                  </a:cubicBezTo>
                  <a:cubicBezTo>
                    <a:pt x="7347" y="7422"/>
                    <a:pt x="7573" y="7303"/>
                    <a:pt x="7668" y="7089"/>
                  </a:cubicBezTo>
                  <a:cubicBezTo>
                    <a:pt x="7728" y="6970"/>
                    <a:pt x="7764" y="6839"/>
                    <a:pt x="7752" y="6720"/>
                  </a:cubicBezTo>
                  <a:cubicBezTo>
                    <a:pt x="7787" y="6720"/>
                    <a:pt x="7823" y="6732"/>
                    <a:pt x="7871" y="6732"/>
                  </a:cubicBezTo>
                  <a:cubicBezTo>
                    <a:pt x="8085" y="6732"/>
                    <a:pt x="8311" y="6613"/>
                    <a:pt x="8418" y="6410"/>
                  </a:cubicBezTo>
                  <a:cubicBezTo>
                    <a:pt x="8478" y="6291"/>
                    <a:pt x="8502" y="6172"/>
                    <a:pt x="8490" y="6029"/>
                  </a:cubicBezTo>
                  <a:cubicBezTo>
                    <a:pt x="8537" y="6029"/>
                    <a:pt x="8561" y="6053"/>
                    <a:pt x="8609" y="6053"/>
                  </a:cubicBezTo>
                  <a:cubicBezTo>
                    <a:pt x="8668" y="6053"/>
                    <a:pt x="8728" y="6029"/>
                    <a:pt x="8787" y="6017"/>
                  </a:cubicBezTo>
                  <a:cubicBezTo>
                    <a:pt x="8954" y="5970"/>
                    <a:pt x="9085" y="5874"/>
                    <a:pt x="9157" y="5720"/>
                  </a:cubicBezTo>
                  <a:cubicBezTo>
                    <a:pt x="9240" y="5577"/>
                    <a:pt x="9264" y="5410"/>
                    <a:pt x="9204" y="5243"/>
                  </a:cubicBezTo>
                  <a:cubicBezTo>
                    <a:pt x="9192" y="5196"/>
                    <a:pt x="9180" y="5172"/>
                    <a:pt x="9157" y="5136"/>
                  </a:cubicBezTo>
                  <a:lnTo>
                    <a:pt x="9430" y="4946"/>
                  </a:lnTo>
                  <a:lnTo>
                    <a:pt x="9561" y="5124"/>
                  </a:lnTo>
                  <a:cubicBezTo>
                    <a:pt x="9591" y="5161"/>
                    <a:pt x="9644" y="5180"/>
                    <a:pt x="9694" y="5180"/>
                  </a:cubicBezTo>
                  <a:cubicBezTo>
                    <a:pt x="9724" y="5180"/>
                    <a:pt x="9753" y="5173"/>
                    <a:pt x="9776" y="5160"/>
                  </a:cubicBezTo>
                  <a:lnTo>
                    <a:pt x="10192" y="4827"/>
                  </a:lnTo>
                  <a:cubicBezTo>
                    <a:pt x="10264" y="4743"/>
                    <a:pt x="10276" y="4648"/>
                    <a:pt x="10240" y="4577"/>
                  </a:cubicBezTo>
                  <a:cubicBezTo>
                    <a:pt x="10210" y="4539"/>
                    <a:pt x="10157" y="4521"/>
                    <a:pt x="10107" y="4521"/>
                  </a:cubicBezTo>
                  <a:cubicBezTo>
                    <a:pt x="10077" y="4521"/>
                    <a:pt x="10048" y="4527"/>
                    <a:pt x="10026" y="4541"/>
                  </a:cubicBezTo>
                  <a:lnTo>
                    <a:pt x="9728" y="4779"/>
                  </a:lnTo>
                  <a:lnTo>
                    <a:pt x="7347" y="1671"/>
                  </a:lnTo>
                  <a:lnTo>
                    <a:pt x="8704" y="790"/>
                  </a:lnTo>
                  <a:cubicBezTo>
                    <a:pt x="8776" y="755"/>
                    <a:pt x="8787" y="659"/>
                    <a:pt x="8752" y="588"/>
                  </a:cubicBezTo>
                  <a:cubicBezTo>
                    <a:pt x="8721" y="542"/>
                    <a:pt x="8670" y="516"/>
                    <a:pt x="8619" y="516"/>
                  </a:cubicBezTo>
                  <a:cubicBezTo>
                    <a:pt x="8591" y="516"/>
                    <a:pt x="8563" y="523"/>
                    <a:pt x="8537" y="540"/>
                  </a:cubicBezTo>
                  <a:lnTo>
                    <a:pt x="7049" y="1493"/>
                  </a:lnTo>
                  <a:cubicBezTo>
                    <a:pt x="6978" y="1540"/>
                    <a:pt x="6966" y="1648"/>
                    <a:pt x="7002" y="1719"/>
                  </a:cubicBezTo>
                  <a:lnTo>
                    <a:pt x="7275" y="2076"/>
                  </a:lnTo>
                  <a:lnTo>
                    <a:pt x="7085" y="2219"/>
                  </a:lnTo>
                  <a:lnTo>
                    <a:pt x="6311" y="1969"/>
                  </a:lnTo>
                  <a:cubicBezTo>
                    <a:pt x="6287" y="1969"/>
                    <a:pt x="6275" y="1957"/>
                    <a:pt x="6263" y="1957"/>
                  </a:cubicBezTo>
                  <a:lnTo>
                    <a:pt x="4501" y="1957"/>
                  </a:lnTo>
                  <a:cubicBezTo>
                    <a:pt x="4430" y="1957"/>
                    <a:pt x="4370" y="2005"/>
                    <a:pt x="4358" y="2076"/>
                  </a:cubicBezTo>
                  <a:lnTo>
                    <a:pt x="4251" y="2481"/>
                  </a:lnTo>
                  <a:lnTo>
                    <a:pt x="4001" y="2374"/>
                  </a:lnTo>
                  <a:cubicBezTo>
                    <a:pt x="3965" y="2362"/>
                    <a:pt x="3954" y="2362"/>
                    <a:pt x="3930" y="2362"/>
                  </a:cubicBezTo>
                  <a:lnTo>
                    <a:pt x="3227" y="2433"/>
                  </a:lnTo>
                  <a:lnTo>
                    <a:pt x="2989" y="2302"/>
                  </a:lnTo>
                  <a:lnTo>
                    <a:pt x="3215" y="1910"/>
                  </a:lnTo>
                  <a:cubicBezTo>
                    <a:pt x="3251" y="1838"/>
                    <a:pt x="3227" y="1743"/>
                    <a:pt x="3156" y="1707"/>
                  </a:cubicBezTo>
                  <a:lnTo>
                    <a:pt x="251" y="16"/>
                  </a:lnTo>
                  <a:cubicBezTo>
                    <a:pt x="229" y="5"/>
                    <a:pt x="204" y="0"/>
                    <a:pt x="18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939;p64">
              <a:extLst>
                <a:ext uri="{FF2B5EF4-FFF2-40B4-BE49-F238E27FC236}">
                  <a16:creationId xmlns:a16="http://schemas.microsoft.com/office/drawing/2014/main" id="{A935ED23-40B4-9C73-2C55-1F51C083D3F0}"/>
                </a:ext>
              </a:extLst>
            </p:cNvPr>
            <p:cNvSpPr/>
            <p:nvPr/>
          </p:nvSpPr>
          <p:spPr>
            <a:xfrm>
              <a:off x="3059960" y="2009628"/>
              <a:ext cx="37177" cy="26960"/>
            </a:xfrm>
            <a:custGeom>
              <a:avLst/>
              <a:gdLst/>
              <a:ahLst/>
              <a:cxnLst/>
              <a:rect l="l" t="t" r="r" b="b"/>
              <a:pathLst>
                <a:path w="1168" h="847" extrusionOk="0">
                  <a:moveTo>
                    <a:pt x="999" y="0"/>
                  </a:moveTo>
                  <a:cubicBezTo>
                    <a:pt x="971" y="0"/>
                    <a:pt x="943" y="8"/>
                    <a:pt x="918" y="25"/>
                  </a:cubicBezTo>
                  <a:lnTo>
                    <a:pt x="84" y="561"/>
                  </a:lnTo>
                  <a:cubicBezTo>
                    <a:pt x="13" y="608"/>
                    <a:pt x="1" y="692"/>
                    <a:pt x="37" y="775"/>
                  </a:cubicBezTo>
                  <a:cubicBezTo>
                    <a:pt x="72" y="811"/>
                    <a:pt x="120" y="846"/>
                    <a:pt x="156" y="846"/>
                  </a:cubicBezTo>
                  <a:cubicBezTo>
                    <a:pt x="191" y="846"/>
                    <a:pt x="215" y="823"/>
                    <a:pt x="239" y="811"/>
                  </a:cubicBezTo>
                  <a:lnTo>
                    <a:pt x="1073" y="275"/>
                  </a:lnTo>
                  <a:cubicBezTo>
                    <a:pt x="1156" y="239"/>
                    <a:pt x="1168" y="144"/>
                    <a:pt x="1132" y="72"/>
                  </a:cubicBezTo>
                  <a:cubicBezTo>
                    <a:pt x="1101" y="26"/>
                    <a:pt x="1051" y="0"/>
                    <a:pt x="99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234;p32">
            <a:extLst>
              <a:ext uri="{FF2B5EF4-FFF2-40B4-BE49-F238E27FC236}">
                <a16:creationId xmlns:a16="http://schemas.microsoft.com/office/drawing/2014/main" id="{25FEB41C-C794-7BF6-6F1F-90002647CCF3}"/>
              </a:ext>
            </a:extLst>
          </p:cNvPr>
          <p:cNvSpPr txBox="1">
            <a:spLocks/>
          </p:cNvSpPr>
          <p:nvPr/>
        </p:nvSpPr>
        <p:spPr>
          <a:xfrm>
            <a:off x="3407786" y="2631869"/>
            <a:ext cx="2333700" cy="5031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pPr marL="0" indent="0"/>
            <a:r>
              <a:rPr lang="de-DE" dirty="0"/>
              <a:t>Business to Consumer</a:t>
            </a:r>
          </a:p>
          <a:p>
            <a:pPr marL="0" indent="0"/>
            <a:r>
              <a:rPr lang="de-DE" dirty="0"/>
              <a:t>KSchG</a:t>
            </a:r>
          </a:p>
          <a:p>
            <a:pPr marL="0" indent="0"/>
            <a:r>
              <a:rPr lang="de-DE" dirty="0"/>
              <a:t> ABGB</a:t>
            </a:r>
          </a:p>
          <a:p>
            <a:pPr marL="0" indent="0"/>
            <a:endParaRPr lang="de-D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Informationspflichten</a:t>
            </a:r>
            <a:endParaRPr/>
          </a:p>
        </p:txBody>
      </p:sp>
      <p:cxnSp>
        <p:nvCxnSpPr>
          <p:cNvPr id="167" name="Google Shape;167;p27"/>
          <p:cNvCxnSpPr/>
          <p:nvPr/>
        </p:nvCxnSpPr>
        <p:spPr>
          <a:xfrm>
            <a:off x="929975" y="0"/>
            <a:ext cx="0" cy="534600"/>
          </a:xfrm>
          <a:prstGeom prst="straightConnector1">
            <a:avLst/>
          </a:prstGeom>
          <a:noFill/>
          <a:ln w="28575" cap="flat" cmpd="sng">
            <a:solidFill>
              <a:schemeClr val="dk1"/>
            </a:solidFill>
            <a:prstDash val="solid"/>
            <a:round/>
            <a:headEnd type="none" w="med" len="med"/>
            <a:tailEnd type="none" w="med" len="med"/>
          </a:ln>
        </p:spPr>
      </p:cxnSp>
      <p:graphicFrame>
        <p:nvGraphicFramePr>
          <p:cNvPr id="3" name="Tabelle 2">
            <a:extLst>
              <a:ext uri="{FF2B5EF4-FFF2-40B4-BE49-F238E27FC236}">
                <a16:creationId xmlns:a16="http://schemas.microsoft.com/office/drawing/2014/main" id="{7546A914-80E5-FE85-F17A-CF1F4BC83BA8}"/>
              </a:ext>
            </a:extLst>
          </p:cNvPr>
          <p:cNvGraphicFramePr>
            <a:graphicFrameLocks noGrp="1"/>
          </p:cNvGraphicFramePr>
          <p:nvPr>
            <p:extLst>
              <p:ext uri="{D42A27DB-BD31-4B8C-83A1-F6EECF244321}">
                <p14:modId xmlns:p14="http://schemas.microsoft.com/office/powerpoint/2010/main" val="772261450"/>
              </p:ext>
            </p:extLst>
          </p:nvPr>
        </p:nvGraphicFramePr>
        <p:xfrm>
          <a:off x="720000" y="1144201"/>
          <a:ext cx="7704000" cy="3523956"/>
        </p:xfrm>
        <a:graphic>
          <a:graphicData uri="http://schemas.openxmlformats.org/drawingml/2006/table">
            <a:tbl>
              <a:tblPr firstRow="1" bandRow="1">
                <a:tableStyleId>{7E9639D4-E3E2-4D34-9284-5A2195B3D0D7}</a:tableStyleId>
              </a:tblPr>
              <a:tblGrid>
                <a:gridCol w="2979803">
                  <a:extLst>
                    <a:ext uri="{9D8B030D-6E8A-4147-A177-3AD203B41FA5}">
                      <a16:colId xmlns:a16="http://schemas.microsoft.com/office/drawing/2014/main" val="2932520789"/>
                    </a:ext>
                  </a:extLst>
                </a:gridCol>
                <a:gridCol w="2497015">
                  <a:extLst>
                    <a:ext uri="{9D8B030D-6E8A-4147-A177-3AD203B41FA5}">
                      <a16:colId xmlns:a16="http://schemas.microsoft.com/office/drawing/2014/main" val="3464977990"/>
                    </a:ext>
                  </a:extLst>
                </a:gridCol>
                <a:gridCol w="2227182">
                  <a:extLst>
                    <a:ext uri="{9D8B030D-6E8A-4147-A177-3AD203B41FA5}">
                      <a16:colId xmlns:a16="http://schemas.microsoft.com/office/drawing/2014/main" val="1767149925"/>
                    </a:ext>
                  </a:extLst>
                </a:gridCol>
              </a:tblGrid>
              <a:tr h="381501">
                <a:tc>
                  <a:txBody>
                    <a:bodyPr/>
                    <a:lstStyle/>
                    <a:p>
                      <a:r>
                        <a:rPr lang="de-DE">
                          <a:latin typeface="Roboto" panose="02000000000000000000" pitchFamily="2" charset="0"/>
                          <a:ea typeface="Roboto" panose="02000000000000000000" pitchFamily="2" charset="0"/>
                          <a:cs typeface="Roboto" panose="02000000000000000000" pitchFamily="2" charset="0"/>
                        </a:rPr>
                        <a:t>Stationärer-Handel </a:t>
                      </a:r>
                      <a:endParaRPr lang="de-AT">
                        <a:latin typeface="Roboto" panose="02000000000000000000" pitchFamily="2" charset="0"/>
                        <a:ea typeface="Roboto" panose="02000000000000000000" pitchFamily="2" charset="0"/>
                        <a:cs typeface="Roboto" panose="02000000000000000000" pitchFamily="2" charset="0"/>
                      </a:endParaRPr>
                    </a:p>
                  </a:txBody>
                  <a:tcPr/>
                </a:tc>
                <a:tc gridSpan="2">
                  <a:txBody>
                    <a:bodyPr/>
                    <a:lstStyle/>
                    <a:p>
                      <a:r>
                        <a:rPr lang="de-DE">
                          <a:latin typeface="Roboto" panose="02000000000000000000" pitchFamily="2" charset="0"/>
                          <a:ea typeface="Roboto" panose="02000000000000000000" pitchFamily="2" charset="0"/>
                          <a:cs typeface="Roboto" panose="02000000000000000000" pitchFamily="2" charset="0"/>
                        </a:rPr>
                        <a:t>Online-Handel (zusätzlich zum KSchG)</a:t>
                      </a:r>
                    </a:p>
                  </a:txBody>
                  <a:tcPr/>
                </a:tc>
                <a:tc hMerge="1">
                  <a:txBody>
                    <a:bodyPr/>
                    <a:lstStyle/>
                    <a:p>
                      <a:endParaRPr lang="de-AT"/>
                    </a:p>
                  </a:txBody>
                  <a:tcPr/>
                </a:tc>
                <a:extLst>
                  <a:ext uri="{0D108BD9-81ED-4DB2-BD59-A6C34878D82A}">
                    <a16:rowId xmlns:a16="http://schemas.microsoft.com/office/drawing/2014/main" val="66333311"/>
                  </a:ext>
                </a:extLst>
              </a:tr>
              <a:tr h="390658">
                <a:tc>
                  <a:txBody>
                    <a:bodyPr/>
                    <a:lstStyle/>
                    <a:p>
                      <a:r>
                        <a:rPr lang="de-DE" b="1" i="1">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KSchG</a:t>
                      </a:r>
                      <a:endParaRPr lang="de-AT" b="1" i="1">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solidFill>
                      <a:schemeClr val="tx2">
                        <a:lumMod val="40000"/>
                        <a:lumOff val="60000"/>
                      </a:schemeClr>
                    </a:solidFill>
                  </a:tcPr>
                </a:tc>
                <a:tc>
                  <a:txBody>
                    <a:bodyPr/>
                    <a:lstStyle/>
                    <a:p>
                      <a:r>
                        <a:rPr lang="de-DE" b="1" i="1">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ECG</a:t>
                      </a:r>
                      <a:endParaRPr lang="de-AT" b="1" i="1">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r>
                        <a:rPr lang="de-DE" b="1" i="1">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FAGG</a:t>
                      </a:r>
                      <a:endParaRPr lang="de-AT" b="1" i="1">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solidFill>
                      <a:schemeClr val="tx2">
                        <a:lumMod val="40000"/>
                        <a:lumOff val="60000"/>
                      </a:schemeClr>
                    </a:solidFill>
                  </a:tcPr>
                </a:tc>
                <a:extLst>
                  <a:ext uri="{0D108BD9-81ED-4DB2-BD59-A6C34878D82A}">
                    <a16:rowId xmlns:a16="http://schemas.microsoft.com/office/drawing/2014/main" val="1893818504"/>
                  </a:ext>
                </a:extLst>
              </a:tr>
              <a:tr h="2751797">
                <a:tc>
                  <a:txBody>
                    <a:bodyPr/>
                    <a:lstStyle/>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Grundlegende Merkmale des Produktes</a:t>
                      </a:r>
                    </a:p>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Informationen über das Unternehmen</a:t>
                      </a:r>
                    </a:p>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Zahlungs- und Lieferbedingungen</a:t>
                      </a:r>
                    </a:p>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Mängelrechte</a:t>
                      </a:r>
                    </a:p>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Laufzeit des Vertrages</a:t>
                      </a:r>
                      <a:endParaRPr lang="de-AT"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R w="12700" cap="flat" cmpd="sng" algn="ctr">
                      <a:solidFill>
                        <a:schemeClr val="tx1"/>
                      </a:solidFill>
                      <a:prstDash val="solid"/>
                      <a:round/>
                      <a:headEnd type="none" w="med" len="med"/>
                      <a:tailEnd type="none" w="med" len="med"/>
                    </a:lnR>
                  </a:tcPr>
                </a:tc>
                <a:tc>
                  <a:txBody>
                    <a:bodyPr/>
                    <a:lstStyle/>
                    <a:p>
                      <a:pPr marL="285750" indent="-285750">
                        <a:lnSpc>
                          <a:spcPct val="150000"/>
                        </a:lnSpc>
                        <a:buFont typeface="Arial" panose="020B0604020202020204" pitchFamily="34" charset="0"/>
                        <a:buChar char="•"/>
                      </a:pP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Informationen über das Unternehmen </a:t>
                      </a:r>
                    </a:p>
                    <a:p>
                      <a:pPr marL="285750" indent="-285750">
                        <a:lnSpc>
                          <a:spcPct val="150000"/>
                        </a:lnSpc>
                        <a:buFont typeface="Arial" panose="020B0604020202020204" pitchFamily="34" charset="0"/>
                        <a:buChar char="•"/>
                      </a:pP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Informationen zum Vertragsabschluss</a:t>
                      </a:r>
                    </a:p>
                    <a:p>
                      <a:pPr marL="285750" indent="-285750">
                        <a:lnSpc>
                          <a:spcPct val="150000"/>
                        </a:lnSpc>
                        <a:buFont typeface="Arial" panose="020B0604020202020204" pitchFamily="34" charset="0"/>
                        <a:buChar char="•"/>
                      </a:pP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Erkennbarkeit von Werbung</a:t>
                      </a:r>
                    </a:p>
                    <a:p>
                      <a:pPr marL="285750" indent="-285750">
                        <a:lnSpc>
                          <a:spcPct val="150000"/>
                        </a:lnSpc>
                        <a:buFont typeface="Arial" panose="020B0604020202020204" pitchFamily="34" charset="0"/>
                        <a:buChar char="•"/>
                      </a:pP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Preisangabe</a:t>
                      </a:r>
                    </a:p>
                    <a:p>
                      <a:pPr marL="285750" indent="-285750">
                        <a:lnSpc>
                          <a:spcPct val="150000"/>
                        </a:lnSpc>
                        <a:buFont typeface="Arial" panose="020B0604020202020204" pitchFamily="34" charset="0"/>
                        <a:buChar char="•"/>
                      </a:pP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Vertragstext</a:t>
                      </a:r>
                    </a:p>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Rücktrittsrecht</a:t>
                      </a:r>
                    </a:p>
                    <a:p>
                      <a:pPr marL="285750" indent="-285750">
                        <a:lnSpc>
                          <a:spcPct val="150000"/>
                        </a:lnSpc>
                        <a:buFont typeface="Arial" panose="020B0604020202020204" pitchFamily="34" charset="0"/>
                        <a:buChar cha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Kosten bei Rücktritt</a:t>
                      </a:r>
                    </a:p>
                    <a:p>
                      <a:pPr marL="285750" indent="-285750">
                        <a:lnSpc>
                          <a:spcPct val="150000"/>
                        </a:lnSpc>
                        <a:buFont typeface="Arial" panose="020B0604020202020204" pitchFamily="34" charset="0"/>
                        <a:buChar char="•"/>
                      </a:pPr>
                      <a:endPar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p>
                      <a:pPr marL="0" indent="0">
                        <a:lnSpc>
                          <a:spcPct val="150000"/>
                        </a:lnSpc>
                        <a:buFont typeface="Arial" panose="020B0604020202020204" pitchFamily="34" charset="0"/>
                        <a:buNone/>
                      </a:pPr>
                      <a:endPar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72466880"/>
                  </a:ext>
                </a:extLst>
              </a:tr>
            </a:tbl>
          </a:graphicData>
        </a:graphic>
      </p:graphicFrame>
    </p:spTree>
    <p:extLst>
      <p:ext uri="{BB962C8B-B14F-4D97-AF65-F5344CB8AC3E}">
        <p14:creationId xmlns:p14="http://schemas.microsoft.com/office/powerpoint/2010/main" val="2530054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C6A718-E6EB-D73F-9D43-03925D4DDCC0}"/>
              </a:ext>
            </a:extLst>
          </p:cNvPr>
          <p:cNvSpPr>
            <a:spLocks noGrp="1"/>
          </p:cNvSpPr>
          <p:nvPr>
            <p:ph type="title"/>
          </p:nvPr>
        </p:nvSpPr>
        <p:spPr>
          <a:xfrm>
            <a:off x="892429" y="517503"/>
            <a:ext cx="7704000" cy="572700"/>
          </a:xfrm>
        </p:spPr>
        <p:txBody>
          <a:bodyPr/>
          <a:lstStyle/>
          <a:p>
            <a:pPr algn="ctr"/>
            <a:r>
              <a:rPr lang="de-DE"/>
              <a:t>Umtausch </a:t>
            </a:r>
            <a:r>
              <a:rPr lang="de-DE" err="1"/>
              <a:t>vs</a:t>
            </a:r>
            <a:r>
              <a:rPr lang="de-DE"/>
              <a:t> Rücktritt	</a:t>
            </a:r>
            <a:endParaRPr lang="de-AT"/>
          </a:p>
        </p:txBody>
      </p:sp>
      <p:graphicFrame>
        <p:nvGraphicFramePr>
          <p:cNvPr id="4" name="Tabelle 3">
            <a:extLst>
              <a:ext uri="{FF2B5EF4-FFF2-40B4-BE49-F238E27FC236}">
                <a16:creationId xmlns:a16="http://schemas.microsoft.com/office/drawing/2014/main" id="{90BF2470-9EF2-D9FD-642B-88E816C68370}"/>
              </a:ext>
            </a:extLst>
          </p:cNvPr>
          <p:cNvGraphicFramePr>
            <a:graphicFrameLocks noGrp="1"/>
          </p:cNvGraphicFramePr>
          <p:nvPr>
            <p:extLst>
              <p:ext uri="{D42A27DB-BD31-4B8C-83A1-F6EECF244321}">
                <p14:modId xmlns:p14="http://schemas.microsoft.com/office/powerpoint/2010/main" val="3480356056"/>
              </p:ext>
            </p:extLst>
          </p:nvPr>
        </p:nvGraphicFramePr>
        <p:xfrm>
          <a:off x="1413803" y="1306112"/>
          <a:ext cx="6316394" cy="2799080"/>
        </p:xfrm>
        <a:graphic>
          <a:graphicData uri="http://schemas.openxmlformats.org/drawingml/2006/table">
            <a:tbl>
              <a:tblPr firstRow="1" bandRow="1">
                <a:tableStyleId>{7E9639D4-E3E2-4D34-9284-5A2195B3D0D7}</a:tableStyleId>
              </a:tblPr>
              <a:tblGrid>
                <a:gridCol w="3158197">
                  <a:extLst>
                    <a:ext uri="{9D8B030D-6E8A-4147-A177-3AD203B41FA5}">
                      <a16:colId xmlns:a16="http://schemas.microsoft.com/office/drawing/2014/main" val="1484346576"/>
                    </a:ext>
                  </a:extLst>
                </a:gridCol>
                <a:gridCol w="3158197">
                  <a:extLst>
                    <a:ext uri="{9D8B030D-6E8A-4147-A177-3AD203B41FA5}">
                      <a16:colId xmlns:a16="http://schemas.microsoft.com/office/drawing/2014/main" val="2206636427"/>
                    </a:ext>
                  </a:extLst>
                </a:gridCol>
              </a:tblGrid>
              <a:tr h="370840">
                <a:tc>
                  <a:txBody>
                    <a:bodyPr/>
                    <a:lstStyle/>
                    <a:p>
                      <a:pPr algn="l"/>
                      <a:endPar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p>
                      <a:pPr algn="l"/>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                Umtausch (Stationär) </a:t>
                      </a:r>
                    </a:p>
                    <a:p>
                      <a:pPr algn="l"/>
                      <a:endPar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p>
                      <a:pPr algn="l"/>
                      <a:endPar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R w="12700" cap="flat" cmpd="sng" algn="ctr">
                      <a:solidFill>
                        <a:schemeClr val="tx1"/>
                      </a:solidFill>
                      <a:prstDash val="solid"/>
                      <a:round/>
                      <a:headEnd type="none" w="med" len="med"/>
                      <a:tailEnd type="none" w="med" len="med"/>
                    </a:lnR>
                    <a:solidFill>
                      <a:schemeClr val="tx2">
                        <a:lumMod val="40000"/>
                        <a:lumOff val="60000"/>
                      </a:schemeClr>
                    </a:solidFill>
                  </a:tcPr>
                </a:tc>
                <a:tc>
                  <a:txBody>
                    <a:bodyPr/>
                    <a:lstStyle/>
                    <a:p>
                      <a:pPr algn="l"/>
                      <a:endPar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p>
                      <a:pPr algn="l"/>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                 Rücktritt (Online)</a:t>
                      </a: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solidFill>
                      <a:schemeClr val="tx2">
                        <a:lumMod val="40000"/>
                        <a:lumOff val="60000"/>
                      </a:schemeClr>
                    </a:solidFill>
                  </a:tcPr>
                </a:tc>
                <a:extLst>
                  <a:ext uri="{0D108BD9-81ED-4DB2-BD59-A6C34878D82A}">
                    <a16:rowId xmlns:a16="http://schemas.microsoft.com/office/drawing/2014/main" val="1287682203"/>
                  </a:ext>
                </a:extLst>
              </a:tr>
              <a:tr h="370840">
                <a:tc>
                  <a:txBody>
                    <a:bodyPr/>
                    <a:lstStyle/>
                    <a:p>
                      <a:pPr algn="ct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Kein Rücktrittsrecht</a:t>
                      </a: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R w="12700" cap="flat" cmpd="sng" algn="ctr">
                      <a:solidFill>
                        <a:schemeClr val="tx1"/>
                      </a:solidFill>
                      <a:prstDash val="solid"/>
                      <a:round/>
                      <a:headEnd type="none" w="med" len="med"/>
                      <a:tailEnd type="none" w="med" len="med"/>
                    </a:lnR>
                  </a:tcPr>
                </a:tc>
                <a:tc>
                  <a:txBody>
                    <a:bodyPr/>
                    <a:lstStyle/>
                    <a:p>
                      <a:pPr algn="ct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Rücktrittsrecht nach FAGG</a:t>
                      </a: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65463286"/>
                  </a:ext>
                </a:extLst>
              </a:tr>
              <a:tr h="370840">
                <a:tc>
                  <a:txBody>
                    <a:bodyPr/>
                    <a:lstStyle/>
                    <a:p>
                      <a:pPr algn="ct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Kulanzleistung</a:t>
                      </a:r>
                      <a:endParaRPr lang="de-AT"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R w="12700" cap="flat" cmpd="sng" algn="ctr">
                      <a:solidFill>
                        <a:schemeClr val="tx1"/>
                      </a:solidFill>
                      <a:prstDash val="solid"/>
                      <a:round/>
                      <a:headEnd type="none" w="med" len="med"/>
                      <a:tailEnd type="none" w="med" len="med"/>
                    </a:lnR>
                  </a:tcPr>
                </a:tc>
                <a:tc>
                  <a:txBody>
                    <a:bodyPr/>
                    <a:lstStyle/>
                    <a:p>
                      <a:pPr algn="ct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Widerrufsformular</a:t>
                      </a: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83266626"/>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de-AT"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R w="12700" cap="flat" cmpd="sng" algn="ctr">
                      <a:solidFill>
                        <a:schemeClr val="tx1"/>
                      </a:solidFill>
                      <a:prstDash val="solid"/>
                      <a:round/>
                      <a:headEnd type="none" w="med" len="med"/>
                      <a:tailEnd type="none" w="med" len="med"/>
                    </a:lnR>
                  </a:tcPr>
                </a:tc>
                <a:tc>
                  <a:txBody>
                    <a:bodyPr/>
                    <a:lstStyle/>
                    <a:p>
                      <a:pPr algn="ctr"/>
                      <a:r>
                        <a:rPr lang="de-DE">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14 Tage</a:t>
                      </a: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52618713"/>
                  </a:ext>
                </a:extLst>
              </a:tr>
              <a:tr h="370840">
                <a:tc>
                  <a:txBody>
                    <a:bodyPr/>
                    <a:lstStyle/>
                    <a:p>
                      <a:pPr algn="ctr"/>
                      <a:endParaRPr lang="de-AT">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lnR w="12700" cap="flat" cmpd="sng" algn="ctr">
                      <a:solidFill>
                        <a:schemeClr val="tx1"/>
                      </a:solidFill>
                      <a:prstDash val="solid"/>
                      <a:round/>
                      <a:headEnd type="none" w="med" len="med"/>
                      <a:tailEnd type="none" w="med" len="med"/>
                    </a:lnR>
                  </a:tcPr>
                </a:tc>
                <a:tc>
                  <a:txBody>
                    <a:bodyPr/>
                    <a:lstStyle/>
                    <a:p>
                      <a:pPr algn="ctr"/>
                      <a:r>
                        <a:rPr lang="de-AT"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Kosten bei Rücksendung</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928409460"/>
                  </a:ext>
                </a:extLst>
              </a:tr>
              <a:tr h="3708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e-DE"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rPr>
                        <a:t>Ausnahme: Personal Cover</a:t>
                      </a:r>
                      <a:endParaRPr lang="de-AT" dirty="0">
                        <a:solidFill>
                          <a:schemeClr val="bg1">
                            <a:lumMod val="10000"/>
                          </a:schemeClr>
                        </a:solidFill>
                        <a:latin typeface="Roboto" panose="02000000000000000000" pitchFamily="2" charset="0"/>
                        <a:ea typeface="Roboto" panose="02000000000000000000" pitchFamily="2" charset="0"/>
                        <a:cs typeface="Roboto" panose="02000000000000000000" pitchFamily="2" charset="0"/>
                      </a:endParaRPr>
                    </a:p>
                  </a:txBody>
                  <a:tcPr/>
                </a:tc>
                <a:tc hMerge="1">
                  <a:txBody>
                    <a:bodyPr/>
                    <a:lstStyle/>
                    <a:p>
                      <a:endParaRPr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45088026"/>
                  </a:ext>
                </a:extLst>
              </a:tr>
            </a:tbl>
          </a:graphicData>
        </a:graphic>
      </p:graphicFrame>
      <p:grpSp>
        <p:nvGrpSpPr>
          <p:cNvPr id="5" name="Gruppieren 4">
            <a:extLst>
              <a:ext uri="{FF2B5EF4-FFF2-40B4-BE49-F238E27FC236}">
                <a16:creationId xmlns:a16="http://schemas.microsoft.com/office/drawing/2014/main" id="{E2F50499-3763-A6AD-5999-19DB03EBF7F0}"/>
              </a:ext>
            </a:extLst>
          </p:cNvPr>
          <p:cNvGrpSpPr/>
          <p:nvPr/>
        </p:nvGrpSpPr>
        <p:grpSpPr>
          <a:xfrm>
            <a:off x="4662232" y="1427183"/>
            <a:ext cx="651300" cy="651300"/>
            <a:chOff x="2753851" y="2832223"/>
            <a:chExt cx="651300" cy="651300"/>
          </a:xfrm>
        </p:grpSpPr>
        <p:sp>
          <p:nvSpPr>
            <p:cNvPr id="6" name="Google Shape;238;p32">
              <a:extLst>
                <a:ext uri="{FF2B5EF4-FFF2-40B4-BE49-F238E27FC236}">
                  <a16:creationId xmlns:a16="http://schemas.microsoft.com/office/drawing/2014/main" id="{B12BFC1A-EDA7-12A6-6E8C-062063E814D4}"/>
                </a:ext>
              </a:extLst>
            </p:cNvPr>
            <p:cNvSpPr/>
            <p:nvPr/>
          </p:nvSpPr>
          <p:spPr>
            <a:xfrm>
              <a:off x="2753851" y="2832223"/>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9177;p60">
              <a:extLst>
                <a:ext uri="{FF2B5EF4-FFF2-40B4-BE49-F238E27FC236}">
                  <a16:creationId xmlns:a16="http://schemas.microsoft.com/office/drawing/2014/main" id="{DC176CB4-FD42-A749-A1F4-20E49504CD36}"/>
                </a:ext>
              </a:extLst>
            </p:cNvPr>
            <p:cNvGrpSpPr/>
            <p:nvPr/>
          </p:nvGrpSpPr>
          <p:grpSpPr>
            <a:xfrm>
              <a:off x="2875423" y="3007981"/>
              <a:ext cx="408156" cy="299783"/>
              <a:chOff x="1289311" y="2926222"/>
              <a:chExt cx="408156" cy="299783"/>
            </a:xfrm>
            <a:solidFill>
              <a:schemeClr val="tx1"/>
            </a:solidFill>
          </p:grpSpPr>
          <p:sp>
            <p:nvSpPr>
              <p:cNvPr id="8" name="Google Shape;9178;p60">
                <a:extLst>
                  <a:ext uri="{FF2B5EF4-FFF2-40B4-BE49-F238E27FC236}">
                    <a16:creationId xmlns:a16="http://schemas.microsoft.com/office/drawing/2014/main" id="{25B84969-8B1E-5AE6-585C-9CA4C0EDB956}"/>
                  </a:ext>
                </a:extLst>
              </p:cNvPr>
              <p:cNvSpPr/>
              <p:nvPr/>
            </p:nvSpPr>
            <p:spPr>
              <a:xfrm>
                <a:off x="1334029" y="2952385"/>
                <a:ext cx="318339" cy="216395"/>
              </a:xfrm>
              <a:custGeom>
                <a:avLst/>
                <a:gdLst/>
                <a:ahLst/>
                <a:cxnLst/>
                <a:rect l="l" t="t" r="r" b="b"/>
                <a:pathLst>
                  <a:path w="10002" h="6799" extrusionOk="0">
                    <a:moveTo>
                      <a:pt x="3203" y="1369"/>
                    </a:moveTo>
                    <a:cubicBezTo>
                      <a:pt x="3429" y="1369"/>
                      <a:pt x="3620" y="1548"/>
                      <a:pt x="3620" y="1786"/>
                    </a:cubicBezTo>
                    <a:lnTo>
                      <a:pt x="3620" y="2179"/>
                    </a:lnTo>
                    <a:cubicBezTo>
                      <a:pt x="3620" y="2524"/>
                      <a:pt x="3334" y="2798"/>
                      <a:pt x="3012" y="2798"/>
                    </a:cubicBezTo>
                    <a:cubicBezTo>
                      <a:pt x="2679" y="2798"/>
                      <a:pt x="2381" y="2524"/>
                      <a:pt x="2381" y="2179"/>
                    </a:cubicBezTo>
                    <a:lnTo>
                      <a:pt x="2381" y="1786"/>
                    </a:lnTo>
                    <a:cubicBezTo>
                      <a:pt x="2381" y="1560"/>
                      <a:pt x="2560" y="1369"/>
                      <a:pt x="2798" y="1369"/>
                    </a:cubicBezTo>
                    <a:close/>
                    <a:moveTo>
                      <a:pt x="8013" y="1191"/>
                    </a:moveTo>
                    <a:cubicBezTo>
                      <a:pt x="8132" y="1191"/>
                      <a:pt x="8215" y="1274"/>
                      <a:pt x="8215" y="1393"/>
                    </a:cubicBezTo>
                    <a:lnTo>
                      <a:pt x="8215" y="1989"/>
                    </a:lnTo>
                    <a:cubicBezTo>
                      <a:pt x="8215" y="2060"/>
                      <a:pt x="8168" y="2131"/>
                      <a:pt x="8108" y="2167"/>
                    </a:cubicBezTo>
                    <a:cubicBezTo>
                      <a:pt x="8061" y="2203"/>
                      <a:pt x="8025" y="2262"/>
                      <a:pt x="8025" y="2334"/>
                    </a:cubicBezTo>
                    <a:lnTo>
                      <a:pt x="8025" y="2632"/>
                    </a:lnTo>
                    <a:cubicBezTo>
                      <a:pt x="8025" y="2715"/>
                      <a:pt x="8085" y="2798"/>
                      <a:pt x="8168" y="2810"/>
                    </a:cubicBezTo>
                    <a:lnTo>
                      <a:pt x="8680" y="2929"/>
                    </a:lnTo>
                    <a:cubicBezTo>
                      <a:pt x="8763" y="2953"/>
                      <a:pt x="8847" y="3036"/>
                      <a:pt x="8847" y="3132"/>
                    </a:cubicBezTo>
                    <a:lnTo>
                      <a:pt x="8847" y="3191"/>
                    </a:lnTo>
                    <a:lnTo>
                      <a:pt x="6799" y="3191"/>
                    </a:lnTo>
                    <a:lnTo>
                      <a:pt x="6799" y="3132"/>
                    </a:lnTo>
                    <a:cubicBezTo>
                      <a:pt x="6799" y="3024"/>
                      <a:pt x="6858" y="2953"/>
                      <a:pt x="6965" y="2929"/>
                    </a:cubicBezTo>
                    <a:lnTo>
                      <a:pt x="7477" y="2810"/>
                    </a:lnTo>
                    <a:cubicBezTo>
                      <a:pt x="7561" y="2798"/>
                      <a:pt x="7620" y="2715"/>
                      <a:pt x="7620" y="2632"/>
                    </a:cubicBezTo>
                    <a:lnTo>
                      <a:pt x="7620" y="2334"/>
                    </a:lnTo>
                    <a:cubicBezTo>
                      <a:pt x="7596" y="2274"/>
                      <a:pt x="7561" y="2215"/>
                      <a:pt x="7501" y="2167"/>
                    </a:cubicBezTo>
                    <a:cubicBezTo>
                      <a:pt x="7430" y="2120"/>
                      <a:pt x="7406" y="2060"/>
                      <a:pt x="7406" y="1989"/>
                    </a:cubicBezTo>
                    <a:lnTo>
                      <a:pt x="7406" y="1393"/>
                    </a:lnTo>
                    <a:cubicBezTo>
                      <a:pt x="7406" y="1274"/>
                      <a:pt x="7489" y="1191"/>
                      <a:pt x="7608" y="1191"/>
                    </a:cubicBezTo>
                    <a:close/>
                    <a:moveTo>
                      <a:pt x="9620" y="369"/>
                    </a:moveTo>
                    <a:lnTo>
                      <a:pt x="9620" y="3191"/>
                    </a:lnTo>
                    <a:lnTo>
                      <a:pt x="9192" y="3191"/>
                    </a:lnTo>
                    <a:lnTo>
                      <a:pt x="9192" y="3132"/>
                    </a:lnTo>
                    <a:cubicBezTo>
                      <a:pt x="9192" y="2870"/>
                      <a:pt x="9013" y="2632"/>
                      <a:pt x="8739" y="2572"/>
                    </a:cubicBezTo>
                    <a:lnTo>
                      <a:pt x="8382" y="2477"/>
                    </a:lnTo>
                    <a:lnTo>
                      <a:pt x="8382" y="2417"/>
                    </a:lnTo>
                    <a:cubicBezTo>
                      <a:pt x="8501" y="2322"/>
                      <a:pt x="8573" y="2155"/>
                      <a:pt x="8573" y="1977"/>
                    </a:cubicBezTo>
                    <a:lnTo>
                      <a:pt x="8573" y="1381"/>
                    </a:lnTo>
                    <a:cubicBezTo>
                      <a:pt x="8573" y="1048"/>
                      <a:pt x="8311" y="786"/>
                      <a:pt x="7977" y="786"/>
                    </a:cubicBezTo>
                    <a:lnTo>
                      <a:pt x="7584" y="786"/>
                    </a:lnTo>
                    <a:cubicBezTo>
                      <a:pt x="7251" y="786"/>
                      <a:pt x="6989" y="1048"/>
                      <a:pt x="6989" y="1381"/>
                    </a:cubicBezTo>
                    <a:lnTo>
                      <a:pt x="6989" y="1977"/>
                    </a:lnTo>
                    <a:cubicBezTo>
                      <a:pt x="6989" y="2143"/>
                      <a:pt x="7061" y="2298"/>
                      <a:pt x="7180" y="2417"/>
                    </a:cubicBezTo>
                    <a:lnTo>
                      <a:pt x="7180" y="2477"/>
                    </a:lnTo>
                    <a:lnTo>
                      <a:pt x="6822" y="2572"/>
                    </a:lnTo>
                    <a:cubicBezTo>
                      <a:pt x="6549" y="2632"/>
                      <a:pt x="6370" y="2870"/>
                      <a:pt x="6370" y="3132"/>
                    </a:cubicBezTo>
                    <a:lnTo>
                      <a:pt x="6370" y="3191"/>
                    </a:lnTo>
                    <a:lnTo>
                      <a:pt x="5941" y="3191"/>
                    </a:lnTo>
                    <a:lnTo>
                      <a:pt x="5941" y="369"/>
                    </a:lnTo>
                    <a:close/>
                    <a:moveTo>
                      <a:pt x="3227" y="3179"/>
                    </a:moveTo>
                    <a:lnTo>
                      <a:pt x="3227" y="3274"/>
                    </a:lnTo>
                    <a:cubicBezTo>
                      <a:pt x="3203" y="3346"/>
                      <a:pt x="3239" y="3405"/>
                      <a:pt x="3262" y="3465"/>
                    </a:cubicBezTo>
                    <a:lnTo>
                      <a:pt x="3012" y="3715"/>
                    </a:lnTo>
                    <a:lnTo>
                      <a:pt x="3001" y="3715"/>
                    </a:lnTo>
                    <a:lnTo>
                      <a:pt x="2739" y="3465"/>
                    </a:lnTo>
                    <a:cubicBezTo>
                      <a:pt x="2774" y="3405"/>
                      <a:pt x="2798" y="3346"/>
                      <a:pt x="2798" y="3274"/>
                    </a:cubicBezTo>
                    <a:lnTo>
                      <a:pt x="2798" y="3179"/>
                    </a:lnTo>
                    <a:close/>
                    <a:moveTo>
                      <a:pt x="3572" y="3667"/>
                    </a:moveTo>
                    <a:lnTo>
                      <a:pt x="3953" y="3822"/>
                    </a:lnTo>
                    <a:cubicBezTo>
                      <a:pt x="4108" y="3882"/>
                      <a:pt x="4215" y="4048"/>
                      <a:pt x="4215" y="4203"/>
                    </a:cubicBezTo>
                    <a:lnTo>
                      <a:pt x="4215" y="5394"/>
                    </a:lnTo>
                    <a:cubicBezTo>
                      <a:pt x="4215" y="5513"/>
                      <a:pt x="4132" y="5608"/>
                      <a:pt x="4013" y="5608"/>
                    </a:cubicBezTo>
                    <a:lnTo>
                      <a:pt x="3191" y="5608"/>
                    </a:lnTo>
                    <a:lnTo>
                      <a:pt x="3191" y="5382"/>
                    </a:lnTo>
                    <a:lnTo>
                      <a:pt x="3608" y="5382"/>
                    </a:lnTo>
                    <a:cubicBezTo>
                      <a:pt x="3715" y="5382"/>
                      <a:pt x="3798" y="5299"/>
                      <a:pt x="3798" y="5191"/>
                    </a:cubicBezTo>
                    <a:lnTo>
                      <a:pt x="3798" y="4596"/>
                    </a:lnTo>
                    <a:cubicBezTo>
                      <a:pt x="3798" y="4489"/>
                      <a:pt x="3715" y="4406"/>
                      <a:pt x="3608" y="4406"/>
                    </a:cubicBezTo>
                    <a:cubicBezTo>
                      <a:pt x="3501" y="4406"/>
                      <a:pt x="3417" y="4489"/>
                      <a:pt x="3417" y="4596"/>
                    </a:cubicBezTo>
                    <a:lnTo>
                      <a:pt x="3417" y="5013"/>
                    </a:lnTo>
                    <a:lnTo>
                      <a:pt x="2584" y="5013"/>
                    </a:lnTo>
                    <a:lnTo>
                      <a:pt x="2584" y="4596"/>
                    </a:lnTo>
                    <a:cubicBezTo>
                      <a:pt x="2584" y="4489"/>
                      <a:pt x="2489" y="4406"/>
                      <a:pt x="2381" y="4406"/>
                    </a:cubicBezTo>
                    <a:cubicBezTo>
                      <a:pt x="2286" y="4406"/>
                      <a:pt x="2191" y="4489"/>
                      <a:pt x="2191" y="4596"/>
                    </a:cubicBezTo>
                    <a:lnTo>
                      <a:pt x="2191" y="5191"/>
                    </a:lnTo>
                    <a:cubicBezTo>
                      <a:pt x="2191" y="5299"/>
                      <a:pt x="2286" y="5382"/>
                      <a:pt x="2381" y="5382"/>
                    </a:cubicBezTo>
                    <a:lnTo>
                      <a:pt x="2798" y="5382"/>
                    </a:lnTo>
                    <a:lnTo>
                      <a:pt x="2798" y="5608"/>
                    </a:lnTo>
                    <a:lnTo>
                      <a:pt x="1989" y="5608"/>
                    </a:lnTo>
                    <a:cubicBezTo>
                      <a:pt x="1869" y="5608"/>
                      <a:pt x="1774" y="5513"/>
                      <a:pt x="1774" y="5394"/>
                    </a:cubicBezTo>
                    <a:lnTo>
                      <a:pt x="1774" y="4203"/>
                    </a:lnTo>
                    <a:cubicBezTo>
                      <a:pt x="1774" y="4048"/>
                      <a:pt x="1881" y="3882"/>
                      <a:pt x="2048" y="3822"/>
                    </a:cubicBezTo>
                    <a:lnTo>
                      <a:pt x="2417" y="3667"/>
                    </a:lnTo>
                    <a:lnTo>
                      <a:pt x="2727" y="3989"/>
                    </a:lnTo>
                    <a:cubicBezTo>
                      <a:pt x="2798" y="4060"/>
                      <a:pt x="2905" y="4108"/>
                      <a:pt x="3001" y="4108"/>
                    </a:cubicBezTo>
                    <a:cubicBezTo>
                      <a:pt x="3096" y="4108"/>
                      <a:pt x="3191" y="4060"/>
                      <a:pt x="3262" y="3989"/>
                    </a:cubicBezTo>
                    <a:lnTo>
                      <a:pt x="3572" y="3667"/>
                    </a:lnTo>
                    <a:close/>
                    <a:moveTo>
                      <a:pt x="5632" y="5596"/>
                    </a:moveTo>
                    <a:lnTo>
                      <a:pt x="5632" y="6406"/>
                    </a:lnTo>
                    <a:lnTo>
                      <a:pt x="381" y="6406"/>
                    </a:lnTo>
                    <a:lnTo>
                      <a:pt x="381" y="5596"/>
                    </a:lnTo>
                    <a:lnTo>
                      <a:pt x="1429" y="5596"/>
                    </a:lnTo>
                    <a:cubicBezTo>
                      <a:pt x="1512" y="5834"/>
                      <a:pt x="1727" y="5989"/>
                      <a:pt x="2000" y="5989"/>
                    </a:cubicBezTo>
                    <a:lnTo>
                      <a:pt x="4013" y="5989"/>
                    </a:lnTo>
                    <a:cubicBezTo>
                      <a:pt x="4263" y="5989"/>
                      <a:pt x="4489" y="5834"/>
                      <a:pt x="4572" y="5596"/>
                    </a:cubicBezTo>
                    <a:close/>
                    <a:moveTo>
                      <a:pt x="8025" y="4406"/>
                    </a:moveTo>
                    <a:cubicBezTo>
                      <a:pt x="8144" y="4406"/>
                      <a:pt x="8227" y="4489"/>
                      <a:pt x="8227" y="4608"/>
                    </a:cubicBezTo>
                    <a:lnTo>
                      <a:pt x="8227" y="5203"/>
                    </a:lnTo>
                    <a:cubicBezTo>
                      <a:pt x="8227" y="5275"/>
                      <a:pt x="8192" y="5358"/>
                      <a:pt x="8132" y="5382"/>
                    </a:cubicBezTo>
                    <a:cubicBezTo>
                      <a:pt x="8073" y="5418"/>
                      <a:pt x="8037" y="5477"/>
                      <a:pt x="8037" y="5549"/>
                    </a:cubicBezTo>
                    <a:lnTo>
                      <a:pt x="8037" y="5846"/>
                    </a:lnTo>
                    <a:cubicBezTo>
                      <a:pt x="8037" y="5930"/>
                      <a:pt x="8096" y="6013"/>
                      <a:pt x="8192" y="6025"/>
                    </a:cubicBezTo>
                    <a:lnTo>
                      <a:pt x="8692" y="6144"/>
                    </a:lnTo>
                    <a:cubicBezTo>
                      <a:pt x="8787" y="6168"/>
                      <a:pt x="8858" y="6251"/>
                      <a:pt x="8858" y="6346"/>
                    </a:cubicBezTo>
                    <a:lnTo>
                      <a:pt x="8858" y="6406"/>
                    </a:lnTo>
                    <a:lnTo>
                      <a:pt x="6787" y="6406"/>
                    </a:lnTo>
                    <a:lnTo>
                      <a:pt x="6787" y="6346"/>
                    </a:lnTo>
                    <a:cubicBezTo>
                      <a:pt x="6787" y="6251"/>
                      <a:pt x="6846" y="6168"/>
                      <a:pt x="6953" y="6144"/>
                    </a:cubicBezTo>
                    <a:lnTo>
                      <a:pt x="7465" y="6025"/>
                    </a:lnTo>
                    <a:cubicBezTo>
                      <a:pt x="7549" y="6013"/>
                      <a:pt x="7608" y="5930"/>
                      <a:pt x="7608" y="5846"/>
                    </a:cubicBezTo>
                    <a:lnTo>
                      <a:pt x="7608" y="5549"/>
                    </a:lnTo>
                    <a:cubicBezTo>
                      <a:pt x="7608" y="5489"/>
                      <a:pt x="7584" y="5418"/>
                      <a:pt x="7513" y="5382"/>
                    </a:cubicBezTo>
                    <a:cubicBezTo>
                      <a:pt x="7442" y="5334"/>
                      <a:pt x="7418" y="5275"/>
                      <a:pt x="7418" y="5203"/>
                    </a:cubicBezTo>
                    <a:lnTo>
                      <a:pt x="7418" y="4608"/>
                    </a:lnTo>
                    <a:cubicBezTo>
                      <a:pt x="7418" y="4489"/>
                      <a:pt x="7501" y="4406"/>
                      <a:pt x="7620" y="4406"/>
                    </a:cubicBezTo>
                    <a:close/>
                    <a:moveTo>
                      <a:pt x="9585" y="3584"/>
                    </a:moveTo>
                    <a:lnTo>
                      <a:pt x="9585" y="6406"/>
                    </a:lnTo>
                    <a:lnTo>
                      <a:pt x="9204" y="6406"/>
                    </a:lnTo>
                    <a:lnTo>
                      <a:pt x="9204" y="6346"/>
                    </a:lnTo>
                    <a:cubicBezTo>
                      <a:pt x="9204" y="6084"/>
                      <a:pt x="9025" y="5846"/>
                      <a:pt x="8751" y="5787"/>
                    </a:cubicBezTo>
                    <a:lnTo>
                      <a:pt x="8394" y="5691"/>
                    </a:lnTo>
                    <a:lnTo>
                      <a:pt x="8394" y="5632"/>
                    </a:lnTo>
                    <a:cubicBezTo>
                      <a:pt x="8513" y="5537"/>
                      <a:pt x="8596" y="5370"/>
                      <a:pt x="8596" y="5191"/>
                    </a:cubicBezTo>
                    <a:lnTo>
                      <a:pt x="8596" y="4596"/>
                    </a:lnTo>
                    <a:cubicBezTo>
                      <a:pt x="8596" y="4263"/>
                      <a:pt x="8323" y="4001"/>
                      <a:pt x="8001" y="4001"/>
                    </a:cubicBezTo>
                    <a:lnTo>
                      <a:pt x="7596" y="4001"/>
                    </a:lnTo>
                    <a:cubicBezTo>
                      <a:pt x="7263" y="4001"/>
                      <a:pt x="7001" y="4263"/>
                      <a:pt x="7001" y="4596"/>
                    </a:cubicBezTo>
                    <a:lnTo>
                      <a:pt x="7001" y="5191"/>
                    </a:lnTo>
                    <a:cubicBezTo>
                      <a:pt x="7001" y="5358"/>
                      <a:pt x="7072" y="5513"/>
                      <a:pt x="7192" y="5632"/>
                    </a:cubicBezTo>
                    <a:lnTo>
                      <a:pt x="7192" y="5691"/>
                    </a:lnTo>
                    <a:lnTo>
                      <a:pt x="6834" y="5787"/>
                    </a:lnTo>
                    <a:cubicBezTo>
                      <a:pt x="6572" y="5846"/>
                      <a:pt x="6394" y="6084"/>
                      <a:pt x="6394" y="6346"/>
                    </a:cubicBezTo>
                    <a:lnTo>
                      <a:pt x="6394" y="6406"/>
                    </a:lnTo>
                    <a:lnTo>
                      <a:pt x="5953" y="6406"/>
                    </a:lnTo>
                    <a:lnTo>
                      <a:pt x="5953" y="3584"/>
                    </a:lnTo>
                    <a:close/>
                    <a:moveTo>
                      <a:pt x="203" y="0"/>
                    </a:moveTo>
                    <a:cubicBezTo>
                      <a:pt x="95" y="0"/>
                      <a:pt x="0" y="84"/>
                      <a:pt x="0" y="191"/>
                    </a:cubicBezTo>
                    <a:lnTo>
                      <a:pt x="0" y="6596"/>
                    </a:lnTo>
                    <a:cubicBezTo>
                      <a:pt x="0" y="6703"/>
                      <a:pt x="95" y="6799"/>
                      <a:pt x="203" y="6799"/>
                    </a:cubicBezTo>
                    <a:lnTo>
                      <a:pt x="9811" y="6799"/>
                    </a:lnTo>
                    <a:cubicBezTo>
                      <a:pt x="9918" y="6799"/>
                      <a:pt x="10001" y="6703"/>
                      <a:pt x="10001" y="6596"/>
                    </a:cubicBezTo>
                    <a:lnTo>
                      <a:pt x="10001" y="191"/>
                    </a:lnTo>
                    <a:cubicBezTo>
                      <a:pt x="10001" y="84"/>
                      <a:pt x="9918" y="0"/>
                      <a:pt x="9811" y="0"/>
                    </a:cubicBezTo>
                    <a:lnTo>
                      <a:pt x="1584" y="0"/>
                    </a:lnTo>
                    <a:cubicBezTo>
                      <a:pt x="1477" y="0"/>
                      <a:pt x="1381" y="84"/>
                      <a:pt x="1381" y="191"/>
                    </a:cubicBezTo>
                    <a:cubicBezTo>
                      <a:pt x="1381" y="286"/>
                      <a:pt x="1477" y="381"/>
                      <a:pt x="1584" y="381"/>
                    </a:cubicBezTo>
                    <a:lnTo>
                      <a:pt x="5596" y="381"/>
                    </a:lnTo>
                    <a:lnTo>
                      <a:pt x="5596" y="5215"/>
                    </a:lnTo>
                    <a:lnTo>
                      <a:pt x="4572" y="5215"/>
                    </a:lnTo>
                    <a:lnTo>
                      <a:pt x="4572" y="4203"/>
                    </a:lnTo>
                    <a:cubicBezTo>
                      <a:pt x="4572" y="3882"/>
                      <a:pt x="4370" y="3584"/>
                      <a:pt x="4072" y="3477"/>
                    </a:cubicBezTo>
                    <a:lnTo>
                      <a:pt x="3572" y="3286"/>
                    </a:lnTo>
                    <a:lnTo>
                      <a:pt x="3572" y="3274"/>
                    </a:lnTo>
                    <a:lnTo>
                      <a:pt x="3572" y="2989"/>
                    </a:lnTo>
                    <a:cubicBezTo>
                      <a:pt x="3810" y="2810"/>
                      <a:pt x="3977" y="2512"/>
                      <a:pt x="3977" y="2203"/>
                    </a:cubicBezTo>
                    <a:lnTo>
                      <a:pt x="3977" y="1798"/>
                    </a:lnTo>
                    <a:cubicBezTo>
                      <a:pt x="3977" y="1369"/>
                      <a:pt x="3620" y="1012"/>
                      <a:pt x="3191" y="1012"/>
                    </a:cubicBezTo>
                    <a:lnTo>
                      <a:pt x="2786" y="1012"/>
                    </a:lnTo>
                    <a:cubicBezTo>
                      <a:pt x="2358" y="1012"/>
                      <a:pt x="2000" y="1369"/>
                      <a:pt x="2000" y="1798"/>
                    </a:cubicBezTo>
                    <a:lnTo>
                      <a:pt x="2000" y="2203"/>
                    </a:lnTo>
                    <a:cubicBezTo>
                      <a:pt x="2000" y="2524"/>
                      <a:pt x="2167" y="2810"/>
                      <a:pt x="2405" y="2989"/>
                    </a:cubicBezTo>
                    <a:lnTo>
                      <a:pt x="2405" y="3274"/>
                    </a:lnTo>
                    <a:lnTo>
                      <a:pt x="2405" y="3286"/>
                    </a:lnTo>
                    <a:lnTo>
                      <a:pt x="1905" y="3477"/>
                    </a:lnTo>
                    <a:cubicBezTo>
                      <a:pt x="1608" y="3596"/>
                      <a:pt x="1405" y="3894"/>
                      <a:pt x="1405" y="4203"/>
                    </a:cubicBezTo>
                    <a:lnTo>
                      <a:pt x="1405" y="5215"/>
                    </a:lnTo>
                    <a:lnTo>
                      <a:pt x="381" y="5215"/>
                    </a:lnTo>
                    <a:lnTo>
                      <a:pt x="381" y="381"/>
                    </a:lnTo>
                    <a:lnTo>
                      <a:pt x="798" y="381"/>
                    </a:lnTo>
                    <a:cubicBezTo>
                      <a:pt x="893" y="381"/>
                      <a:pt x="988" y="286"/>
                      <a:pt x="988" y="191"/>
                    </a:cubicBezTo>
                    <a:cubicBezTo>
                      <a:pt x="988" y="84"/>
                      <a:pt x="893" y="0"/>
                      <a:pt x="79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179;p60">
                <a:extLst>
                  <a:ext uri="{FF2B5EF4-FFF2-40B4-BE49-F238E27FC236}">
                    <a16:creationId xmlns:a16="http://schemas.microsoft.com/office/drawing/2014/main" id="{F89B9F60-FD32-080C-208A-BE4BA8B0B26F}"/>
                  </a:ext>
                </a:extLst>
              </p:cNvPr>
              <p:cNvSpPr/>
              <p:nvPr/>
            </p:nvSpPr>
            <p:spPr>
              <a:xfrm>
                <a:off x="1289311" y="2926222"/>
                <a:ext cx="408156" cy="299783"/>
              </a:xfrm>
              <a:custGeom>
                <a:avLst/>
                <a:gdLst/>
                <a:ahLst/>
                <a:cxnLst/>
                <a:rect l="l" t="t" r="r" b="b"/>
                <a:pathLst>
                  <a:path w="12824" h="9419" extrusionOk="0">
                    <a:moveTo>
                      <a:pt x="11621" y="382"/>
                    </a:moveTo>
                    <a:cubicBezTo>
                      <a:pt x="11740" y="382"/>
                      <a:pt x="11823" y="477"/>
                      <a:pt x="11823" y="596"/>
                    </a:cubicBezTo>
                    <a:lnTo>
                      <a:pt x="11823" y="8037"/>
                    </a:lnTo>
                    <a:lnTo>
                      <a:pt x="11406" y="8037"/>
                    </a:lnTo>
                    <a:cubicBezTo>
                      <a:pt x="11299" y="8037"/>
                      <a:pt x="11216" y="8121"/>
                      <a:pt x="11216" y="8228"/>
                    </a:cubicBezTo>
                    <a:cubicBezTo>
                      <a:pt x="11216" y="8335"/>
                      <a:pt x="11299" y="8418"/>
                      <a:pt x="11406" y="8418"/>
                    </a:cubicBezTo>
                    <a:lnTo>
                      <a:pt x="12407" y="8418"/>
                    </a:lnTo>
                    <a:cubicBezTo>
                      <a:pt x="12407" y="8418"/>
                      <a:pt x="12418" y="8418"/>
                      <a:pt x="12418" y="8442"/>
                    </a:cubicBezTo>
                    <a:lnTo>
                      <a:pt x="12418" y="8835"/>
                    </a:lnTo>
                    <a:cubicBezTo>
                      <a:pt x="12442" y="8942"/>
                      <a:pt x="12347" y="9049"/>
                      <a:pt x="12228" y="9049"/>
                    </a:cubicBezTo>
                    <a:lnTo>
                      <a:pt x="596" y="9049"/>
                    </a:lnTo>
                    <a:cubicBezTo>
                      <a:pt x="476" y="9049"/>
                      <a:pt x="381" y="8954"/>
                      <a:pt x="381" y="8835"/>
                    </a:cubicBezTo>
                    <a:lnTo>
                      <a:pt x="381" y="8442"/>
                    </a:lnTo>
                    <a:cubicBezTo>
                      <a:pt x="381" y="8442"/>
                      <a:pt x="381" y="8418"/>
                      <a:pt x="393" y="8418"/>
                    </a:cubicBezTo>
                    <a:lnTo>
                      <a:pt x="10621" y="8418"/>
                    </a:lnTo>
                    <a:cubicBezTo>
                      <a:pt x="10728" y="8418"/>
                      <a:pt x="10811" y="8335"/>
                      <a:pt x="10811" y="8228"/>
                    </a:cubicBezTo>
                    <a:cubicBezTo>
                      <a:pt x="10811" y="8121"/>
                      <a:pt x="10728" y="8037"/>
                      <a:pt x="10621" y="8037"/>
                    </a:cubicBezTo>
                    <a:lnTo>
                      <a:pt x="977" y="8037"/>
                    </a:lnTo>
                    <a:lnTo>
                      <a:pt x="977" y="596"/>
                    </a:lnTo>
                    <a:cubicBezTo>
                      <a:pt x="977" y="477"/>
                      <a:pt x="1072" y="382"/>
                      <a:pt x="1179" y="382"/>
                    </a:cubicBezTo>
                    <a:close/>
                    <a:moveTo>
                      <a:pt x="1191" y="1"/>
                    </a:moveTo>
                    <a:cubicBezTo>
                      <a:pt x="857" y="1"/>
                      <a:pt x="596" y="263"/>
                      <a:pt x="596" y="596"/>
                    </a:cubicBezTo>
                    <a:lnTo>
                      <a:pt x="596" y="8037"/>
                    </a:lnTo>
                    <a:lnTo>
                      <a:pt x="381" y="8037"/>
                    </a:lnTo>
                    <a:cubicBezTo>
                      <a:pt x="179" y="8037"/>
                      <a:pt x="0" y="8216"/>
                      <a:pt x="0" y="8418"/>
                    </a:cubicBezTo>
                    <a:lnTo>
                      <a:pt x="0" y="8823"/>
                    </a:lnTo>
                    <a:cubicBezTo>
                      <a:pt x="0" y="9157"/>
                      <a:pt x="262" y="9419"/>
                      <a:pt x="596" y="9419"/>
                    </a:cubicBezTo>
                    <a:lnTo>
                      <a:pt x="12228" y="9419"/>
                    </a:lnTo>
                    <a:cubicBezTo>
                      <a:pt x="12561" y="9419"/>
                      <a:pt x="12823" y="9157"/>
                      <a:pt x="12823" y="8823"/>
                    </a:cubicBezTo>
                    <a:lnTo>
                      <a:pt x="12823" y="8418"/>
                    </a:lnTo>
                    <a:cubicBezTo>
                      <a:pt x="12811" y="8216"/>
                      <a:pt x="12645" y="8037"/>
                      <a:pt x="12418" y="8037"/>
                    </a:cubicBezTo>
                    <a:lnTo>
                      <a:pt x="12216" y="8037"/>
                    </a:lnTo>
                    <a:lnTo>
                      <a:pt x="12216" y="596"/>
                    </a:lnTo>
                    <a:cubicBezTo>
                      <a:pt x="12216" y="263"/>
                      <a:pt x="11942" y="1"/>
                      <a:pt x="1162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 name="Gruppieren 9">
            <a:extLst>
              <a:ext uri="{FF2B5EF4-FFF2-40B4-BE49-F238E27FC236}">
                <a16:creationId xmlns:a16="http://schemas.microsoft.com/office/drawing/2014/main" id="{3E377D76-FF1B-6444-7087-33254C8BD223}"/>
              </a:ext>
            </a:extLst>
          </p:cNvPr>
          <p:cNvGrpSpPr/>
          <p:nvPr/>
        </p:nvGrpSpPr>
        <p:grpSpPr>
          <a:xfrm>
            <a:off x="1490938" y="1427183"/>
            <a:ext cx="651300" cy="651300"/>
            <a:chOff x="4083527" y="1240761"/>
            <a:chExt cx="651300" cy="651300"/>
          </a:xfrm>
        </p:grpSpPr>
        <p:sp>
          <p:nvSpPr>
            <p:cNvPr id="11" name="Google Shape;239;p32">
              <a:extLst>
                <a:ext uri="{FF2B5EF4-FFF2-40B4-BE49-F238E27FC236}">
                  <a16:creationId xmlns:a16="http://schemas.microsoft.com/office/drawing/2014/main" id="{84C21B1A-57CA-C536-8624-900C9D4ED743}"/>
                </a:ext>
              </a:extLst>
            </p:cNvPr>
            <p:cNvSpPr/>
            <p:nvPr/>
          </p:nvSpPr>
          <p:spPr>
            <a:xfrm>
              <a:off x="4083527" y="1240761"/>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9116;p60">
              <a:extLst>
                <a:ext uri="{FF2B5EF4-FFF2-40B4-BE49-F238E27FC236}">
                  <a16:creationId xmlns:a16="http://schemas.microsoft.com/office/drawing/2014/main" id="{424604B6-CF3A-EDE2-D498-BDC0A56BD407}"/>
                </a:ext>
              </a:extLst>
            </p:cNvPr>
            <p:cNvGrpSpPr/>
            <p:nvPr/>
          </p:nvGrpSpPr>
          <p:grpSpPr>
            <a:xfrm>
              <a:off x="4236364" y="1391137"/>
              <a:ext cx="350198" cy="350548"/>
              <a:chOff x="3094217" y="1976585"/>
              <a:chExt cx="350198" cy="350548"/>
            </a:xfrm>
            <a:solidFill>
              <a:schemeClr val="tx1"/>
            </a:solidFill>
          </p:grpSpPr>
          <p:sp>
            <p:nvSpPr>
              <p:cNvPr id="13" name="Google Shape;9117;p60">
                <a:extLst>
                  <a:ext uri="{FF2B5EF4-FFF2-40B4-BE49-F238E27FC236}">
                    <a16:creationId xmlns:a16="http://schemas.microsoft.com/office/drawing/2014/main" id="{7C0A3189-D033-A9DC-F0D1-D5042BD83C16}"/>
                  </a:ext>
                </a:extLst>
              </p:cNvPr>
              <p:cNvSpPr/>
              <p:nvPr/>
            </p:nvSpPr>
            <p:spPr>
              <a:xfrm>
                <a:off x="3094217" y="2129039"/>
                <a:ext cx="131543" cy="197362"/>
              </a:xfrm>
              <a:custGeom>
                <a:avLst/>
                <a:gdLst/>
                <a:ahLst/>
                <a:cxnLst/>
                <a:rect l="l" t="t" r="r" b="b"/>
                <a:pathLst>
                  <a:path w="4133" h="6201" extrusionOk="0">
                    <a:moveTo>
                      <a:pt x="2072" y="345"/>
                    </a:moveTo>
                    <a:cubicBezTo>
                      <a:pt x="2117" y="345"/>
                      <a:pt x="2162" y="348"/>
                      <a:pt x="2203" y="354"/>
                    </a:cubicBezTo>
                    <a:cubicBezTo>
                      <a:pt x="2906" y="414"/>
                      <a:pt x="3454" y="1045"/>
                      <a:pt x="3454" y="1759"/>
                    </a:cubicBezTo>
                    <a:cubicBezTo>
                      <a:pt x="3454" y="2438"/>
                      <a:pt x="3620" y="3069"/>
                      <a:pt x="3751" y="3402"/>
                    </a:cubicBezTo>
                    <a:lnTo>
                      <a:pt x="3751" y="3426"/>
                    </a:lnTo>
                    <a:cubicBezTo>
                      <a:pt x="3608" y="3509"/>
                      <a:pt x="3299" y="3688"/>
                      <a:pt x="2763" y="3807"/>
                    </a:cubicBezTo>
                    <a:lnTo>
                      <a:pt x="2763" y="3759"/>
                    </a:lnTo>
                    <a:lnTo>
                      <a:pt x="2763" y="3438"/>
                    </a:lnTo>
                    <a:cubicBezTo>
                      <a:pt x="2965" y="3319"/>
                      <a:pt x="3144" y="3140"/>
                      <a:pt x="3263" y="2926"/>
                    </a:cubicBezTo>
                    <a:cubicBezTo>
                      <a:pt x="3489" y="2533"/>
                      <a:pt x="3418" y="2021"/>
                      <a:pt x="3073" y="1712"/>
                    </a:cubicBezTo>
                    <a:cubicBezTo>
                      <a:pt x="2834" y="1485"/>
                      <a:pt x="2418" y="1235"/>
                      <a:pt x="1727" y="1235"/>
                    </a:cubicBezTo>
                    <a:cubicBezTo>
                      <a:pt x="1691" y="1235"/>
                      <a:pt x="1644" y="1247"/>
                      <a:pt x="1608" y="1283"/>
                    </a:cubicBezTo>
                    <a:lnTo>
                      <a:pt x="1275" y="1616"/>
                    </a:lnTo>
                    <a:cubicBezTo>
                      <a:pt x="1215" y="1676"/>
                      <a:pt x="1215" y="1783"/>
                      <a:pt x="1275" y="1843"/>
                    </a:cubicBezTo>
                    <a:cubicBezTo>
                      <a:pt x="1304" y="1872"/>
                      <a:pt x="1343" y="1887"/>
                      <a:pt x="1382" y="1887"/>
                    </a:cubicBezTo>
                    <a:cubicBezTo>
                      <a:pt x="1421" y="1887"/>
                      <a:pt x="1459" y="1872"/>
                      <a:pt x="1489" y="1843"/>
                    </a:cubicBezTo>
                    <a:lnTo>
                      <a:pt x="1787" y="1545"/>
                    </a:lnTo>
                    <a:cubicBezTo>
                      <a:pt x="2227" y="1557"/>
                      <a:pt x="2584" y="1700"/>
                      <a:pt x="2846" y="1938"/>
                    </a:cubicBezTo>
                    <a:cubicBezTo>
                      <a:pt x="3073" y="2140"/>
                      <a:pt x="3132" y="2485"/>
                      <a:pt x="2977" y="2747"/>
                    </a:cubicBezTo>
                    <a:cubicBezTo>
                      <a:pt x="2799" y="3081"/>
                      <a:pt x="2441" y="3283"/>
                      <a:pt x="2072" y="3283"/>
                    </a:cubicBezTo>
                    <a:cubicBezTo>
                      <a:pt x="1489" y="3283"/>
                      <a:pt x="1037" y="2831"/>
                      <a:pt x="1037" y="2247"/>
                    </a:cubicBezTo>
                    <a:cubicBezTo>
                      <a:pt x="1037" y="2152"/>
                      <a:pt x="953" y="2081"/>
                      <a:pt x="870" y="2081"/>
                    </a:cubicBezTo>
                    <a:cubicBezTo>
                      <a:pt x="775" y="2081"/>
                      <a:pt x="703" y="2152"/>
                      <a:pt x="703" y="2247"/>
                    </a:cubicBezTo>
                    <a:cubicBezTo>
                      <a:pt x="703" y="2747"/>
                      <a:pt x="989" y="3200"/>
                      <a:pt x="1394" y="3438"/>
                    </a:cubicBezTo>
                    <a:lnTo>
                      <a:pt x="1394" y="3759"/>
                    </a:lnTo>
                    <a:lnTo>
                      <a:pt x="1394" y="3807"/>
                    </a:lnTo>
                    <a:cubicBezTo>
                      <a:pt x="858" y="3688"/>
                      <a:pt x="525" y="3509"/>
                      <a:pt x="394" y="3426"/>
                    </a:cubicBezTo>
                    <a:cubicBezTo>
                      <a:pt x="394" y="3426"/>
                      <a:pt x="382" y="3426"/>
                      <a:pt x="394" y="3402"/>
                    </a:cubicBezTo>
                    <a:cubicBezTo>
                      <a:pt x="525" y="3081"/>
                      <a:pt x="691" y="2438"/>
                      <a:pt x="691" y="1759"/>
                    </a:cubicBezTo>
                    <a:cubicBezTo>
                      <a:pt x="691" y="1045"/>
                      <a:pt x="1239" y="414"/>
                      <a:pt x="1941" y="354"/>
                    </a:cubicBezTo>
                    <a:cubicBezTo>
                      <a:pt x="1983" y="348"/>
                      <a:pt x="2028" y="345"/>
                      <a:pt x="2072" y="345"/>
                    </a:cubicBezTo>
                    <a:close/>
                    <a:moveTo>
                      <a:pt x="2430" y="3581"/>
                    </a:moveTo>
                    <a:lnTo>
                      <a:pt x="2430" y="3783"/>
                    </a:lnTo>
                    <a:cubicBezTo>
                      <a:pt x="2430" y="3974"/>
                      <a:pt x="2537" y="4152"/>
                      <a:pt x="2715" y="4224"/>
                    </a:cubicBezTo>
                    <a:lnTo>
                      <a:pt x="2822" y="4271"/>
                    </a:lnTo>
                    <a:cubicBezTo>
                      <a:pt x="2656" y="4509"/>
                      <a:pt x="2370" y="4676"/>
                      <a:pt x="2072" y="4676"/>
                    </a:cubicBezTo>
                    <a:cubicBezTo>
                      <a:pt x="1775" y="4676"/>
                      <a:pt x="1489" y="4509"/>
                      <a:pt x="1334" y="4271"/>
                    </a:cubicBezTo>
                    <a:lnTo>
                      <a:pt x="1429" y="4224"/>
                    </a:lnTo>
                    <a:cubicBezTo>
                      <a:pt x="1608" y="4140"/>
                      <a:pt x="1715" y="3974"/>
                      <a:pt x="1715" y="3783"/>
                    </a:cubicBezTo>
                    <a:lnTo>
                      <a:pt x="1715" y="3581"/>
                    </a:lnTo>
                    <a:cubicBezTo>
                      <a:pt x="1834" y="3617"/>
                      <a:pt x="1953" y="3628"/>
                      <a:pt x="2072" y="3628"/>
                    </a:cubicBezTo>
                    <a:cubicBezTo>
                      <a:pt x="2191" y="3628"/>
                      <a:pt x="2311" y="3617"/>
                      <a:pt x="2430" y="3581"/>
                    </a:cubicBezTo>
                    <a:close/>
                    <a:moveTo>
                      <a:pt x="2065" y="0"/>
                    </a:moveTo>
                    <a:cubicBezTo>
                      <a:pt x="2010" y="0"/>
                      <a:pt x="1953" y="3"/>
                      <a:pt x="1894" y="9"/>
                    </a:cubicBezTo>
                    <a:cubicBezTo>
                      <a:pt x="1037" y="92"/>
                      <a:pt x="346" y="842"/>
                      <a:pt x="346" y="1735"/>
                    </a:cubicBezTo>
                    <a:cubicBezTo>
                      <a:pt x="346" y="2378"/>
                      <a:pt x="203" y="2962"/>
                      <a:pt x="60" y="3271"/>
                    </a:cubicBezTo>
                    <a:cubicBezTo>
                      <a:pt x="1" y="3426"/>
                      <a:pt x="48" y="3581"/>
                      <a:pt x="179" y="3676"/>
                    </a:cubicBezTo>
                    <a:cubicBezTo>
                      <a:pt x="310" y="3759"/>
                      <a:pt x="584" y="3926"/>
                      <a:pt x="1013" y="4045"/>
                    </a:cubicBezTo>
                    <a:lnTo>
                      <a:pt x="382" y="4379"/>
                    </a:lnTo>
                    <a:cubicBezTo>
                      <a:pt x="144" y="4498"/>
                      <a:pt x="1" y="4712"/>
                      <a:pt x="1" y="4986"/>
                    </a:cubicBezTo>
                    <a:lnTo>
                      <a:pt x="1" y="6045"/>
                    </a:lnTo>
                    <a:cubicBezTo>
                      <a:pt x="1" y="6129"/>
                      <a:pt x="84" y="6200"/>
                      <a:pt x="167" y="6200"/>
                    </a:cubicBezTo>
                    <a:cubicBezTo>
                      <a:pt x="263" y="6200"/>
                      <a:pt x="334" y="6129"/>
                      <a:pt x="334" y="6045"/>
                    </a:cubicBezTo>
                    <a:lnTo>
                      <a:pt x="334" y="4974"/>
                    </a:lnTo>
                    <a:cubicBezTo>
                      <a:pt x="334" y="4831"/>
                      <a:pt x="406" y="4712"/>
                      <a:pt x="525" y="4652"/>
                    </a:cubicBezTo>
                    <a:lnTo>
                      <a:pt x="1037" y="4402"/>
                    </a:lnTo>
                    <a:cubicBezTo>
                      <a:pt x="1239" y="4760"/>
                      <a:pt x="1644" y="4986"/>
                      <a:pt x="2060" y="4986"/>
                    </a:cubicBezTo>
                    <a:cubicBezTo>
                      <a:pt x="2489" y="4986"/>
                      <a:pt x="2882" y="4760"/>
                      <a:pt x="3084" y="4402"/>
                    </a:cubicBezTo>
                    <a:lnTo>
                      <a:pt x="3596" y="4652"/>
                    </a:lnTo>
                    <a:cubicBezTo>
                      <a:pt x="3704" y="4712"/>
                      <a:pt x="3787" y="4831"/>
                      <a:pt x="3787" y="4974"/>
                    </a:cubicBezTo>
                    <a:lnTo>
                      <a:pt x="3787" y="6022"/>
                    </a:lnTo>
                    <a:cubicBezTo>
                      <a:pt x="3787" y="6117"/>
                      <a:pt x="3858" y="6188"/>
                      <a:pt x="3954" y="6188"/>
                    </a:cubicBezTo>
                    <a:cubicBezTo>
                      <a:pt x="4037" y="6188"/>
                      <a:pt x="4108" y="6117"/>
                      <a:pt x="4108" y="6022"/>
                    </a:cubicBezTo>
                    <a:lnTo>
                      <a:pt x="4108" y="4974"/>
                    </a:lnTo>
                    <a:cubicBezTo>
                      <a:pt x="4132" y="4712"/>
                      <a:pt x="3977" y="4474"/>
                      <a:pt x="3739" y="4379"/>
                    </a:cubicBezTo>
                    <a:lnTo>
                      <a:pt x="3096" y="4045"/>
                    </a:lnTo>
                    <a:cubicBezTo>
                      <a:pt x="3537" y="3926"/>
                      <a:pt x="3799" y="3759"/>
                      <a:pt x="3930" y="3676"/>
                    </a:cubicBezTo>
                    <a:cubicBezTo>
                      <a:pt x="4073" y="3581"/>
                      <a:pt x="4108" y="3426"/>
                      <a:pt x="4049" y="3271"/>
                    </a:cubicBezTo>
                    <a:cubicBezTo>
                      <a:pt x="3918" y="2962"/>
                      <a:pt x="3775" y="2378"/>
                      <a:pt x="3775" y="1735"/>
                    </a:cubicBezTo>
                    <a:cubicBezTo>
                      <a:pt x="3775" y="866"/>
                      <a:pt x="3084" y="104"/>
                      <a:pt x="2227" y="9"/>
                    </a:cubicBezTo>
                    <a:cubicBezTo>
                      <a:pt x="2174" y="3"/>
                      <a:pt x="2120" y="0"/>
                      <a:pt x="20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118;p60">
                <a:extLst>
                  <a:ext uri="{FF2B5EF4-FFF2-40B4-BE49-F238E27FC236}">
                    <a16:creationId xmlns:a16="http://schemas.microsoft.com/office/drawing/2014/main" id="{CD5C57CA-51BE-EA96-8002-D08E2F1666FB}"/>
                  </a:ext>
                </a:extLst>
              </p:cNvPr>
              <p:cNvSpPr/>
              <p:nvPr/>
            </p:nvSpPr>
            <p:spPr>
              <a:xfrm>
                <a:off x="3116592" y="2293778"/>
                <a:ext cx="10630" cy="32241"/>
              </a:xfrm>
              <a:custGeom>
                <a:avLst/>
                <a:gdLst/>
                <a:ahLst/>
                <a:cxnLst/>
                <a:rect l="l" t="t" r="r" b="b"/>
                <a:pathLst>
                  <a:path w="334" h="1013" extrusionOk="0">
                    <a:moveTo>
                      <a:pt x="167" y="0"/>
                    </a:moveTo>
                    <a:cubicBezTo>
                      <a:pt x="72" y="0"/>
                      <a:pt x="0" y="72"/>
                      <a:pt x="0" y="167"/>
                    </a:cubicBezTo>
                    <a:lnTo>
                      <a:pt x="0" y="846"/>
                    </a:lnTo>
                    <a:cubicBezTo>
                      <a:pt x="0" y="941"/>
                      <a:pt x="72" y="1012"/>
                      <a:pt x="167" y="1012"/>
                    </a:cubicBezTo>
                    <a:cubicBezTo>
                      <a:pt x="250" y="1012"/>
                      <a:pt x="334" y="941"/>
                      <a:pt x="334" y="846"/>
                    </a:cubicBezTo>
                    <a:lnTo>
                      <a:pt x="334" y="167"/>
                    </a:lnTo>
                    <a:cubicBezTo>
                      <a:pt x="310" y="72"/>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119;p60">
                <a:extLst>
                  <a:ext uri="{FF2B5EF4-FFF2-40B4-BE49-F238E27FC236}">
                    <a16:creationId xmlns:a16="http://schemas.microsoft.com/office/drawing/2014/main" id="{6E2C091A-388E-5007-C8F5-1F28FC8FCA67}"/>
                  </a:ext>
                </a:extLst>
              </p:cNvPr>
              <p:cNvSpPr/>
              <p:nvPr/>
            </p:nvSpPr>
            <p:spPr>
              <a:xfrm>
                <a:off x="3193519" y="2293778"/>
                <a:ext cx="10248" cy="32241"/>
              </a:xfrm>
              <a:custGeom>
                <a:avLst/>
                <a:gdLst/>
                <a:ahLst/>
                <a:cxnLst/>
                <a:rect l="l" t="t" r="r" b="b"/>
                <a:pathLst>
                  <a:path w="322" h="1013" extrusionOk="0">
                    <a:moveTo>
                      <a:pt x="155" y="0"/>
                    </a:moveTo>
                    <a:cubicBezTo>
                      <a:pt x="72" y="0"/>
                      <a:pt x="0" y="72"/>
                      <a:pt x="0" y="167"/>
                    </a:cubicBezTo>
                    <a:lnTo>
                      <a:pt x="0" y="846"/>
                    </a:lnTo>
                    <a:cubicBezTo>
                      <a:pt x="0" y="941"/>
                      <a:pt x="72" y="1012"/>
                      <a:pt x="155" y="1012"/>
                    </a:cubicBezTo>
                    <a:cubicBezTo>
                      <a:pt x="250" y="1012"/>
                      <a:pt x="322" y="941"/>
                      <a:pt x="322" y="846"/>
                    </a:cubicBezTo>
                    <a:lnTo>
                      <a:pt x="322" y="167"/>
                    </a:lnTo>
                    <a:cubicBezTo>
                      <a:pt x="310" y="72"/>
                      <a:pt x="250" y="0"/>
                      <a:pt x="1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120;p60">
                <a:extLst>
                  <a:ext uri="{FF2B5EF4-FFF2-40B4-BE49-F238E27FC236}">
                    <a16:creationId xmlns:a16="http://schemas.microsoft.com/office/drawing/2014/main" id="{D75EBD1E-FA06-2553-7DB4-894A8673EAAE}"/>
                  </a:ext>
                </a:extLst>
              </p:cNvPr>
              <p:cNvSpPr/>
              <p:nvPr/>
            </p:nvSpPr>
            <p:spPr>
              <a:xfrm>
                <a:off x="3346227" y="2166755"/>
                <a:ext cx="54966" cy="18301"/>
              </a:xfrm>
              <a:custGeom>
                <a:avLst/>
                <a:gdLst/>
                <a:ahLst/>
                <a:cxnLst/>
                <a:rect l="l" t="t" r="r" b="b"/>
                <a:pathLst>
                  <a:path w="1727" h="575" extrusionOk="0">
                    <a:moveTo>
                      <a:pt x="646" y="0"/>
                    </a:moveTo>
                    <a:cubicBezTo>
                      <a:pt x="494" y="0"/>
                      <a:pt x="326" y="15"/>
                      <a:pt x="143" y="50"/>
                    </a:cubicBezTo>
                    <a:cubicBezTo>
                      <a:pt x="60" y="62"/>
                      <a:pt x="0" y="122"/>
                      <a:pt x="0" y="217"/>
                    </a:cubicBezTo>
                    <a:lnTo>
                      <a:pt x="0" y="396"/>
                    </a:lnTo>
                    <a:cubicBezTo>
                      <a:pt x="0" y="479"/>
                      <a:pt x="84" y="550"/>
                      <a:pt x="167" y="550"/>
                    </a:cubicBezTo>
                    <a:cubicBezTo>
                      <a:pt x="262" y="550"/>
                      <a:pt x="334" y="479"/>
                      <a:pt x="334" y="396"/>
                    </a:cubicBezTo>
                    <a:lnTo>
                      <a:pt x="334" y="360"/>
                    </a:lnTo>
                    <a:cubicBezTo>
                      <a:pt x="445" y="344"/>
                      <a:pt x="549" y="338"/>
                      <a:pt x="645" y="338"/>
                    </a:cubicBezTo>
                    <a:cubicBezTo>
                      <a:pt x="845" y="338"/>
                      <a:pt x="1007" y="367"/>
                      <a:pt x="1120" y="407"/>
                    </a:cubicBezTo>
                    <a:cubicBezTo>
                      <a:pt x="1334" y="467"/>
                      <a:pt x="1453" y="538"/>
                      <a:pt x="1453" y="538"/>
                    </a:cubicBezTo>
                    <a:cubicBezTo>
                      <a:pt x="1477" y="550"/>
                      <a:pt x="1512" y="574"/>
                      <a:pt x="1536" y="574"/>
                    </a:cubicBezTo>
                    <a:cubicBezTo>
                      <a:pt x="1584" y="574"/>
                      <a:pt x="1643" y="538"/>
                      <a:pt x="1667" y="491"/>
                    </a:cubicBezTo>
                    <a:cubicBezTo>
                      <a:pt x="1727" y="396"/>
                      <a:pt x="1715" y="288"/>
                      <a:pt x="1643" y="241"/>
                    </a:cubicBezTo>
                    <a:cubicBezTo>
                      <a:pt x="1615" y="231"/>
                      <a:pt x="1258" y="0"/>
                      <a:pt x="64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121;p60">
                <a:extLst>
                  <a:ext uri="{FF2B5EF4-FFF2-40B4-BE49-F238E27FC236}">
                    <a16:creationId xmlns:a16="http://schemas.microsoft.com/office/drawing/2014/main" id="{3B29A9A0-2FE1-4EB8-4350-405BCAE9B3E2}"/>
                  </a:ext>
                </a:extLst>
              </p:cNvPr>
              <p:cNvSpPr/>
              <p:nvPr/>
            </p:nvSpPr>
            <p:spPr>
              <a:xfrm>
                <a:off x="3302655" y="2134991"/>
                <a:ext cx="141760" cy="192143"/>
              </a:xfrm>
              <a:custGeom>
                <a:avLst/>
                <a:gdLst/>
                <a:ahLst/>
                <a:cxnLst/>
                <a:rect l="l" t="t" r="r" b="b"/>
                <a:pathLst>
                  <a:path w="4454" h="6037" extrusionOk="0">
                    <a:moveTo>
                      <a:pt x="3453" y="334"/>
                    </a:moveTo>
                    <a:lnTo>
                      <a:pt x="3453" y="1132"/>
                    </a:lnTo>
                    <a:cubicBezTo>
                      <a:pt x="3453" y="1263"/>
                      <a:pt x="3429" y="1405"/>
                      <a:pt x="3370" y="1525"/>
                    </a:cubicBezTo>
                    <a:lnTo>
                      <a:pt x="3310" y="1644"/>
                    </a:lnTo>
                    <a:cubicBezTo>
                      <a:pt x="3298" y="1667"/>
                      <a:pt x="3298" y="1691"/>
                      <a:pt x="3298" y="1715"/>
                    </a:cubicBezTo>
                    <a:lnTo>
                      <a:pt x="3298" y="2060"/>
                    </a:lnTo>
                    <a:cubicBezTo>
                      <a:pt x="3274" y="2346"/>
                      <a:pt x="3155" y="2608"/>
                      <a:pt x="2953" y="2799"/>
                    </a:cubicBezTo>
                    <a:cubicBezTo>
                      <a:pt x="2739" y="3001"/>
                      <a:pt x="2477" y="3096"/>
                      <a:pt x="2191" y="3096"/>
                    </a:cubicBezTo>
                    <a:cubicBezTo>
                      <a:pt x="1643" y="3084"/>
                      <a:pt x="1179" y="2596"/>
                      <a:pt x="1179" y="2013"/>
                    </a:cubicBezTo>
                    <a:lnTo>
                      <a:pt x="1179" y="1715"/>
                    </a:lnTo>
                    <a:cubicBezTo>
                      <a:pt x="1179" y="1691"/>
                      <a:pt x="1179" y="1667"/>
                      <a:pt x="1167" y="1644"/>
                    </a:cubicBezTo>
                    <a:lnTo>
                      <a:pt x="1107" y="1525"/>
                    </a:lnTo>
                    <a:cubicBezTo>
                      <a:pt x="1048" y="1405"/>
                      <a:pt x="1012" y="1275"/>
                      <a:pt x="1012" y="1132"/>
                    </a:cubicBezTo>
                    <a:cubicBezTo>
                      <a:pt x="1012" y="691"/>
                      <a:pt x="1369" y="334"/>
                      <a:pt x="1822" y="334"/>
                    </a:cubicBezTo>
                    <a:close/>
                    <a:moveTo>
                      <a:pt x="2762" y="3310"/>
                    </a:moveTo>
                    <a:lnTo>
                      <a:pt x="2762" y="3537"/>
                    </a:lnTo>
                    <a:cubicBezTo>
                      <a:pt x="2762" y="3572"/>
                      <a:pt x="2774" y="3620"/>
                      <a:pt x="2774" y="3680"/>
                    </a:cubicBezTo>
                    <a:lnTo>
                      <a:pt x="2239" y="4096"/>
                    </a:lnTo>
                    <a:lnTo>
                      <a:pt x="1691" y="3680"/>
                    </a:lnTo>
                    <a:cubicBezTo>
                      <a:pt x="1703" y="3632"/>
                      <a:pt x="1703" y="3584"/>
                      <a:pt x="1703" y="3537"/>
                    </a:cubicBezTo>
                    <a:lnTo>
                      <a:pt x="1703" y="3310"/>
                    </a:lnTo>
                    <a:cubicBezTo>
                      <a:pt x="1846" y="3370"/>
                      <a:pt x="2012" y="3406"/>
                      <a:pt x="2191" y="3406"/>
                    </a:cubicBezTo>
                    <a:lnTo>
                      <a:pt x="2239" y="3406"/>
                    </a:lnTo>
                    <a:cubicBezTo>
                      <a:pt x="2417" y="3406"/>
                      <a:pt x="2596" y="3382"/>
                      <a:pt x="2762" y="3310"/>
                    </a:cubicBezTo>
                    <a:close/>
                    <a:moveTo>
                      <a:pt x="1822" y="1"/>
                    </a:moveTo>
                    <a:cubicBezTo>
                      <a:pt x="1191" y="1"/>
                      <a:pt x="703" y="513"/>
                      <a:pt x="703" y="1120"/>
                    </a:cubicBezTo>
                    <a:cubicBezTo>
                      <a:pt x="703" y="1298"/>
                      <a:pt x="750" y="1489"/>
                      <a:pt x="822" y="1656"/>
                    </a:cubicBezTo>
                    <a:lnTo>
                      <a:pt x="869" y="1751"/>
                    </a:lnTo>
                    <a:lnTo>
                      <a:pt x="869" y="2001"/>
                    </a:lnTo>
                    <a:cubicBezTo>
                      <a:pt x="869" y="2441"/>
                      <a:pt x="1072" y="2846"/>
                      <a:pt x="1381" y="3096"/>
                    </a:cubicBezTo>
                    <a:lnTo>
                      <a:pt x="1381" y="3537"/>
                    </a:lnTo>
                    <a:cubicBezTo>
                      <a:pt x="1381" y="3608"/>
                      <a:pt x="1346" y="3680"/>
                      <a:pt x="1274" y="3703"/>
                    </a:cubicBezTo>
                    <a:lnTo>
                      <a:pt x="453" y="4025"/>
                    </a:lnTo>
                    <a:cubicBezTo>
                      <a:pt x="179" y="4132"/>
                      <a:pt x="0" y="4382"/>
                      <a:pt x="0" y="4668"/>
                    </a:cubicBezTo>
                    <a:lnTo>
                      <a:pt x="0" y="5858"/>
                    </a:lnTo>
                    <a:cubicBezTo>
                      <a:pt x="0" y="5942"/>
                      <a:pt x="83" y="6013"/>
                      <a:pt x="167" y="6013"/>
                    </a:cubicBezTo>
                    <a:cubicBezTo>
                      <a:pt x="262" y="6013"/>
                      <a:pt x="334" y="5942"/>
                      <a:pt x="334" y="5858"/>
                    </a:cubicBezTo>
                    <a:lnTo>
                      <a:pt x="334" y="4668"/>
                    </a:lnTo>
                    <a:cubicBezTo>
                      <a:pt x="334" y="4513"/>
                      <a:pt x="417" y="4382"/>
                      <a:pt x="560" y="4334"/>
                    </a:cubicBezTo>
                    <a:lnTo>
                      <a:pt x="1369" y="4025"/>
                    </a:lnTo>
                    <a:cubicBezTo>
                      <a:pt x="1417" y="4001"/>
                      <a:pt x="1465" y="3977"/>
                      <a:pt x="1488" y="3965"/>
                    </a:cubicBezTo>
                    <a:lnTo>
                      <a:pt x="2060" y="4394"/>
                    </a:lnTo>
                    <a:lnTo>
                      <a:pt x="2060" y="5870"/>
                    </a:lnTo>
                    <a:cubicBezTo>
                      <a:pt x="2060" y="5954"/>
                      <a:pt x="2131" y="6037"/>
                      <a:pt x="2215" y="6037"/>
                    </a:cubicBezTo>
                    <a:cubicBezTo>
                      <a:pt x="2310" y="6037"/>
                      <a:pt x="2381" y="5954"/>
                      <a:pt x="2381" y="5870"/>
                    </a:cubicBezTo>
                    <a:lnTo>
                      <a:pt x="2381" y="4394"/>
                    </a:lnTo>
                    <a:lnTo>
                      <a:pt x="2953" y="3965"/>
                    </a:lnTo>
                    <a:cubicBezTo>
                      <a:pt x="2977" y="3989"/>
                      <a:pt x="3024" y="4013"/>
                      <a:pt x="3072" y="4025"/>
                    </a:cubicBezTo>
                    <a:lnTo>
                      <a:pt x="3882" y="4334"/>
                    </a:lnTo>
                    <a:cubicBezTo>
                      <a:pt x="4024" y="4382"/>
                      <a:pt x="4108" y="4513"/>
                      <a:pt x="4108" y="4668"/>
                    </a:cubicBezTo>
                    <a:lnTo>
                      <a:pt x="4108" y="5858"/>
                    </a:lnTo>
                    <a:cubicBezTo>
                      <a:pt x="4108" y="5942"/>
                      <a:pt x="4179" y="6013"/>
                      <a:pt x="4274" y="6013"/>
                    </a:cubicBezTo>
                    <a:cubicBezTo>
                      <a:pt x="4358" y="6013"/>
                      <a:pt x="4441" y="5942"/>
                      <a:pt x="4441" y="5858"/>
                    </a:cubicBezTo>
                    <a:lnTo>
                      <a:pt x="4441" y="4668"/>
                    </a:lnTo>
                    <a:cubicBezTo>
                      <a:pt x="4453" y="4382"/>
                      <a:pt x="4274" y="4108"/>
                      <a:pt x="4024" y="4025"/>
                    </a:cubicBezTo>
                    <a:lnTo>
                      <a:pt x="3203" y="3703"/>
                    </a:lnTo>
                    <a:cubicBezTo>
                      <a:pt x="3131" y="3680"/>
                      <a:pt x="3084" y="3620"/>
                      <a:pt x="3084" y="3537"/>
                    </a:cubicBezTo>
                    <a:lnTo>
                      <a:pt x="3084" y="3108"/>
                    </a:lnTo>
                    <a:cubicBezTo>
                      <a:pt x="3120" y="3084"/>
                      <a:pt x="3155" y="3060"/>
                      <a:pt x="3191" y="3025"/>
                    </a:cubicBezTo>
                    <a:cubicBezTo>
                      <a:pt x="3453" y="2775"/>
                      <a:pt x="3608" y="2418"/>
                      <a:pt x="3608" y="2037"/>
                    </a:cubicBezTo>
                    <a:lnTo>
                      <a:pt x="3608" y="1727"/>
                    </a:lnTo>
                    <a:lnTo>
                      <a:pt x="3655" y="1644"/>
                    </a:lnTo>
                    <a:cubicBezTo>
                      <a:pt x="3739" y="1477"/>
                      <a:pt x="3774" y="1298"/>
                      <a:pt x="3774" y="1108"/>
                    </a:cubicBezTo>
                    <a:lnTo>
                      <a:pt x="3774" y="167"/>
                    </a:lnTo>
                    <a:cubicBezTo>
                      <a:pt x="3774" y="84"/>
                      <a:pt x="3691" y="1"/>
                      <a:pt x="36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122;p60">
                <a:extLst>
                  <a:ext uri="{FF2B5EF4-FFF2-40B4-BE49-F238E27FC236}">
                    <a16:creationId xmlns:a16="http://schemas.microsoft.com/office/drawing/2014/main" id="{39F6DAB5-0A50-A4F0-0006-89328EABA59C}"/>
                  </a:ext>
                </a:extLst>
              </p:cNvPr>
              <p:cNvSpPr/>
              <p:nvPr/>
            </p:nvSpPr>
            <p:spPr>
              <a:xfrm>
                <a:off x="3330313" y="2288463"/>
                <a:ext cx="10248" cy="37938"/>
              </a:xfrm>
              <a:custGeom>
                <a:avLst/>
                <a:gdLst/>
                <a:ahLst/>
                <a:cxnLst/>
                <a:rect l="l" t="t" r="r" b="b"/>
                <a:pathLst>
                  <a:path w="322" h="1192" extrusionOk="0">
                    <a:moveTo>
                      <a:pt x="167" y="1"/>
                    </a:moveTo>
                    <a:cubicBezTo>
                      <a:pt x="72" y="1"/>
                      <a:pt x="0" y="84"/>
                      <a:pt x="0" y="167"/>
                    </a:cubicBezTo>
                    <a:lnTo>
                      <a:pt x="0" y="1036"/>
                    </a:lnTo>
                    <a:cubicBezTo>
                      <a:pt x="0" y="1120"/>
                      <a:pt x="72" y="1191"/>
                      <a:pt x="167" y="1191"/>
                    </a:cubicBezTo>
                    <a:cubicBezTo>
                      <a:pt x="250" y="1191"/>
                      <a:pt x="322" y="1120"/>
                      <a:pt x="322" y="1036"/>
                    </a:cubicBezTo>
                    <a:lnTo>
                      <a:pt x="322" y="167"/>
                    </a:lnTo>
                    <a:cubicBezTo>
                      <a:pt x="310" y="84"/>
                      <a:pt x="250"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123;p60">
                <a:extLst>
                  <a:ext uri="{FF2B5EF4-FFF2-40B4-BE49-F238E27FC236}">
                    <a16:creationId xmlns:a16="http://schemas.microsoft.com/office/drawing/2014/main" id="{E00D88ED-1A8E-A31B-0DE6-1B5C82C02155}"/>
                  </a:ext>
                </a:extLst>
              </p:cNvPr>
              <p:cNvSpPr/>
              <p:nvPr/>
            </p:nvSpPr>
            <p:spPr>
              <a:xfrm>
                <a:off x="3406859" y="2288463"/>
                <a:ext cx="10630" cy="37938"/>
              </a:xfrm>
              <a:custGeom>
                <a:avLst/>
                <a:gdLst/>
                <a:ahLst/>
                <a:cxnLst/>
                <a:rect l="l" t="t" r="r" b="b"/>
                <a:pathLst>
                  <a:path w="334" h="1192" extrusionOk="0">
                    <a:moveTo>
                      <a:pt x="167" y="1"/>
                    </a:moveTo>
                    <a:cubicBezTo>
                      <a:pt x="84" y="1"/>
                      <a:pt x="0" y="84"/>
                      <a:pt x="0" y="167"/>
                    </a:cubicBezTo>
                    <a:lnTo>
                      <a:pt x="0" y="1036"/>
                    </a:lnTo>
                    <a:cubicBezTo>
                      <a:pt x="0" y="1120"/>
                      <a:pt x="84" y="1191"/>
                      <a:pt x="167" y="1191"/>
                    </a:cubicBezTo>
                    <a:cubicBezTo>
                      <a:pt x="262" y="1191"/>
                      <a:pt x="334" y="1120"/>
                      <a:pt x="334" y="1036"/>
                    </a:cubicBezTo>
                    <a:lnTo>
                      <a:pt x="334" y="167"/>
                    </a:lnTo>
                    <a:cubicBezTo>
                      <a:pt x="322" y="84"/>
                      <a:pt x="262"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124;p60">
                <a:extLst>
                  <a:ext uri="{FF2B5EF4-FFF2-40B4-BE49-F238E27FC236}">
                    <a16:creationId xmlns:a16="http://schemas.microsoft.com/office/drawing/2014/main" id="{5C141C56-2BC3-4639-5D0F-888AEC379809}"/>
                  </a:ext>
                </a:extLst>
              </p:cNvPr>
              <p:cNvSpPr/>
              <p:nvPr/>
            </p:nvSpPr>
            <p:spPr>
              <a:xfrm>
                <a:off x="3149183" y="1976585"/>
                <a:ext cx="219419" cy="183072"/>
              </a:xfrm>
              <a:custGeom>
                <a:avLst/>
                <a:gdLst/>
                <a:ahLst/>
                <a:cxnLst/>
                <a:rect l="l" t="t" r="r" b="b"/>
                <a:pathLst>
                  <a:path w="6894" h="5752" extrusionOk="0">
                    <a:moveTo>
                      <a:pt x="2369" y="4108"/>
                    </a:moveTo>
                    <a:lnTo>
                      <a:pt x="2286" y="4466"/>
                    </a:lnTo>
                    <a:lnTo>
                      <a:pt x="2060" y="4466"/>
                    </a:lnTo>
                    <a:cubicBezTo>
                      <a:pt x="1869" y="4466"/>
                      <a:pt x="1703" y="4299"/>
                      <a:pt x="1703" y="4108"/>
                    </a:cubicBezTo>
                    <a:close/>
                    <a:moveTo>
                      <a:pt x="5513" y="310"/>
                    </a:moveTo>
                    <a:cubicBezTo>
                      <a:pt x="5703" y="310"/>
                      <a:pt x="5870" y="477"/>
                      <a:pt x="5870" y="667"/>
                    </a:cubicBezTo>
                    <a:lnTo>
                      <a:pt x="5870" y="3418"/>
                    </a:lnTo>
                    <a:cubicBezTo>
                      <a:pt x="5870" y="3608"/>
                      <a:pt x="5703" y="3775"/>
                      <a:pt x="5513" y="3775"/>
                    </a:cubicBezTo>
                    <a:lnTo>
                      <a:pt x="4132" y="3775"/>
                    </a:lnTo>
                    <a:cubicBezTo>
                      <a:pt x="4096" y="3775"/>
                      <a:pt x="4048" y="3787"/>
                      <a:pt x="4036" y="3811"/>
                    </a:cubicBezTo>
                    <a:lnTo>
                      <a:pt x="2500" y="4918"/>
                    </a:lnTo>
                    <a:lnTo>
                      <a:pt x="2739" y="3966"/>
                    </a:lnTo>
                    <a:cubicBezTo>
                      <a:pt x="2762" y="3930"/>
                      <a:pt x="2739" y="3870"/>
                      <a:pt x="2715" y="3835"/>
                    </a:cubicBezTo>
                    <a:cubicBezTo>
                      <a:pt x="2679" y="3787"/>
                      <a:pt x="2643" y="3775"/>
                      <a:pt x="2584" y="3775"/>
                    </a:cubicBezTo>
                    <a:lnTo>
                      <a:pt x="691" y="3775"/>
                    </a:lnTo>
                    <a:cubicBezTo>
                      <a:pt x="500" y="3775"/>
                      <a:pt x="333" y="3608"/>
                      <a:pt x="333" y="3418"/>
                    </a:cubicBezTo>
                    <a:lnTo>
                      <a:pt x="333" y="667"/>
                    </a:lnTo>
                    <a:cubicBezTo>
                      <a:pt x="333" y="477"/>
                      <a:pt x="500" y="310"/>
                      <a:pt x="691" y="310"/>
                    </a:cubicBezTo>
                    <a:close/>
                    <a:moveTo>
                      <a:pt x="6215" y="989"/>
                    </a:moveTo>
                    <a:cubicBezTo>
                      <a:pt x="6406" y="989"/>
                      <a:pt x="6572" y="1156"/>
                      <a:pt x="6572" y="1346"/>
                    </a:cubicBezTo>
                    <a:lnTo>
                      <a:pt x="6572" y="4108"/>
                    </a:lnTo>
                    <a:lnTo>
                      <a:pt x="6549" y="4108"/>
                    </a:lnTo>
                    <a:cubicBezTo>
                      <a:pt x="6549" y="4299"/>
                      <a:pt x="6394" y="4466"/>
                      <a:pt x="6191" y="4466"/>
                    </a:cubicBezTo>
                    <a:lnTo>
                      <a:pt x="4810" y="4466"/>
                    </a:lnTo>
                    <a:cubicBezTo>
                      <a:pt x="4763" y="4466"/>
                      <a:pt x="4727" y="4477"/>
                      <a:pt x="4691" y="4513"/>
                    </a:cubicBezTo>
                    <a:cubicBezTo>
                      <a:pt x="4667" y="4549"/>
                      <a:pt x="4644" y="4608"/>
                      <a:pt x="4667" y="4656"/>
                    </a:cubicBezTo>
                    <a:lnTo>
                      <a:pt x="4763" y="5323"/>
                    </a:lnTo>
                    <a:lnTo>
                      <a:pt x="3596" y="4537"/>
                    </a:lnTo>
                    <a:lnTo>
                      <a:pt x="4191" y="4096"/>
                    </a:lnTo>
                    <a:lnTo>
                      <a:pt x="5513" y="4096"/>
                    </a:lnTo>
                    <a:cubicBezTo>
                      <a:pt x="5882" y="4096"/>
                      <a:pt x="6191" y="3799"/>
                      <a:pt x="6191" y="3418"/>
                    </a:cubicBezTo>
                    <a:lnTo>
                      <a:pt x="6191" y="989"/>
                    </a:lnTo>
                    <a:close/>
                    <a:moveTo>
                      <a:pt x="691" y="1"/>
                    </a:moveTo>
                    <a:cubicBezTo>
                      <a:pt x="322" y="1"/>
                      <a:pt x="0" y="298"/>
                      <a:pt x="0" y="679"/>
                    </a:cubicBezTo>
                    <a:lnTo>
                      <a:pt x="0" y="3430"/>
                    </a:lnTo>
                    <a:cubicBezTo>
                      <a:pt x="0" y="3811"/>
                      <a:pt x="298" y="4120"/>
                      <a:pt x="691" y="4120"/>
                    </a:cubicBezTo>
                    <a:lnTo>
                      <a:pt x="1393" y="4120"/>
                    </a:lnTo>
                    <a:lnTo>
                      <a:pt x="1393" y="4132"/>
                    </a:lnTo>
                    <a:cubicBezTo>
                      <a:pt x="1393" y="4501"/>
                      <a:pt x="1691" y="4823"/>
                      <a:pt x="2072" y="4823"/>
                    </a:cubicBezTo>
                    <a:lnTo>
                      <a:pt x="2203" y="4823"/>
                    </a:lnTo>
                    <a:lnTo>
                      <a:pt x="2143" y="5073"/>
                    </a:lnTo>
                    <a:cubicBezTo>
                      <a:pt x="2119" y="5180"/>
                      <a:pt x="2167" y="5275"/>
                      <a:pt x="2250" y="5335"/>
                    </a:cubicBezTo>
                    <a:cubicBezTo>
                      <a:pt x="2298" y="5370"/>
                      <a:pt x="2346" y="5382"/>
                      <a:pt x="2381" y="5382"/>
                    </a:cubicBezTo>
                    <a:cubicBezTo>
                      <a:pt x="2429" y="5382"/>
                      <a:pt x="2489" y="5370"/>
                      <a:pt x="2536" y="5335"/>
                    </a:cubicBezTo>
                    <a:lnTo>
                      <a:pt x="3251" y="4823"/>
                    </a:lnTo>
                    <a:lnTo>
                      <a:pt x="3417" y="4823"/>
                    </a:lnTo>
                    <a:lnTo>
                      <a:pt x="4751" y="5716"/>
                    </a:lnTo>
                    <a:cubicBezTo>
                      <a:pt x="4798" y="5740"/>
                      <a:pt x="4846" y="5751"/>
                      <a:pt x="4882" y="5751"/>
                    </a:cubicBezTo>
                    <a:cubicBezTo>
                      <a:pt x="4929" y="5751"/>
                      <a:pt x="4977" y="5740"/>
                      <a:pt x="5025" y="5716"/>
                    </a:cubicBezTo>
                    <a:cubicBezTo>
                      <a:pt x="5108" y="5656"/>
                      <a:pt x="5144" y="5561"/>
                      <a:pt x="5120" y="5454"/>
                    </a:cubicBezTo>
                    <a:lnTo>
                      <a:pt x="5025" y="4799"/>
                    </a:lnTo>
                    <a:lnTo>
                      <a:pt x="6215" y="4799"/>
                    </a:lnTo>
                    <a:cubicBezTo>
                      <a:pt x="6584" y="4799"/>
                      <a:pt x="6894" y="4501"/>
                      <a:pt x="6894" y="4120"/>
                    </a:cubicBezTo>
                    <a:lnTo>
                      <a:pt x="6894" y="1370"/>
                    </a:lnTo>
                    <a:cubicBezTo>
                      <a:pt x="6870" y="977"/>
                      <a:pt x="6572" y="679"/>
                      <a:pt x="6191" y="679"/>
                    </a:cubicBezTo>
                    <a:cubicBezTo>
                      <a:pt x="6179" y="298"/>
                      <a:pt x="5882" y="1"/>
                      <a:pt x="551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125;p60">
                <a:extLst>
                  <a:ext uri="{FF2B5EF4-FFF2-40B4-BE49-F238E27FC236}">
                    <a16:creationId xmlns:a16="http://schemas.microsoft.com/office/drawing/2014/main" id="{756E3F78-9B6E-F124-4BEC-910DDEE91B1C}"/>
                  </a:ext>
                </a:extLst>
              </p:cNvPr>
              <p:cNvSpPr/>
              <p:nvPr/>
            </p:nvSpPr>
            <p:spPr>
              <a:xfrm>
                <a:off x="3187822" y="2009177"/>
                <a:ext cx="26926" cy="10280"/>
              </a:xfrm>
              <a:custGeom>
                <a:avLst/>
                <a:gdLst/>
                <a:ahLst/>
                <a:cxnLst/>
                <a:rect l="l" t="t" r="r" b="b"/>
                <a:pathLst>
                  <a:path w="846" h="323" extrusionOk="0">
                    <a:moveTo>
                      <a:pt x="155" y="1"/>
                    </a:moveTo>
                    <a:cubicBezTo>
                      <a:pt x="72" y="1"/>
                      <a:pt x="1" y="72"/>
                      <a:pt x="1" y="167"/>
                    </a:cubicBezTo>
                    <a:cubicBezTo>
                      <a:pt x="1" y="251"/>
                      <a:pt x="72" y="322"/>
                      <a:pt x="155" y="322"/>
                    </a:cubicBezTo>
                    <a:lnTo>
                      <a:pt x="679" y="322"/>
                    </a:lnTo>
                    <a:cubicBezTo>
                      <a:pt x="774" y="322"/>
                      <a:pt x="846" y="251"/>
                      <a:pt x="846" y="167"/>
                    </a:cubicBezTo>
                    <a:cubicBezTo>
                      <a:pt x="846" y="72"/>
                      <a:pt x="774" y="1"/>
                      <a:pt x="6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126;p60">
                <a:extLst>
                  <a:ext uri="{FF2B5EF4-FFF2-40B4-BE49-F238E27FC236}">
                    <a16:creationId xmlns:a16="http://schemas.microsoft.com/office/drawing/2014/main" id="{811EFF10-A207-AA8A-F2C8-13714358B0D3}"/>
                  </a:ext>
                </a:extLst>
              </p:cNvPr>
              <p:cNvSpPr/>
              <p:nvPr/>
            </p:nvSpPr>
            <p:spPr>
              <a:xfrm>
                <a:off x="3226110" y="2009177"/>
                <a:ext cx="81478" cy="10280"/>
              </a:xfrm>
              <a:custGeom>
                <a:avLst/>
                <a:gdLst/>
                <a:ahLst/>
                <a:cxnLst/>
                <a:rect l="l" t="t" r="r" b="b"/>
                <a:pathLst>
                  <a:path w="2560" h="323" extrusionOk="0">
                    <a:moveTo>
                      <a:pt x="167" y="1"/>
                    </a:moveTo>
                    <a:cubicBezTo>
                      <a:pt x="72" y="1"/>
                      <a:pt x="0" y="72"/>
                      <a:pt x="0" y="167"/>
                    </a:cubicBezTo>
                    <a:cubicBezTo>
                      <a:pt x="0" y="251"/>
                      <a:pt x="72" y="322"/>
                      <a:pt x="167" y="322"/>
                    </a:cubicBezTo>
                    <a:lnTo>
                      <a:pt x="2393" y="322"/>
                    </a:lnTo>
                    <a:cubicBezTo>
                      <a:pt x="2488" y="322"/>
                      <a:pt x="2560" y="251"/>
                      <a:pt x="2560" y="167"/>
                    </a:cubicBezTo>
                    <a:cubicBezTo>
                      <a:pt x="2560" y="72"/>
                      <a:pt x="2488" y="1"/>
                      <a:pt x="23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127;p60">
                <a:extLst>
                  <a:ext uri="{FF2B5EF4-FFF2-40B4-BE49-F238E27FC236}">
                    <a16:creationId xmlns:a16="http://schemas.microsoft.com/office/drawing/2014/main" id="{230B478A-8397-B40F-78F4-41AF8B49F3A4}"/>
                  </a:ext>
                </a:extLst>
              </p:cNvPr>
              <p:cNvSpPr/>
              <p:nvPr/>
            </p:nvSpPr>
            <p:spPr>
              <a:xfrm>
                <a:off x="3187822" y="2036453"/>
                <a:ext cx="119767" cy="10662"/>
              </a:xfrm>
              <a:custGeom>
                <a:avLst/>
                <a:gdLst/>
                <a:ahLst/>
                <a:cxnLst/>
                <a:rect l="l" t="t" r="r" b="b"/>
                <a:pathLst>
                  <a:path w="3763" h="335" extrusionOk="0">
                    <a:moveTo>
                      <a:pt x="155" y="1"/>
                    </a:moveTo>
                    <a:cubicBezTo>
                      <a:pt x="72" y="1"/>
                      <a:pt x="1" y="84"/>
                      <a:pt x="1" y="168"/>
                    </a:cubicBezTo>
                    <a:cubicBezTo>
                      <a:pt x="1" y="263"/>
                      <a:pt x="72" y="334"/>
                      <a:pt x="155" y="334"/>
                    </a:cubicBezTo>
                    <a:lnTo>
                      <a:pt x="3596" y="334"/>
                    </a:lnTo>
                    <a:cubicBezTo>
                      <a:pt x="3691" y="334"/>
                      <a:pt x="3763" y="263"/>
                      <a:pt x="3763" y="168"/>
                    </a:cubicBezTo>
                    <a:cubicBezTo>
                      <a:pt x="3763" y="84"/>
                      <a:pt x="3691" y="1"/>
                      <a:pt x="359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128;p60">
                <a:extLst>
                  <a:ext uri="{FF2B5EF4-FFF2-40B4-BE49-F238E27FC236}">
                    <a16:creationId xmlns:a16="http://schemas.microsoft.com/office/drawing/2014/main" id="{943113B6-E271-FE4D-EC98-A960DF0AD624}"/>
                  </a:ext>
                </a:extLst>
              </p:cNvPr>
              <p:cNvSpPr/>
              <p:nvPr/>
            </p:nvSpPr>
            <p:spPr>
              <a:xfrm>
                <a:off x="3187822" y="2064143"/>
                <a:ext cx="81510" cy="10248"/>
              </a:xfrm>
              <a:custGeom>
                <a:avLst/>
                <a:gdLst/>
                <a:ahLst/>
                <a:cxnLst/>
                <a:rect l="l" t="t" r="r" b="b"/>
                <a:pathLst>
                  <a:path w="2561" h="322" extrusionOk="0">
                    <a:moveTo>
                      <a:pt x="155" y="0"/>
                    </a:moveTo>
                    <a:cubicBezTo>
                      <a:pt x="72" y="0"/>
                      <a:pt x="1" y="72"/>
                      <a:pt x="1" y="167"/>
                    </a:cubicBezTo>
                    <a:cubicBezTo>
                      <a:pt x="1" y="250"/>
                      <a:pt x="72" y="322"/>
                      <a:pt x="155" y="322"/>
                    </a:cubicBezTo>
                    <a:lnTo>
                      <a:pt x="2394" y="322"/>
                    </a:lnTo>
                    <a:cubicBezTo>
                      <a:pt x="2477" y="322"/>
                      <a:pt x="2560" y="250"/>
                      <a:pt x="2560" y="167"/>
                    </a:cubicBezTo>
                    <a:cubicBezTo>
                      <a:pt x="2560" y="72"/>
                      <a:pt x="2477" y="0"/>
                      <a:pt x="23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129;p60">
                <a:extLst>
                  <a:ext uri="{FF2B5EF4-FFF2-40B4-BE49-F238E27FC236}">
                    <a16:creationId xmlns:a16="http://schemas.microsoft.com/office/drawing/2014/main" id="{752751EA-C700-9A13-75C9-59C0037C1839}"/>
                  </a:ext>
                </a:extLst>
              </p:cNvPr>
              <p:cNvSpPr/>
              <p:nvPr/>
            </p:nvSpPr>
            <p:spPr>
              <a:xfrm>
                <a:off x="3280663" y="2064143"/>
                <a:ext cx="26926" cy="10248"/>
              </a:xfrm>
              <a:custGeom>
                <a:avLst/>
                <a:gdLst/>
                <a:ahLst/>
                <a:cxnLst/>
                <a:rect l="l" t="t" r="r" b="b"/>
                <a:pathLst>
                  <a:path w="846" h="322" extrusionOk="0">
                    <a:moveTo>
                      <a:pt x="155" y="0"/>
                    </a:moveTo>
                    <a:cubicBezTo>
                      <a:pt x="72" y="0"/>
                      <a:pt x="1" y="72"/>
                      <a:pt x="1" y="167"/>
                    </a:cubicBezTo>
                    <a:cubicBezTo>
                      <a:pt x="1" y="250"/>
                      <a:pt x="72" y="322"/>
                      <a:pt x="155" y="322"/>
                    </a:cubicBezTo>
                    <a:lnTo>
                      <a:pt x="679" y="322"/>
                    </a:lnTo>
                    <a:cubicBezTo>
                      <a:pt x="774" y="322"/>
                      <a:pt x="846" y="250"/>
                      <a:pt x="846" y="167"/>
                    </a:cubicBezTo>
                    <a:cubicBezTo>
                      <a:pt x="846" y="72"/>
                      <a:pt x="774" y="0"/>
                      <a:pt x="6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28685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DE" dirty="0"/>
              <a:t>Der Kauf </a:t>
            </a:r>
            <a:endParaRPr dirty="0"/>
          </a:p>
        </p:txBody>
      </p:sp>
      <p:cxnSp>
        <p:nvCxnSpPr>
          <p:cNvPr id="389" name="Google Shape;389;p40"/>
          <p:cNvCxnSpPr/>
          <p:nvPr/>
        </p:nvCxnSpPr>
        <p:spPr>
          <a:xfrm>
            <a:off x="929975" y="0"/>
            <a:ext cx="0" cy="534600"/>
          </a:xfrm>
          <a:prstGeom prst="straightConnector1">
            <a:avLst/>
          </a:prstGeom>
          <a:noFill/>
          <a:ln w="28575" cap="flat" cmpd="sng">
            <a:solidFill>
              <a:schemeClr val="dk1"/>
            </a:solidFill>
            <a:prstDash val="solid"/>
            <a:round/>
            <a:headEnd type="none" w="med" len="med"/>
            <a:tailEnd type="none" w="med" len="med"/>
          </a:ln>
        </p:spPr>
      </p:cxnSp>
      <p:pic>
        <p:nvPicPr>
          <p:cNvPr id="3" name="Grafik 2">
            <a:extLst>
              <a:ext uri="{FF2B5EF4-FFF2-40B4-BE49-F238E27FC236}">
                <a16:creationId xmlns:a16="http://schemas.microsoft.com/office/drawing/2014/main" id="{DC9392BF-DA29-F059-9C6F-4B64099AF549}"/>
              </a:ext>
            </a:extLst>
          </p:cNvPr>
          <p:cNvPicPr>
            <a:picLocks noChangeAspect="1"/>
          </p:cNvPicPr>
          <p:nvPr/>
        </p:nvPicPr>
        <p:blipFill rotWithShape="1">
          <a:blip r:embed="rId3"/>
          <a:srcRect l="1154"/>
          <a:stretch/>
        </p:blipFill>
        <p:spPr>
          <a:xfrm>
            <a:off x="0" y="1253744"/>
            <a:ext cx="9144000" cy="2967531"/>
          </a:xfrm>
          <a:prstGeom prst="rect">
            <a:avLst/>
          </a:prstGeom>
        </p:spPr>
      </p:pic>
    </p:spTree>
    <p:extLst>
      <p:ext uri="{BB962C8B-B14F-4D97-AF65-F5344CB8AC3E}">
        <p14:creationId xmlns:p14="http://schemas.microsoft.com/office/powerpoint/2010/main" val="1030950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26"/>
          <p:cNvSpPr txBox="1">
            <a:spLocks noGrp="1"/>
          </p:cNvSpPr>
          <p:nvPr>
            <p:ph type="ctrTitle"/>
          </p:nvPr>
        </p:nvSpPr>
        <p:spPr>
          <a:xfrm>
            <a:off x="1179876" y="1696877"/>
            <a:ext cx="6784200" cy="1749746"/>
          </a:xfrm>
          <a:prstGeom prst="rect">
            <a:avLst/>
          </a:prstGeom>
          <a:noFill/>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solidFill>
                  <a:schemeClr val="tx1"/>
                </a:solidFill>
              </a:rPr>
              <a:t>Vielen Dank für Ihre Aufmerksamkeit</a:t>
            </a:r>
            <a:endParaRPr lang="en-US" sz="5400" dirty="0">
              <a:solidFill>
                <a:schemeClr val="tx1"/>
              </a:solidFill>
            </a:endParaRPr>
          </a:p>
        </p:txBody>
      </p:sp>
      <p:cxnSp>
        <p:nvCxnSpPr>
          <p:cNvPr id="132" name="Google Shape;132;p26"/>
          <p:cNvCxnSpPr>
            <a:cxnSpLocks/>
          </p:cNvCxnSpPr>
          <p:nvPr/>
        </p:nvCxnSpPr>
        <p:spPr>
          <a:xfrm>
            <a:off x="4571975" y="0"/>
            <a:ext cx="0" cy="1171200"/>
          </a:xfrm>
          <a:prstGeom prst="straightConnector1">
            <a:avLst/>
          </a:prstGeom>
          <a:noFill/>
          <a:ln w="28575" cap="flat" cmpd="sng">
            <a:solidFill>
              <a:schemeClr val="tx1"/>
            </a:solidFill>
            <a:prstDash val="solid"/>
            <a:round/>
            <a:headEnd type="none" w="med" len="med"/>
            <a:tailEnd type="none" w="med" len="med"/>
          </a:ln>
        </p:spPr>
      </p:cxnSp>
    </p:spTree>
    <p:extLst>
      <p:ext uri="{BB962C8B-B14F-4D97-AF65-F5344CB8AC3E}">
        <p14:creationId xmlns:p14="http://schemas.microsoft.com/office/powerpoint/2010/main" val="2506699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6"/>
          <p:cNvSpPr txBox="1">
            <a:spLocks noGrp="1"/>
          </p:cNvSpPr>
          <p:nvPr>
            <p:ph type="ctrTitle"/>
          </p:nvPr>
        </p:nvSpPr>
        <p:spPr>
          <a:xfrm>
            <a:off x="1179875" y="1660263"/>
            <a:ext cx="6784200" cy="2088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TechAccessories</a:t>
            </a:r>
            <a:br>
              <a:rPr lang="en" dirty="0">
                <a:solidFill>
                  <a:srgbClr val="0070C0"/>
                </a:solidFill>
              </a:rPr>
            </a:br>
            <a:r>
              <a:rPr lang="en" sz="4000" dirty="0">
                <a:solidFill>
                  <a:srgbClr val="0070C0"/>
                </a:solidFill>
              </a:rPr>
              <a:t>Online-Handel</a:t>
            </a:r>
            <a:endParaRPr dirty="0">
              <a:solidFill>
                <a:srgbClr val="0070C0"/>
              </a:solidFill>
            </a:endParaRPr>
          </a:p>
        </p:txBody>
      </p:sp>
      <p:sp>
        <p:nvSpPr>
          <p:cNvPr id="131" name="Google Shape;131;p26"/>
          <p:cNvSpPr txBox="1">
            <a:spLocks noGrp="1"/>
          </p:cNvSpPr>
          <p:nvPr>
            <p:ph type="subTitle" idx="1"/>
          </p:nvPr>
        </p:nvSpPr>
        <p:spPr>
          <a:xfrm>
            <a:off x="1179875" y="3918688"/>
            <a:ext cx="67842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Diplomarbeitspräsentation von Jonas Kirchmair</a:t>
            </a:r>
            <a:endParaRPr dirty="0">
              <a:solidFill>
                <a:srgbClr val="0070C0"/>
              </a:solidFill>
            </a:endParaRPr>
          </a:p>
        </p:txBody>
      </p:sp>
      <p:cxnSp>
        <p:nvCxnSpPr>
          <p:cNvPr id="132" name="Google Shape;132;p26"/>
          <p:cNvCxnSpPr>
            <a:endCxn id="130" idx="0"/>
          </p:cNvCxnSpPr>
          <p:nvPr/>
        </p:nvCxnSpPr>
        <p:spPr>
          <a:xfrm>
            <a:off x="4571975" y="489063"/>
            <a:ext cx="0" cy="1171200"/>
          </a:xfrm>
          <a:prstGeom prst="straightConnector1">
            <a:avLst/>
          </a:prstGeom>
          <a:noFill/>
          <a:ln w="28575" cap="flat" cmpd="sng">
            <a:solidFill>
              <a:schemeClr val="accent1"/>
            </a:solidFill>
            <a:prstDash val="solid"/>
            <a:round/>
            <a:headEnd type="none" w="med" len="med"/>
            <a:tailEnd type="none" w="med" len="med"/>
          </a:ln>
        </p:spPr>
      </p:cxnSp>
      <p:sp>
        <p:nvSpPr>
          <p:cNvPr id="133" name="Google Shape;133;p26"/>
          <p:cNvSpPr/>
          <p:nvPr/>
        </p:nvSpPr>
        <p:spPr>
          <a:xfrm>
            <a:off x="6171050" y="1016363"/>
            <a:ext cx="574800" cy="574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4" name="Google Shape;134;p26"/>
          <p:cNvSpPr/>
          <p:nvPr/>
        </p:nvSpPr>
        <p:spPr>
          <a:xfrm>
            <a:off x="4175975" y="72275"/>
            <a:ext cx="792000" cy="792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26"/>
          <p:cNvSpPr/>
          <p:nvPr/>
        </p:nvSpPr>
        <p:spPr>
          <a:xfrm>
            <a:off x="5417701" y="295950"/>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6" name="Google Shape;136;p26"/>
          <p:cNvSpPr/>
          <p:nvPr/>
        </p:nvSpPr>
        <p:spPr>
          <a:xfrm>
            <a:off x="3072445" y="280089"/>
            <a:ext cx="651300" cy="6513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7" name="Google Shape;137;p26"/>
          <p:cNvSpPr/>
          <p:nvPr/>
        </p:nvSpPr>
        <p:spPr>
          <a:xfrm>
            <a:off x="2398100" y="1016363"/>
            <a:ext cx="574800" cy="574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38" name="Google Shape;138;p26"/>
          <p:cNvGrpSpPr/>
          <p:nvPr/>
        </p:nvGrpSpPr>
        <p:grpSpPr>
          <a:xfrm>
            <a:off x="4315262" y="207323"/>
            <a:ext cx="513333" cy="521904"/>
            <a:chOff x="850092" y="3352934"/>
            <a:chExt cx="369517" cy="375660"/>
          </a:xfrm>
        </p:grpSpPr>
        <p:sp>
          <p:nvSpPr>
            <p:cNvPr id="139" name="Google Shape;139;p26"/>
            <p:cNvSpPr/>
            <p:nvPr/>
          </p:nvSpPr>
          <p:spPr>
            <a:xfrm>
              <a:off x="969859" y="3475692"/>
              <a:ext cx="53088" cy="53088"/>
            </a:xfrm>
            <a:custGeom>
              <a:avLst/>
              <a:gdLst/>
              <a:ahLst/>
              <a:cxnLst/>
              <a:rect l="l" t="t" r="r" b="b"/>
              <a:pathLst>
                <a:path w="1668" h="1668" extrusionOk="0">
                  <a:moveTo>
                    <a:pt x="834" y="346"/>
                  </a:moveTo>
                  <a:cubicBezTo>
                    <a:pt x="1108" y="346"/>
                    <a:pt x="1322" y="560"/>
                    <a:pt x="1322" y="834"/>
                  </a:cubicBezTo>
                  <a:cubicBezTo>
                    <a:pt x="1322" y="1096"/>
                    <a:pt x="1108" y="1322"/>
                    <a:pt x="834" y="1322"/>
                  </a:cubicBezTo>
                  <a:cubicBezTo>
                    <a:pt x="548" y="1322"/>
                    <a:pt x="346" y="1096"/>
                    <a:pt x="346" y="834"/>
                  </a:cubicBezTo>
                  <a:cubicBezTo>
                    <a:pt x="346" y="560"/>
                    <a:pt x="572" y="346"/>
                    <a:pt x="834" y="346"/>
                  </a:cubicBezTo>
                  <a:close/>
                  <a:moveTo>
                    <a:pt x="834" y="1"/>
                  </a:moveTo>
                  <a:cubicBezTo>
                    <a:pt x="369" y="1"/>
                    <a:pt x="0" y="370"/>
                    <a:pt x="0" y="834"/>
                  </a:cubicBezTo>
                  <a:cubicBezTo>
                    <a:pt x="0" y="1299"/>
                    <a:pt x="369" y="1668"/>
                    <a:pt x="834" y="1668"/>
                  </a:cubicBezTo>
                  <a:cubicBezTo>
                    <a:pt x="1298" y="1668"/>
                    <a:pt x="1667" y="1299"/>
                    <a:pt x="1667" y="834"/>
                  </a:cubicBezTo>
                  <a:cubicBezTo>
                    <a:pt x="1667" y="370"/>
                    <a:pt x="1298" y="1"/>
                    <a:pt x="8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1046786" y="3552237"/>
              <a:ext cx="53088" cy="53088"/>
            </a:xfrm>
            <a:custGeom>
              <a:avLst/>
              <a:gdLst/>
              <a:ahLst/>
              <a:cxnLst/>
              <a:rect l="l" t="t" r="r" b="b"/>
              <a:pathLst>
                <a:path w="1668" h="1668" extrusionOk="0">
                  <a:moveTo>
                    <a:pt x="834" y="346"/>
                  </a:moveTo>
                  <a:cubicBezTo>
                    <a:pt x="1096" y="346"/>
                    <a:pt x="1322" y="572"/>
                    <a:pt x="1322" y="834"/>
                  </a:cubicBezTo>
                  <a:cubicBezTo>
                    <a:pt x="1322" y="1108"/>
                    <a:pt x="1096" y="1334"/>
                    <a:pt x="834" y="1334"/>
                  </a:cubicBezTo>
                  <a:cubicBezTo>
                    <a:pt x="560" y="1334"/>
                    <a:pt x="334" y="1108"/>
                    <a:pt x="334" y="834"/>
                  </a:cubicBezTo>
                  <a:cubicBezTo>
                    <a:pt x="334" y="572"/>
                    <a:pt x="560" y="346"/>
                    <a:pt x="834" y="346"/>
                  </a:cubicBezTo>
                  <a:close/>
                  <a:moveTo>
                    <a:pt x="834" y="1"/>
                  </a:moveTo>
                  <a:cubicBezTo>
                    <a:pt x="369" y="1"/>
                    <a:pt x="0" y="382"/>
                    <a:pt x="0" y="834"/>
                  </a:cubicBezTo>
                  <a:cubicBezTo>
                    <a:pt x="0" y="1299"/>
                    <a:pt x="369" y="1668"/>
                    <a:pt x="834" y="1668"/>
                  </a:cubicBezTo>
                  <a:cubicBezTo>
                    <a:pt x="1286" y="1668"/>
                    <a:pt x="1667" y="1299"/>
                    <a:pt x="1667" y="834"/>
                  </a:cubicBezTo>
                  <a:cubicBezTo>
                    <a:pt x="1667" y="382"/>
                    <a:pt x="1286" y="1"/>
                    <a:pt x="8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984245" y="3485272"/>
              <a:ext cx="106527" cy="104999"/>
            </a:xfrm>
            <a:custGeom>
              <a:avLst/>
              <a:gdLst/>
              <a:ahLst/>
              <a:cxnLst/>
              <a:rect l="l" t="t" r="r" b="b"/>
              <a:pathLst>
                <a:path w="3347" h="3299" extrusionOk="0">
                  <a:moveTo>
                    <a:pt x="3160" y="0"/>
                  </a:moveTo>
                  <a:cubicBezTo>
                    <a:pt x="3117" y="0"/>
                    <a:pt x="3073" y="15"/>
                    <a:pt x="3037" y="45"/>
                  </a:cubicBezTo>
                  <a:lnTo>
                    <a:pt x="72" y="2998"/>
                  </a:lnTo>
                  <a:cubicBezTo>
                    <a:pt x="1" y="3081"/>
                    <a:pt x="1" y="3176"/>
                    <a:pt x="72" y="3236"/>
                  </a:cubicBezTo>
                  <a:cubicBezTo>
                    <a:pt x="108" y="3278"/>
                    <a:pt x="152" y="3298"/>
                    <a:pt x="196" y="3298"/>
                  </a:cubicBezTo>
                  <a:cubicBezTo>
                    <a:pt x="239" y="3298"/>
                    <a:pt x="280" y="3278"/>
                    <a:pt x="310" y="3236"/>
                  </a:cubicBezTo>
                  <a:lnTo>
                    <a:pt x="3275" y="283"/>
                  </a:lnTo>
                  <a:cubicBezTo>
                    <a:pt x="3346" y="200"/>
                    <a:pt x="3346" y="105"/>
                    <a:pt x="3275" y="45"/>
                  </a:cubicBezTo>
                  <a:cubicBezTo>
                    <a:pt x="3245" y="15"/>
                    <a:pt x="3203" y="0"/>
                    <a:pt x="31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922850" y="3428715"/>
              <a:ext cx="223620" cy="223620"/>
            </a:xfrm>
            <a:custGeom>
              <a:avLst/>
              <a:gdLst/>
              <a:ahLst/>
              <a:cxnLst/>
              <a:rect l="l" t="t" r="r" b="b"/>
              <a:pathLst>
                <a:path w="7026" h="7026" extrusionOk="0">
                  <a:moveTo>
                    <a:pt x="3513" y="0"/>
                  </a:moveTo>
                  <a:cubicBezTo>
                    <a:pt x="1584" y="0"/>
                    <a:pt x="1" y="1584"/>
                    <a:pt x="1" y="3513"/>
                  </a:cubicBezTo>
                  <a:cubicBezTo>
                    <a:pt x="1" y="5453"/>
                    <a:pt x="1584" y="7025"/>
                    <a:pt x="3513" y="7025"/>
                  </a:cubicBezTo>
                  <a:cubicBezTo>
                    <a:pt x="5454" y="7025"/>
                    <a:pt x="7026" y="5453"/>
                    <a:pt x="7026" y="3513"/>
                  </a:cubicBezTo>
                  <a:cubicBezTo>
                    <a:pt x="7026" y="1834"/>
                    <a:pt x="5835" y="393"/>
                    <a:pt x="4204" y="60"/>
                  </a:cubicBezTo>
                  <a:cubicBezTo>
                    <a:pt x="4196" y="59"/>
                    <a:pt x="4188" y="58"/>
                    <a:pt x="4180" y="58"/>
                  </a:cubicBezTo>
                  <a:cubicBezTo>
                    <a:pt x="4095" y="58"/>
                    <a:pt x="4022" y="115"/>
                    <a:pt x="3989" y="191"/>
                  </a:cubicBezTo>
                  <a:cubicBezTo>
                    <a:pt x="3978" y="286"/>
                    <a:pt x="4037" y="369"/>
                    <a:pt x="4132" y="405"/>
                  </a:cubicBezTo>
                  <a:cubicBezTo>
                    <a:pt x="5597" y="703"/>
                    <a:pt x="6692" y="2001"/>
                    <a:pt x="6692" y="3513"/>
                  </a:cubicBezTo>
                  <a:cubicBezTo>
                    <a:pt x="6692" y="5251"/>
                    <a:pt x="5263" y="6680"/>
                    <a:pt x="3513" y="6680"/>
                  </a:cubicBezTo>
                  <a:cubicBezTo>
                    <a:pt x="1775" y="6680"/>
                    <a:pt x="346" y="5251"/>
                    <a:pt x="346" y="3513"/>
                  </a:cubicBezTo>
                  <a:cubicBezTo>
                    <a:pt x="346" y="1774"/>
                    <a:pt x="1775" y="346"/>
                    <a:pt x="3513" y="346"/>
                  </a:cubicBezTo>
                  <a:cubicBezTo>
                    <a:pt x="3608" y="346"/>
                    <a:pt x="3692" y="274"/>
                    <a:pt x="3692" y="167"/>
                  </a:cubicBezTo>
                  <a:cubicBezTo>
                    <a:pt x="3680" y="72"/>
                    <a:pt x="3608" y="0"/>
                    <a:pt x="3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850092" y="3352934"/>
              <a:ext cx="369517" cy="375660"/>
            </a:xfrm>
            <a:custGeom>
              <a:avLst/>
              <a:gdLst/>
              <a:ahLst/>
              <a:cxnLst/>
              <a:rect l="l" t="t" r="r" b="b"/>
              <a:pathLst>
                <a:path w="11610" h="11803" extrusionOk="0">
                  <a:moveTo>
                    <a:pt x="5804" y="0"/>
                  </a:moveTo>
                  <a:cubicBezTo>
                    <a:pt x="5801" y="0"/>
                    <a:pt x="5799" y="0"/>
                    <a:pt x="5799" y="0"/>
                  </a:cubicBezTo>
                  <a:cubicBezTo>
                    <a:pt x="5585" y="0"/>
                    <a:pt x="5371" y="119"/>
                    <a:pt x="5252" y="310"/>
                  </a:cubicBezTo>
                  <a:lnTo>
                    <a:pt x="4573" y="1453"/>
                  </a:lnTo>
                  <a:cubicBezTo>
                    <a:pt x="4515" y="1551"/>
                    <a:pt x="4424" y="1605"/>
                    <a:pt x="4326" y="1605"/>
                  </a:cubicBezTo>
                  <a:cubicBezTo>
                    <a:pt x="4281" y="1605"/>
                    <a:pt x="4236" y="1594"/>
                    <a:pt x="4192" y="1572"/>
                  </a:cubicBezTo>
                  <a:lnTo>
                    <a:pt x="2977" y="1060"/>
                  </a:lnTo>
                  <a:cubicBezTo>
                    <a:pt x="2889" y="1020"/>
                    <a:pt x="2800" y="1002"/>
                    <a:pt x="2713" y="1002"/>
                  </a:cubicBezTo>
                  <a:cubicBezTo>
                    <a:pt x="2355" y="1002"/>
                    <a:pt x="2046" y="1312"/>
                    <a:pt x="2084" y="1715"/>
                  </a:cubicBezTo>
                  <a:lnTo>
                    <a:pt x="2204" y="3036"/>
                  </a:lnTo>
                  <a:cubicBezTo>
                    <a:pt x="2215" y="3179"/>
                    <a:pt x="2108" y="3322"/>
                    <a:pt x="1965" y="3346"/>
                  </a:cubicBezTo>
                  <a:lnTo>
                    <a:pt x="668" y="3643"/>
                  </a:lnTo>
                  <a:cubicBezTo>
                    <a:pt x="191" y="3751"/>
                    <a:pt x="1" y="4334"/>
                    <a:pt x="322" y="4703"/>
                  </a:cubicBezTo>
                  <a:lnTo>
                    <a:pt x="1203" y="5703"/>
                  </a:lnTo>
                  <a:cubicBezTo>
                    <a:pt x="1311" y="5822"/>
                    <a:pt x="1311" y="5989"/>
                    <a:pt x="1203" y="6084"/>
                  </a:cubicBezTo>
                  <a:lnTo>
                    <a:pt x="322" y="7084"/>
                  </a:lnTo>
                  <a:cubicBezTo>
                    <a:pt x="179" y="7263"/>
                    <a:pt x="132" y="7489"/>
                    <a:pt x="191" y="7715"/>
                  </a:cubicBezTo>
                  <a:cubicBezTo>
                    <a:pt x="263" y="7930"/>
                    <a:pt x="441" y="8084"/>
                    <a:pt x="668" y="8144"/>
                  </a:cubicBezTo>
                  <a:lnTo>
                    <a:pt x="1025" y="8215"/>
                  </a:lnTo>
                  <a:cubicBezTo>
                    <a:pt x="1033" y="8216"/>
                    <a:pt x="1041" y="8217"/>
                    <a:pt x="1049" y="8217"/>
                  </a:cubicBezTo>
                  <a:cubicBezTo>
                    <a:pt x="1136" y="8217"/>
                    <a:pt x="1217" y="8161"/>
                    <a:pt x="1239" y="8084"/>
                  </a:cubicBezTo>
                  <a:cubicBezTo>
                    <a:pt x="1251" y="7989"/>
                    <a:pt x="1192" y="7894"/>
                    <a:pt x="1096" y="7870"/>
                  </a:cubicBezTo>
                  <a:lnTo>
                    <a:pt x="739" y="7799"/>
                  </a:lnTo>
                  <a:cubicBezTo>
                    <a:pt x="644" y="7775"/>
                    <a:pt x="560" y="7692"/>
                    <a:pt x="525" y="7608"/>
                  </a:cubicBezTo>
                  <a:cubicBezTo>
                    <a:pt x="489" y="7501"/>
                    <a:pt x="501" y="7394"/>
                    <a:pt x="584" y="7322"/>
                  </a:cubicBezTo>
                  <a:lnTo>
                    <a:pt x="1453" y="6322"/>
                  </a:lnTo>
                  <a:cubicBezTo>
                    <a:pt x="1668" y="6084"/>
                    <a:pt x="1668" y="5715"/>
                    <a:pt x="1453" y="5477"/>
                  </a:cubicBezTo>
                  <a:lnTo>
                    <a:pt x="584" y="4477"/>
                  </a:lnTo>
                  <a:cubicBezTo>
                    <a:pt x="430" y="4322"/>
                    <a:pt x="525" y="4048"/>
                    <a:pt x="739" y="3989"/>
                  </a:cubicBezTo>
                  <a:lnTo>
                    <a:pt x="2037" y="3691"/>
                  </a:lnTo>
                  <a:cubicBezTo>
                    <a:pt x="2346" y="3620"/>
                    <a:pt x="2573" y="3322"/>
                    <a:pt x="2549" y="3012"/>
                  </a:cubicBezTo>
                  <a:lnTo>
                    <a:pt x="2430" y="1679"/>
                  </a:lnTo>
                  <a:cubicBezTo>
                    <a:pt x="2410" y="1503"/>
                    <a:pt x="2559" y="1359"/>
                    <a:pt x="2731" y="1359"/>
                  </a:cubicBezTo>
                  <a:cubicBezTo>
                    <a:pt x="2769" y="1359"/>
                    <a:pt x="2808" y="1366"/>
                    <a:pt x="2846" y="1381"/>
                  </a:cubicBezTo>
                  <a:lnTo>
                    <a:pt x="4061" y="1905"/>
                  </a:lnTo>
                  <a:cubicBezTo>
                    <a:pt x="4143" y="1941"/>
                    <a:pt x="4229" y="1958"/>
                    <a:pt x="4314" y="1958"/>
                  </a:cubicBezTo>
                  <a:cubicBezTo>
                    <a:pt x="4536" y="1958"/>
                    <a:pt x="4750" y="1841"/>
                    <a:pt x="4871" y="1643"/>
                  </a:cubicBezTo>
                  <a:lnTo>
                    <a:pt x="5549" y="488"/>
                  </a:lnTo>
                  <a:cubicBezTo>
                    <a:pt x="5609" y="393"/>
                    <a:pt x="5710" y="345"/>
                    <a:pt x="5810" y="345"/>
                  </a:cubicBezTo>
                  <a:cubicBezTo>
                    <a:pt x="5909" y="345"/>
                    <a:pt x="6008" y="393"/>
                    <a:pt x="6061" y="488"/>
                  </a:cubicBezTo>
                  <a:lnTo>
                    <a:pt x="6740" y="1643"/>
                  </a:lnTo>
                  <a:cubicBezTo>
                    <a:pt x="6861" y="1842"/>
                    <a:pt x="7077" y="1953"/>
                    <a:pt x="7300" y="1953"/>
                  </a:cubicBezTo>
                  <a:cubicBezTo>
                    <a:pt x="7383" y="1953"/>
                    <a:pt x="7468" y="1938"/>
                    <a:pt x="7549" y="1905"/>
                  </a:cubicBezTo>
                  <a:lnTo>
                    <a:pt x="8764" y="1381"/>
                  </a:lnTo>
                  <a:cubicBezTo>
                    <a:pt x="8802" y="1366"/>
                    <a:pt x="8841" y="1359"/>
                    <a:pt x="8878" y="1359"/>
                  </a:cubicBezTo>
                  <a:cubicBezTo>
                    <a:pt x="9048" y="1359"/>
                    <a:pt x="9190" y="1503"/>
                    <a:pt x="9181" y="1679"/>
                  </a:cubicBezTo>
                  <a:lnTo>
                    <a:pt x="9062" y="3012"/>
                  </a:lnTo>
                  <a:cubicBezTo>
                    <a:pt x="9038" y="3334"/>
                    <a:pt x="9240" y="3620"/>
                    <a:pt x="9574" y="3691"/>
                  </a:cubicBezTo>
                  <a:lnTo>
                    <a:pt x="10859" y="3989"/>
                  </a:lnTo>
                  <a:cubicBezTo>
                    <a:pt x="11086" y="4036"/>
                    <a:pt x="11181" y="4298"/>
                    <a:pt x="11026" y="4477"/>
                  </a:cubicBezTo>
                  <a:lnTo>
                    <a:pt x="10145" y="5477"/>
                  </a:lnTo>
                  <a:cubicBezTo>
                    <a:pt x="9943" y="5715"/>
                    <a:pt x="9943" y="6084"/>
                    <a:pt x="10145" y="6322"/>
                  </a:cubicBezTo>
                  <a:lnTo>
                    <a:pt x="11026" y="7322"/>
                  </a:lnTo>
                  <a:cubicBezTo>
                    <a:pt x="11181" y="7489"/>
                    <a:pt x="11086" y="7751"/>
                    <a:pt x="10859" y="7811"/>
                  </a:cubicBezTo>
                  <a:lnTo>
                    <a:pt x="9574" y="8108"/>
                  </a:lnTo>
                  <a:cubicBezTo>
                    <a:pt x="9252" y="8192"/>
                    <a:pt x="9038" y="8489"/>
                    <a:pt x="9062" y="8799"/>
                  </a:cubicBezTo>
                  <a:lnTo>
                    <a:pt x="9181" y="10120"/>
                  </a:lnTo>
                  <a:cubicBezTo>
                    <a:pt x="9190" y="10302"/>
                    <a:pt x="9054" y="10445"/>
                    <a:pt x="8889" y="10445"/>
                  </a:cubicBezTo>
                  <a:cubicBezTo>
                    <a:pt x="8848" y="10445"/>
                    <a:pt x="8806" y="10437"/>
                    <a:pt x="8764" y="10418"/>
                  </a:cubicBezTo>
                  <a:lnTo>
                    <a:pt x="7549" y="9894"/>
                  </a:lnTo>
                  <a:cubicBezTo>
                    <a:pt x="7468" y="9858"/>
                    <a:pt x="7382" y="9841"/>
                    <a:pt x="7298" y="9841"/>
                  </a:cubicBezTo>
                  <a:cubicBezTo>
                    <a:pt x="7076" y="9841"/>
                    <a:pt x="6861" y="9961"/>
                    <a:pt x="6740" y="10168"/>
                  </a:cubicBezTo>
                  <a:lnTo>
                    <a:pt x="6061" y="11311"/>
                  </a:lnTo>
                  <a:cubicBezTo>
                    <a:pt x="6002" y="11406"/>
                    <a:pt x="5900" y="11454"/>
                    <a:pt x="5801" y="11454"/>
                  </a:cubicBezTo>
                  <a:cubicBezTo>
                    <a:pt x="5701" y="11454"/>
                    <a:pt x="5603" y="11406"/>
                    <a:pt x="5549" y="11311"/>
                  </a:cubicBezTo>
                  <a:lnTo>
                    <a:pt x="4871" y="10168"/>
                  </a:lnTo>
                  <a:cubicBezTo>
                    <a:pt x="4749" y="9960"/>
                    <a:pt x="4533" y="9846"/>
                    <a:pt x="4309" y="9846"/>
                  </a:cubicBezTo>
                  <a:cubicBezTo>
                    <a:pt x="4226" y="9846"/>
                    <a:pt x="4142" y="9862"/>
                    <a:pt x="4061" y="9894"/>
                  </a:cubicBezTo>
                  <a:lnTo>
                    <a:pt x="2846" y="10418"/>
                  </a:lnTo>
                  <a:cubicBezTo>
                    <a:pt x="2804" y="10437"/>
                    <a:pt x="2762" y="10445"/>
                    <a:pt x="2721" y="10445"/>
                  </a:cubicBezTo>
                  <a:cubicBezTo>
                    <a:pt x="2553" y="10445"/>
                    <a:pt x="2411" y="10302"/>
                    <a:pt x="2430" y="10120"/>
                  </a:cubicBezTo>
                  <a:lnTo>
                    <a:pt x="2549" y="8799"/>
                  </a:lnTo>
                  <a:cubicBezTo>
                    <a:pt x="2573" y="8465"/>
                    <a:pt x="2370" y="8192"/>
                    <a:pt x="2037" y="8108"/>
                  </a:cubicBezTo>
                  <a:lnTo>
                    <a:pt x="1727" y="8037"/>
                  </a:lnTo>
                  <a:cubicBezTo>
                    <a:pt x="1719" y="8036"/>
                    <a:pt x="1711" y="8035"/>
                    <a:pt x="1703" y="8035"/>
                  </a:cubicBezTo>
                  <a:cubicBezTo>
                    <a:pt x="1616" y="8035"/>
                    <a:pt x="1535" y="8092"/>
                    <a:pt x="1513" y="8168"/>
                  </a:cubicBezTo>
                  <a:cubicBezTo>
                    <a:pt x="1501" y="8263"/>
                    <a:pt x="1561" y="8370"/>
                    <a:pt x="1656" y="8382"/>
                  </a:cubicBezTo>
                  <a:lnTo>
                    <a:pt x="1965" y="8454"/>
                  </a:lnTo>
                  <a:cubicBezTo>
                    <a:pt x="2108" y="8489"/>
                    <a:pt x="2204" y="8620"/>
                    <a:pt x="2204" y="8763"/>
                  </a:cubicBezTo>
                  <a:lnTo>
                    <a:pt x="2084" y="10097"/>
                  </a:lnTo>
                  <a:cubicBezTo>
                    <a:pt x="2046" y="10493"/>
                    <a:pt x="2361" y="10804"/>
                    <a:pt x="2723" y="10804"/>
                  </a:cubicBezTo>
                  <a:cubicBezTo>
                    <a:pt x="2807" y="10804"/>
                    <a:pt x="2893" y="10787"/>
                    <a:pt x="2977" y="10751"/>
                  </a:cubicBezTo>
                  <a:lnTo>
                    <a:pt x="4192" y="10228"/>
                  </a:lnTo>
                  <a:cubicBezTo>
                    <a:pt x="4230" y="10212"/>
                    <a:pt x="4269" y="10204"/>
                    <a:pt x="4308" y="10204"/>
                  </a:cubicBezTo>
                  <a:cubicBezTo>
                    <a:pt x="4413" y="10204"/>
                    <a:pt x="4512" y="10259"/>
                    <a:pt x="4573" y="10347"/>
                  </a:cubicBezTo>
                  <a:lnTo>
                    <a:pt x="5252" y="11490"/>
                  </a:lnTo>
                  <a:cubicBezTo>
                    <a:pt x="5377" y="11698"/>
                    <a:pt x="5594" y="11802"/>
                    <a:pt x="5810" y="11802"/>
                  </a:cubicBezTo>
                  <a:cubicBezTo>
                    <a:pt x="6025" y="11802"/>
                    <a:pt x="6240" y="11698"/>
                    <a:pt x="6359" y="11490"/>
                  </a:cubicBezTo>
                  <a:lnTo>
                    <a:pt x="7037" y="10347"/>
                  </a:lnTo>
                  <a:cubicBezTo>
                    <a:pt x="7088" y="10253"/>
                    <a:pt x="7188" y="10202"/>
                    <a:pt x="7288" y="10202"/>
                  </a:cubicBezTo>
                  <a:cubicBezTo>
                    <a:pt x="7328" y="10202"/>
                    <a:pt x="7369" y="10211"/>
                    <a:pt x="7407" y="10228"/>
                  </a:cubicBezTo>
                  <a:lnTo>
                    <a:pt x="8633" y="10751"/>
                  </a:lnTo>
                  <a:cubicBezTo>
                    <a:pt x="8715" y="10787"/>
                    <a:pt x="8800" y="10804"/>
                    <a:pt x="8883" y="10804"/>
                  </a:cubicBezTo>
                  <a:cubicBezTo>
                    <a:pt x="9242" y="10804"/>
                    <a:pt x="9565" y="10493"/>
                    <a:pt x="9526" y="10097"/>
                  </a:cubicBezTo>
                  <a:lnTo>
                    <a:pt x="9407" y="8763"/>
                  </a:lnTo>
                  <a:cubicBezTo>
                    <a:pt x="9395" y="8620"/>
                    <a:pt x="9490" y="8489"/>
                    <a:pt x="9645" y="8454"/>
                  </a:cubicBezTo>
                  <a:lnTo>
                    <a:pt x="10943" y="8156"/>
                  </a:lnTo>
                  <a:cubicBezTo>
                    <a:pt x="11419" y="8049"/>
                    <a:pt x="11609" y="7477"/>
                    <a:pt x="11276" y="7096"/>
                  </a:cubicBezTo>
                  <a:lnTo>
                    <a:pt x="10407" y="6084"/>
                  </a:lnTo>
                  <a:cubicBezTo>
                    <a:pt x="10300" y="5965"/>
                    <a:pt x="10300" y="5810"/>
                    <a:pt x="10407" y="5703"/>
                  </a:cubicBezTo>
                  <a:lnTo>
                    <a:pt x="11276" y="4703"/>
                  </a:lnTo>
                  <a:cubicBezTo>
                    <a:pt x="11609" y="4334"/>
                    <a:pt x="11419" y="3751"/>
                    <a:pt x="10943" y="3643"/>
                  </a:cubicBezTo>
                  <a:lnTo>
                    <a:pt x="9645" y="3346"/>
                  </a:lnTo>
                  <a:cubicBezTo>
                    <a:pt x="9490" y="3322"/>
                    <a:pt x="9407" y="3179"/>
                    <a:pt x="9407" y="3036"/>
                  </a:cubicBezTo>
                  <a:lnTo>
                    <a:pt x="9526" y="1715"/>
                  </a:lnTo>
                  <a:cubicBezTo>
                    <a:pt x="9564" y="1312"/>
                    <a:pt x="9248" y="1002"/>
                    <a:pt x="8893" y="1002"/>
                  </a:cubicBezTo>
                  <a:cubicBezTo>
                    <a:pt x="8807" y="1002"/>
                    <a:pt x="8719" y="1020"/>
                    <a:pt x="8633" y="1060"/>
                  </a:cubicBezTo>
                  <a:lnTo>
                    <a:pt x="7407" y="1572"/>
                  </a:lnTo>
                  <a:cubicBezTo>
                    <a:pt x="7371" y="1588"/>
                    <a:pt x="7334" y="1595"/>
                    <a:pt x="7296" y="1595"/>
                  </a:cubicBezTo>
                  <a:cubicBezTo>
                    <a:pt x="7193" y="1595"/>
                    <a:pt x="7090" y="1540"/>
                    <a:pt x="7037" y="1453"/>
                  </a:cubicBezTo>
                  <a:lnTo>
                    <a:pt x="6359" y="310"/>
                  </a:lnTo>
                  <a:cubicBezTo>
                    <a:pt x="6170" y="10"/>
                    <a:pt x="5848" y="0"/>
                    <a:pt x="5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26"/>
          <p:cNvSpPr/>
          <p:nvPr/>
        </p:nvSpPr>
        <p:spPr>
          <a:xfrm>
            <a:off x="2499420" y="1117695"/>
            <a:ext cx="372159" cy="372159"/>
          </a:xfrm>
          <a:custGeom>
            <a:avLst/>
            <a:gdLst/>
            <a:ahLst/>
            <a:cxnLst/>
            <a:rect l="l" t="t" r="r" b="b"/>
            <a:pathLst>
              <a:path w="11693" h="11693" extrusionOk="0">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0070C0"/>
              </a:solidFill>
            </a:endParaRPr>
          </a:p>
        </p:txBody>
      </p:sp>
      <p:grpSp>
        <p:nvGrpSpPr>
          <p:cNvPr id="145" name="Google Shape;145;p26"/>
          <p:cNvGrpSpPr/>
          <p:nvPr/>
        </p:nvGrpSpPr>
        <p:grpSpPr>
          <a:xfrm>
            <a:off x="5575721" y="453189"/>
            <a:ext cx="336492" cy="336854"/>
            <a:chOff x="3539102" y="2427549"/>
            <a:chExt cx="355099" cy="355481"/>
          </a:xfrm>
        </p:grpSpPr>
        <p:sp>
          <p:nvSpPr>
            <p:cNvPr id="146" name="Google Shape;146;p26"/>
            <p:cNvSpPr/>
            <p:nvPr/>
          </p:nvSpPr>
          <p:spPr>
            <a:xfrm>
              <a:off x="3539102" y="2561320"/>
              <a:ext cx="355099" cy="221710"/>
            </a:xfrm>
            <a:custGeom>
              <a:avLst/>
              <a:gdLst/>
              <a:ahLst/>
              <a:cxnLst/>
              <a:rect l="l" t="t" r="r" b="b"/>
              <a:pathLst>
                <a:path w="11157" h="6966" extrusionOk="0">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3544417" y="2427549"/>
              <a:ext cx="339568" cy="205415"/>
            </a:xfrm>
            <a:custGeom>
              <a:avLst/>
              <a:gdLst/>
              <a:ahLst/>
              <a:cxnLst/>
              <a:rect l="l" t="t" r="r" b="b"/>
              <a:pathLst>
                <a:path w="10669" h="6454" extrusionOk="0">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26"/>
          <p:cNvGrpSpPr/>
          <p:nvPr/>
        </p:nvGrpSpPr>
        <p:grpSpPr>
          <a:xfrm>
            <a:off x="3199894" y="439413"/>
            <a:ext cx="402374" cy="362502"/>
            <a:chOff x="3988156" y="3380210"/>
            <a:chExt cx="353954" cy="318880"/>
          </a:xfrm>
        </p:grpSpPr>
        <p:sp>
          <p:nvSpPr>
            <p:cNvPr id="149" name="Google Shape;149;p26"/>
            <p:cNvSpPr/>
            <p:nvPr/>
          </p:nvSpPr>
          <p:spPr>
            <a:xfrm>
              <a:off x="4134053" y="3446156"/>
              <a:ext cx="28454" cy="49269"/>
            </a:xfrm>
            <a:custGeom>
              <a:avLst/>
              <a:gdLst/>
              <a:ahLst/>
              <a:cxnLst/>
              <a:rect l="l" t="t" r="r" b="b"/>
              <a:pathLst>
                <a:path w="894" h="1548" extrusionOk="0">
                  <a:moveTo>
                    <a:pt x="417" y="286"/>
                  </a:moveTo>
                  <a:lnTo>
                    <a:pt x="417" y="572"/>
                  </a:lnTo>
                  <a:cubicBezTo>
                    <a:pt x="298" y="524"/>
                    <a:pt x="274" y="500"/>
                    <a:pt x="274" y="417"/>
                  </a:cubicBezTo>
                  <a:cubicBezTo>
                    <a:pt x="274" y="345"/>
                    <a:pt x="346" y="298"/>
                    <a:pt x="417" y="286"/>
                  </a:cubicBezTo>
                  <a:close/>
                  <a:moveTo>
                    <a:pt x="524" y="869"/>
                  </a:moveTo>
                  <a:cubicBezTo>
                    <a:pt x="643" y="917"/>
                    <a:pt x="655" y="976"/>
                    <a:pt x="655" y="1048"/>
                  </a:cubicBezTo>
                  <a:cubicBezTo>
                    <a:pt x="655" y="1119"/>
                    <a:pt x="596" y="1179"/>
                    <a:pt x="524" y="1191"/>
                  </a:cubicBezTo>
                  <a:lnTo>
                    <a:pt x="524" y="869"/>
                  </a:lnTo>
                  <a:close/>
                  <a:moveTo>
                    <a:pt x="477" y="0"/>
                  </a:moveTo>
                  <a:cubicBezTo>
                    <a:pt x="453" y="0"/>
                    <a:pt x="417" y="24"/>
                    <a:pt x="417" y="48"/>
                  </a:cubicBezTo>
                  <a:lnTo>
                    <a:pt x="417" y="107"/>
                  </a:lnTo>
                  <a:cubicBezTo>
                    <a:pt x="191" y="131"/>
                    <a:pt x="60" y="250"/>
                    <a:pt x="60" y="476"/>
                  </a:cubicBezTo>
                  <a:cubicBezTo>
                    <a:pt x="60" y="703"/>
                    <a:pt x="227" y="774"/>
                    <a:pt x="417" y="845"/>
                  </a:cubicBezTo>
                  <a:lnTo>
                    <a:pt x="417" y="1226"/>
                  </a:lnTo>
                  <a:cubicBezTo>
                    <a:pt x="310" y="1203"/>
                    <a:pt x="274" y="1179"/>
                    <a:pt x="179" y="1107"/>
                  </a:cubicBezTo>
                  <a:cubicBezTo>
                    <a:pt x="160" y="1093"/>
                    <a:pt x="143" y="1087"/>
                    <a:pt x="127" y="1087"/>
                  </a:cubicBezTo>
                  <a:cubicBezTo>
                    <a:pt x="101" y="1087"/>
                    <a:pt x="77" y="1102"/>
                    <a:pt x="48" y="1131"/>
                  </a:cubicBezTo>
                  <a:cubicBezTo>
                    <a:pt x="0" y="1191"/>
                    <a:pt x="0" y="1250"/>
                    <a:pt x="48" y="1298"/>
                  </a:cubicBezTo>
                  <a:cubicBezTo>
                    <a:pt x="120" y="1405"/>
                    <a:pt x="274" y="1453"/>
                    <a:pt x="417" y="1453"/>
                  </a:cubicBezTo>
                  <a:lnTo>
                    <a:pt x="417" y="1512"/>
                  </a:lnTo>
                  <a:cubicBezTo>
                    <a:pt x="417" y="1536"/>
                    <a:pt x="453" y="1548"/>
                    <a:pt x="477" y="1548"/>
                  </a:cubicBezTo>
                  <a:cubicBezTo>
                    <a:pt x="512" y="1548"/>
                    <a:pt x="536" y="1536"/>
                    <a:pt x="536" y="1512"/>
                  </a:cubicBezTo>
                  <a:lnTo>
                    <a:pt x="536" y="1453"/>
                  </a:lnTo>
                  <a:cubicBezTo>
                    <a:pt x="727" y="1417"/>
                    <a:pt x="893" y="1298"/>
                    <a:pt x="893" y="1048"/>
                  </a:cubicBezTo>
                  <a:cubicBezTo>
                    <a:pt x="893" y="798"/>
                    <a:pt x="751" y="691"/>
                    <a:pt x="536" y="619"/>
                  </a:cubicBezTo>
                  <a:lnTo>
                    <a:pt x="536" y="286"/>
                  </a:lnTo>
                  <a:cubicBezTo>
                    <a:pt x="584" y="286"/>
                    <a:pt x="631" y="298"/>
                    <a:pt x="667" y="333"/>
                  </a:cubicBezTo>
                  <a:cubicBezTo>
                    <a:pt x="694" y="340"/>
                    <a:pt x="726" y="363"/>
                    <a:pt x="759" y="363"/>
                  </a:cubicBezTo>
                  <a:cubicBezTo>
                    <a:pt x="783" y="363"/>
                    <a:pt x="808" y="350"/>
                    <a:pt x="834" y="310"/>
                  </a:cubicBezTo>
                  <a:cubicBezTo>
                    <a:pt x="870" y="274"/>
                    <a:pt x="882" y="214"/>
                    <a:pt x="822" y="167"/>
                  </a:cubicBezTo>
                  <a:cubicBezTo>
                    <a:pt x="751" y="107"/>
                    <a:pt x="631" y="95"/>
                    <a:pt x="536" y="95"/>
                  </a:cubicBezTo>
                  <a:lnTo>
                    <a:pt x="536" y="48"/>
                  </a:lnTo>
                  <a:cubicBezTo>
                    <a:pt x="536" y="12"/>
                    <a:pt x="501" y="0"/>
                    <a:pt x="4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4188988" y="3398001"/>
              <a:ext cx="81510" cy="81510"/>
            </a:xfrm>
            <a:custGeom>
              <a:avLst/>
              <a:gdLst/>
              <a:ahLst/>
              <a:cxnLst/>
              <a:rect l="l" t="t" r="r" b="b"/>
              <a:pathLst>
                <a:path w="2561" h="2561" extrusionOk="0">
                  <a:moveTo>
                    <a:pt x="1287" y="311"/>
                  </a:moveTo>
                  <a:cubicBezTo>
                    <a:pt x="1823" y="311"/>
                    <a:pt x="2251" y="739"/>
                    <a:pt x="2251" y="1275"/>
                  </a:cubicBezTo>
                  <a:cubicBezTo>
                    <a:pt x="2251" y="1811"/>
                    <a:pt x="1823" y="2251"/>
                    <a:pt x="1287" y="2251"/>
                  </a:cubicBezTo>
                  <a:cubicBezTo>
                    <a:pt x="751" y="2251"/>
                    <a:pt x="310" y="1811"/>
                    <a:pt x="310" y="1275"/>
                  </a:cubicBezTo>
                  <a:cubicBezTo>
                    <a:pt x="310" y="739"/>
                    <a:pt x="751" y="311"/>
                    <a:pt x="1287" y="311"/>
                  </a:cubicBezTo>
                  <a:close/>
                  <a:moveTo>
                    <a:pt x="1287" y="1"/>
                  </a:moveTo>
                  <a:cubicBezTo>
                    <a:pt x="572" y="1"/>
                    <a:pt x="1" y="584"/>
                    <a:pt x="1" y="1275"/>
                  </a:cubicBezTo>
                  <a:cubicBezTo>
                    <a:pt x="1" y="1989"/>
                    <a:pt x="584" y="2561"/>
                    <a:pt x="1287" y="2561"/>
                  </a:cubicBezTo>
                  <a:cubicBezTo>
                    <a:pt x="2001" y="2561"/>
                    <a:pt x="2561" y="1977"/>
                    <a:pt x="2561" y="1275"/>
                  </a:cubicBezTo>
                  <a:cubicBezTo>
                    <a:pt x="2561" y="584"/>
                    <a:pt x="2001" y="1"/>
                    <a:pt x="1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4090863" y="3380210"/>
              <a:ext cx="195930" cy="146311"/>
            </a:xfrm>
            <a:custGeom>
              <a:avLst/>
              <a:gdLst/>
              <a:ahLst/>
              <a:cxnLst/>
              <a:rect l="l" t="t" r="r" b="b"/>
              <a:pathLst>
                <a:path w="6156" h="4597" extrusionOk="0">
                  <a:moveTo>
                    <a:pt x="1810" y="1834"/>
                  </a:moveTo>
                  <a:cubicBezTo>
                    <a:pt x="2131" y="1834"/>
                    <a:pt x="2429" y="2001"/>
                    <a:pt x="2608" y="2274"/>
                  </a:cubicBezTo>
                  <a:cubicBezTo>
                    <a:pt x="2643" y="2405"/>
                    <a:pt x="2703" y="2536"/>
                    <a:pt x="2762" y="2667"/>
                  </a:cubicBezTo>
                  <a:cubicBezTo>
                    <a:pt x="2762" y="2715"/>
                    <a:pt x="2774" y="2763"/>
                    <a:pt x="2774" y="2810"/>
                  </a:cubicBezTo>
                  <a:cubicBezTo>
                    <a:pt x="2774" y="3346"/>
                    <a:pt x="2346" y="3775"/>
                    <a:pt x="1810" y="3775"/>
                  </a:cubicBezTo>
                  <a:cubicBezTo>
                    <a:pt x="1274" y="3775"/>
                    <a:pt x="834" y="3346"/>
                    <a:pt x="834" y="2810"/>
                  </a:cubicBezTo>
                  <a:cubicBezTo>
                    <a:pt x="834" y="2274"/>
                    <a:pt x="1274" y="1834"/>
                    <a:pt x="1810" y="1834"/>
                  </a:cubicBezTo>
                  <a:close/>
                  <a:moveTo>
                    <a:pt x="1810" y="1322"/>
                  </a:moveTo>
                  <a:cubicBezTo>
                    <a:pt x="2084" y="1322"/>
                    <a:pt x="2346" y="1393"/>
                    <a:pt x="2584" y="1536"/>
                  </a:cubicBezTo>
                  <a:cubicBezTo>
                    <a:pt x="2560" y="1620"/>
                    <a:pt x="2560" y="1703"/>
                    <a:pt x="2548" y="1774"/>
                  </a:cubicBezTo>
                  <a:cubicBezTo>
                    <a:pt x="2346" y="1632"/>
                    <a:pt x="2072" y="1536"/>
                    <a:pt x="1810" y="1536"/>
                  </a:cubicBezTo>
                  <a:cubicBezTo>
                    <a:pt x="1096" y="1536"/>
                    <a:pt x="524" y="2120"/>
                    <a:pt x="524" y="2822"/>
                  </a:cubicBezTo>
                  <a:cubicBezTo>
                    <a:pt x="524" y="3537"/>
                    <a:pt x="1107" y="4096"/>
                    <a:pt x="1810" y="4096"/>
                  </a:cubicBezTo>
                  <a:cubicBezTo>
                    <a:pt x="2417" y="4096"/>
                    <a:pt x="2917" y="3668"/>
                    <a:pt x="3060" y="3108"/>
                  </a:cubicBezTo>
                  <a:cubicBezTo>
                    <a:pt x="3120" y="3167"/>
                    <a:pt x="3155" y="3203"/>
                    <a:pt x="3239" y="3263"/>
                  </a:cubicBezTo>
                  <a:cubicBezTo>
                    <a:pt x="3036" y="3882"/>
                    <a:pt x="2477" y="4299"/>
                    <a:pt x="1810" y="4299"/>
                  </a:cubicBezTo>
                  <a:cubicBezTo>
                    <a:pt x="988" y="4299"/>
                    <a:pt x="322" y="3620"/>
                    <a:pt x="322" y="2810"/>
                  </a:cubicBezTo>
                  <a:cubicBezTo>
                    <a:pt x="322" y="1989"/>
                    <a:pt x="988" y="1322"/>
                    <a:pt x="1810" y="1322"/>
                  </a:cubicBezTo>
                  <a:close/>
                  <a:moveTo>
                    <a:pt x="4382" y="0"/>
                  </a:moveTo>
                  <a:cubicBezTo>
                    <a:pt x="3608" y="0"/>
                    <a:pt x="2929" y="500"/>
                    <a:pt x="2679" y="1179"/>
                  </a:cubicBezTo>
                  <a:cubicBezTo>
                    <a:pt x="2417" y="1036"/>
                    <a:pt x="2131" y="953"/>
                    <a:pt x="1822" y="953"/>
                  </a:cubicBezTo>
                  <a:cubicBezTo>
                    <a:pt x="822" y="953"/>
                    <a:pt x="0" y="1774"/>
                    <a:pt x="0" y="2775"/>
                  </a:cubicBezTo>
                  <a:cubicBezTo>
                    <a:pt x="0" y="3775"/>
                    <a:pt x="822" y="4596"/>
                    <a:pt x="1822" y="4596"/>
                  </a:cubicBezTo>
                  <a:cubicBezTo>
                    <a:pt x="2596" y="4596"/>
                    <a:pt x="3262" y="4120"/>
                    <a:pt x="3512" y="3417"/>
                  </a:cubicBezTo>
                  <a:cubicBezTo>
                    <a:pt x="3763" y="3548"/>
                    <a:pt x="4060" y="3644"/>
                    <a:pt x="4382" y="3644"/>
                  </a:cubicBezTo>
                  <a:cubicBezTo>
                    <a:pt x="4798" y="3644"/>
                    <a:pt x="5191" y="3489"/>
                    <a:pt x="5513" y="3239"/>
                  </a:cubicBezTo>
                  <a:cubicBezTo>
                    <a:pt x="5822" y="2989"/>
                    <a:pt x="6049" y="2632"/>
                    <a:pt x="6132" y="2239"/>
                  </a:cubicBezTo>
                  <a:cubicBezTo>
                    <a:pt x="6156" y="2167"/>
                    <a:pt x="6096" y="2072"/>
                    <a:pt x="6013" y="2060"/>
                  </a:cubicBezTo>
                  <a:cubicBezTo>
                    <a:pt x="6004" y="2059"/>
                    <a:pt x="5996" y="2058"/>
                    <a:pt x="5987" y="2058"/>
                  </a:cubicBezTo>
                  <a:cubicBezTo>
                    <a:pt x="5911" y="2058"/>
                    <a:pt x="5833" y="2104"/>
                    <a:pt x="5822" y="2179"/>
                  </a:cubicBezTo>
                  <a:cubicBezTo>
                    <a:pt x="5656" y="2870"/>
                    <a:pt x="5060" y="3322"/>
                    <a:pt x="4370" y="3322"/>
                  </a:cubicBezTo>
                  <a:cubicBezTo>
                    <a:pt x="3834" y="3322"/>
                    <a:pt x="3334" y="3048"/>
                    <a:pt x="3072" y="2572"/>
                  </a:cubicBezTo>
                  <a:cubicBezTo>
                    <a:pt x="3036" y="2417"/>
                    <a:pt x="2977" y="2274"/>
                    <a:pt x="2905" y="2132"/>
                  </a:cubicBezTo>
                  <a:cubicBezTo>
                    <a:pt x="2715" y="1215"/>
                    <a:pt x="3429" y="334"/>
                    <a:pt x="4370" y="334"/>
                  </a:cubicBezTo>
                  <a:cubicBezTo>
                    <a:pt x="5060" y="334"/>
                    <a:pt x="5656" y="810"/>
                    <a:pt x="5822" y="1477"/>
                  </a:cubicBezTo>
                  <a:cubicBezTo>
                    <a:pt x="5832" y="1556"/>
                    <a:pt x="5899" y="1602"/>
                    <a:pt x="5969" y="1602"/>
                  </a:cubicBezTo>
                  <a:cubicBezTo>
                    <a:pt x="5984" y="1602"/>
                    <a:pt x="5998" y="1600"/>
                    <a:pt x="6013" y="1596"/>
                  </a:cubicBezTo>
                  <a:cubicBezTo>
                    <a:pt x="6108" y="1584"/>
                    <a:pt x="6144" y="1489"/>
                    <a:pt x="6132" y="1405"/>
                  </a:cubicBezTo>
                  <a:cubicBezTo>
                    <a:pt x="6049" y="1024"/>
                    <a:pt x="5822" y="667"/>
                    <a:pt x="5513" y="405"/>
                  </a:cubicBezTo>
                  <a:cubicBezTo>
                    <a:pt x="5191" y="155"/>
                    <a:pt x="4775" y="0"/>
                    <a:pt x="43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4215914" y="3415061"/>
              <a:ext cx="28072" cy="49301"/>
            </a:xfrm>
            <a:custGeom>
              <a:avLst/>
              <a:gdLst/>
              <a:ahLst/>
              <a:cxnLst/>
              <a:rect l="l" t="t" r="r" b="b"/>
              <a:pathLst>
                <a:path w="882" h="1549" extrusionOk="0">
                  <a:moveTo>
                    <a:pt x="405" y="298"/>
                  </a:moveTo>
                  <a:lnTo>
                    <a:pt x="405" y="584"/>
                  </a:lnTo>
                  <a:cubicBezTo>
                    <a:pt x="286" y="537"/>
                    <a:pt x="262" y="501"/>
                    <a:pt x="262" y="429"/>
                  </a:cubicBezTo>
                  <a:cubicBezTo>
                    <a:pt x="262" y="358"/>
                    <a:pt x="334" y="310"/>
                    <a:pt x="405" y="298"/>
                  </a:cubicBezTo>
                  <a:close/>
                  <a:moveTo>
                    <a:pt x="512" y="882"/>
                  </a:moveTo>
                  <a:cubicBezTo>
                    <a:pt x="631" y="918"/>
                    <a:pt x="643" y="977"/>
                    <a:pt x="643" y="1060"/>
                  </a:cubicBezTo>
                  <a:cubicBezTo>
                    <a:pt x="643" y="1144"/>
                    <a:pt x="584" y="1191"/>
                    <a:pt x="512" y="1203"/>
                  </a:cubicBezTo>
                  <a:lnTo>
                    <a:pt x="512" y="882"/>
                  </a:lnTo>
                  <a:close/>
                  <a:moveTo>
                    <a:pt x="465" y="1"/>
                  </a:moveTo>
                  <a:cubicBezTo>
                    <a:pt x="441" y="1"/>
                    <a:pt x="405" y="13"/>
                    <a:pt x="405" y="48"/>
                  </a:cubicBezTo>
                  <a:lnTo>
                    <a:pt x="405" y="96"/>
                  </a:lnTo>
                  <a:cubicBezTo>
                    <a:pt x="179" y="132"/>
                    <a:pt x="48" y="251"/>
                    <a:pt x="48" y="477"/>
                  </a:cubicBezTo>
                  <a:cubicBezTo>
                    <a:pt x="48" y="715"/>
                    <a:pt x="226" y="787"/>
                    <a:pt x="405" y="846"/>
                  </a:cubicBezTo>
                  <a:lnTo>
                    <a:pt x="405" y="1215"/>
                  </a:lnTo>
                  <a:cubicBezTo>
                    <a:pt x="298" y="1203"/>
                    <a:pt x="262" y="1156"/>
                    <a:pt x="167" y="1096"/>
                  </a:cubicBezTo>
                  <a:cubicBezTo>
                    <a:pt x="150" y="1084"/>
                    <a:pt x="133" y="1079"/>
                    <a:pt x="117" y="1079"/>
                  </a:cubicBezTo>
                  <a:cubicBezTo>
                    <a:pt x="53" y="1079"/>
                    <a:pt x="0" y="1158"/>
                    <a:pt x="0" y="1215"/>
                  </a:cubicBezTo>
                  <a:cubicBezTo>
                    <a:pt x="0" y="1251"/>
                    <a:pt x="24" y="1275"/>
                    <a:pt x="36" y="1299"/>
                  </a:cubicBezTo>
                  <a:cubicBezTo>
                    <a:pt x="107" y="1394"/>
                    <a:pt x="274" y="1441"/>
                    <a:pt x="405" y="1441"/>
                  </a:cubicBezTo>
                  <a:lnTo>
                    <a:pt x="405" y="1501"/>
                  </a:lnTo>
                  <a:cubicBezTo>
                    <a:pt x="405" y="1537"/>
                    <a:pt x="441" y="1549"/>
                    <a:pt x="465" y="1549"/>
                  </a:cubicBezTo>
                  <a:cubicBezTo>
                    <a:pt x="500" y="1549"/>
                    <a:pt x="524" y="1525"/>
                    <a:pt x="524" y="1501"/>
                  </a:cubicBezTo>
                  <a:lnTo>
                    <a:pt x="524" y="1441"/>
                  </a:lnTo>
                  <a:cubicBezTo>
                    <a:pt x="715" y="1406"/>
                    <a:pt x="881" y="1299"/>
                    <a:pt x="881" y="1037"/>
                  </a:cubicBezTo>
                  <a:cubicBezTo>
                    <a:pt x="881" y="787"/>
                    <a:pt x="715" y="703"/>
                    <a:pt x="524" y="620"/>
                  </a:cubicBezTo>
                  <a:lnTo>
                    <a:pt x="524" y="298"/>
                  </a:lnTo>
                  <a:cubicBezTo>
                    <a:pt x="596" y="298"/>
                    <a:pt x="631" y="310"/>
                    <a:pt x="703" y="358"/>
                  </a:cubicBezTo>
                  <a:cubicBezTo>
                    <a:pt x="717" y="362"/>
                    <a:pt x="732" y="364"/>
                    <a:pt x="746" y="364"/>
                  </a:cubicBezTo>
                  <a:cubicBezTo>
                    <a:pt x="777" y="364"/>
                    <a:pt x="805" y="351"/>
                    <a:pt x="822" y="310"/>
                  </a:cubicBezTo>
                  <a:cubicBezTo>
                    <a:pt x="857" y="263"/>
                    <a:pt x="869" y="203"/>
                    <a:pt x="810" y="156"/>
                  </a:cubicBezTo>
                  <a:cubicBezTo>
                    <a:pt x="738" y="96"/>
                    <a:pt x="619" y="84"/>
                    <a:pt x="524" y="84"/>
                  </a:cubicBezTo>
                  <a:lnTo>
                    <a:pt x="524" y="48"/>
                  </a:lnTo>
                  <a:cubicBezTo>
                    <a:pt x="524" y="13"/>
                    <a:pt x="500" y="1"/>
                    <a:pt x="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3988156" y="3495935"/>
              <a:ext cx="353954" cy="203155"/>
            </a:xfrm>
            <a:custGeom>
              <a:avLst/>
              <a:gdLst/>
              <a:ahLst/>
              <a:cxnLst/>
              <a:rect l="l" t="t" r="r" b="b"/>
              <a:pathLst>
                <a:path w="11121" h="6383" extrusionOk="0">
                  <a:moveTo>
                    <a:pt x="3525" y="1884"/>
                  </a:moveTo>
                  <a:cubicBezTo>
                    <a:pt x="3540" y="1884"/>
                    <a:pt x="3561" y="1898"/>
                    <a:pt x="3561" y="1925"/>
                  </a:cubicBezTo>
                  <a:cubicBezTo>
                    <a:pt x="3632" y="2103"/>
                    <a:pt x="4632" y="4770"/>
                    <a:pt x="4680" y="4854"/>
                  </a:cubicBezTo>
                  <a:cubicBezTo>
                    <a:pt x="4692" y="4865"/>
                    <a:pt x="4680" y="4901"/>
                    <a:pt x="4644" y="4901"/>
                  </a:cubicBezTo>
                  <a:lnTo>
                    <a:pt x="3930" y="5163"/>
                  </a:lnTo>
                  <a:cubicBezTo>
                    <a:pt x="3882" y="5032"/>
                    <a:pt x="2870" y="2341"/>
                    <a:pt x="2799" y="2163"/>
                  </a:cubicBezTo>
                  <a:lnTo>
                    <a:pt x="3513" y="1889"/>
                  </a:lnTo>
                  <a:cubicBezTo>
                    <a:pt x="3516" y="1886"/>
                    <a:pt x="3520" y="1884"/>
                    <a:pt x="3525" y="1884"/>
                  </a:cubicBezTo>
                  <a:close/>
                  <a:moveTo>
                    <a:pt x="2501" y="2294"/>
                  </a:moveTo>
                  <a:lnTo>
                    <a:pt x="3632" y="5306"/>
                  </a:lnTo>
                  <a:cubicBezTo>
                    <a:pt x="3096" y="5496"/>
                    <a:pt x="1763" y="5997"/>
                    <a:pt x="1536" y="6092"/>
                  </a:cubicBezTo>
                  <a:cubicBezTo>
                    <a:pt x="1528" y="6095"/>
                    <a:pt x="1520" y="6096"/>
                    <a:pt x="1511" y="6096"/>
                  </a:cubicBezTo>
                  <a:cubicBezTo>
                    <a:pt x="1485" y="6096"/>
                    <a:pt x="1459" y="6081"/>
                    <a:pt x="1441" y="6044"/>
                  </a:cubicBezTo>
                  <a:lnTo>
                    <a:pt x="358" y="3175"/>
                  </a:lnTo>
                  <a:cubicBezTo>
                    <a:pt x="346" y="3139"/>
                    <a:pt x="358" y="3103"/>
                    <a:pt x="405" y="3080"/>
                  </a:cubicBezTo>
                  <a:cubicBezTo>
                    <a:pt x="1084" y="2829"/>
                    <a:pt x="2025" y="2472"/>
                    <a:pt x="2501" y="2294"/>
                  </a:cubicBezTo>
                  <a:close/>
                  <a:moveTo>
                    <a:pt x="10195" y="0"/>
                  </a:moveTo>
                  <a:cubicBezTo>
                    <a:pt x="9949" y="0"/>
                    <a:pt x="9714" y="126"/>
                    <a:pt x="9537" y="282"/>
                  </a:cubicBezTo>
                  <a:lnTo>
                    <a:pt x="7835" y="1698"/>
                  </a:lnTo>
                  <a:cubicBezTo>
                    <a:pt x="7740" y="1496"/>
                    <a:pt x="7537" y="1282"/>
                    <a:pt x="7144" y="1282"/>
                  </a:cubicBezTo>
                  <a:cubicBezTo>
                    <a:pt x="6745" y="1282"/>
                    <a:pt x="6434" y="1280"/>
                    <a:pt x="6185" y="1280"/>
                  </a:cubicBezTo>
                  <a:cubicBezTo>
                    <a:pt x="5437" y="1280"/>
                    <a:pt x="5254" y="1294"/>
                    <a:pt x="4977" y="1401"/>
                  </a:cubicBezTo>
                  <a:lnTo>
                    <a:pt x="3882" y="1853"/>
                  </a:lnTo>
                  <a:lnTo>
                    <a:pt x="3870" y="1806"/>
                  </a:lnTo>
                  <a:cubicBezTo>
                    <a:pt x="3814" y="1665"/>
                    <a:pt x="3669" y="1569"/>
                    <a:pt x="3523" y="1569"/>
                  </a:cubicBezTo>
                  <a:cubicBezTo>
                    <a:pt x="3484" y="1569"/>
                    <a:pt x="3444" y="1576"/>
                    <a:pt x="3406" y="1591"/>
                  </a:cubicBezTo>
                  <a:lnTo>
                    <a:pt x="2596" y="1913"/>
                  </a:lnTo>
                  <a:cubicBezTo>
                    <a:pt x="2239" y="2044"/>
                    <a:pt x="1084" y="2472"/>
                    <a:pt x="298" y="2770"/>
                  </a:cubicBezTo>
                  <a:cubicBezTo>
                    <a:pt x="108" y="2841"/>
                    <a:pt x="1" y="3068"/>
                    <a:pt x="72" y="3258"/>
                  </a:cubicBezTo>
                  <a:lnTo>
                    <a:pt x="1167" y="6139"/>
                  </a:lnTo>
                  <a:cubicBezTo>
                    <a:pt x="1222" y="6285"/>
                    <a:pt x="1368" y="6382"/>
                    <a:pt x="1518" y="6382"/>
                  </a:cubicBezTo>
                  <a:cubicBezTo>
                    <a:pt x="1564" y="6382"/>
                    <a:pt x="1611" y="6373"/>
                    <a:pt x="1656" y="6354"/>
                  </a:cubicBezTo>
                  <a:cubicBezTo>
                    <a:pt x="1906" y="6270"/>
                    <a:pt x="3549" y="5639"/>
                    <a:pt x="3894" y="5508"/>
                  </a:cubicBezTo>
                  <a:lnTo>
                    <a:pt x="4763" y="5175"/>
                  </a:lnTo>
                  <a:cubicBezTo>
                    <a:pt x="4942" y="5104"/>
                    <a:pt x="5049" y="4901"/>
                    <a:pt x="4965" y="4723"/>
                  </a:cubicBezTo>
                  <a:lnTo>
                    <a:pt x="4954" y="4675"/>
                  </a:lnTo>
                  <a:cubicBezTo>
                    <a:pt x="5525" y="4437"/>
                    <a:pt x="5537" y="4413"/>
                    <a:pt x="6120" y="4413"/>
                  </a:cubicBezTo>
                  <a:cubicBezTo>
                    <a:pt x="6204" y="4413"/>
                    <a:pt x="6275" y="4330"/>
                    <a:pt x="6275" y="4246"/>
                  </a:cubicBezTo>
                  <a:cubicBezTo>
                    <a:pt x="6275" y="4151"/>
                    <a:pt x="6204" y="4080"/>
                    <a:pt x="6120" y="4080"/>
                  </a:cubicBezTo>
                  <a:cubicBezTo>
                    <a:pt x="5477" y="4080"/>
                    <a:pt x="5418" y="4127"/>
                    <a:pt x="4834" y="4377"/>
                  </a:cubicBezTo>
                  <a:lnTo>
                    <a:pt x="3989" y="2127"/>
                  </a:lnTo>
                  <a:lnTo>
                    <a:pt x="5073" y="1686"/>
                  </a:lnTo>
                  <a:cubicBezTo>
                    <a:pt x="5294" y="1601"/>
                    <a:pt x="5460" y="1589"/>
                    <a:pt x="6106" y="1589"/>
                  </a:cubicBezTo>
                  <a:cubicBezTo>
                    <a:pt x="6364" y="1589"/>
                    <a:pt x="6699" y="1591"/>
                    <a:pt x="7144" y="1591"/>
                  </a:cubicBezTo>
                  <a:cubicBezTo>
                    <a:pt x="7323" y="1591"/>
                    <a:pt x="7442" y="1651"/>
                    <a:pt x="7513" y="1770"/>
                  </a:cubicBezTo>
                  <a:cubicBezTo>
                    <a:pt x="7573" y="1865"/>
                    <a:pt x="7573" y="1948"/>
                    <a:pt x="7585" y="1984"/>
                  </a:cubicBezTo>
                  <a:cubicBezTo>
                    <a:pt x="7585" y="2044"/>
                    <a:pt x="7549" y="2341"/>
                    <a:pt x="7263" y="2389"/>
                  </a:cubicBezTo>
                  <a:cubicBezTo>
                    <a:pt x="6835" y="2460"/>
                    <a:pt x="5882" y="2591"/>
                    <a:pt x="5882" y="2591"/>
                  </a:cubicBezTo>
                  <a:cubicBezTo>
                    <a:pt x="5787" y="2603"/>
                    <a:pt x="5727" y="2687"/>
                    <a:pt x="5739" y="2770"/>
                  </a:cubicBezTo>
                  <a:cubicBezTo>
                    <a:pt x="5763" y="2841"/>
                    <a:pt x="5823" y="2901"/>
                    <a:pt x="5906" y="2901"/>
                  </a:cubicBezTo>
                  <a:lnTo>
                    <a:pt x="5942" y="2901"/>
                  </a:lnTo>
                  <a:cubicBezTo>
                    <a:pt x="5954" y="2901"/>
                    <a:pt x="6894" y="2770"/>
                    <a:pt x="7335" y="2699"/>
                  </a:cubicBezTo>
                  <a:cubicBezTo>
                    <a:pt x="7740" y="2627"/>
                    <a:pt x="7882" y="2282"/>
                    <a:pt x="7918" y="2056"/>
                  </a:cubicBezTo>
                  <a:lnTo>
                    <a:pt x="9764" y="520"/>
                  </a:lnTo>
                  <a:cubicBezTo>
                    <a:pt x="9875" y="408"/>
                    <a:pt x="10028" y="311"/>
                    <a:pt x="10188" y="311"/>
                  </a:cubicBezTo>
                  <a:cubicBezTo>
                    <a:pt x="10285" y="311"/>
                    <a:pt x="10384" y="347"/>
                    <a:pt x="10478" y="436"/>
                  </a:cubicBezTo>
                  <a:cubicBezTo>
                    <a:pt x="10776" y="734"/>
                    <a:pt x="10502" y="1091"/>
                    <a:pt x="10430" y="1151"/>
                  </a:cubicBezTo>
                  <a:cubicBezTo>
                    <a:pt x="10359" y="1222"/>
                    <a:pt x="8097" y="3651"/>
                    <a:pt x="8097" y="3651"/>
                  </a:cubicBezTo>
                  <a:cubicBezTo>
                    <a:pt x="7763" y="4020"/>
                    <a:pt x="7323" y="4080"/>
                    <a:pt x="7144" y="4092"/>
                  </a:cubicBezTo>
                  <a:lnTo>
                    <a:pt x="6847" y="4092"/>
                  </a:lnTo>
                  <a:cubicBezTo>
                    <a:pt x="6751" y="4092"/>
                    <a:pt x="6680" y="4175"/>
                    <a:pt x="6680" y="4258"/>
                  </a:cubicBezTo>
                  <a:cubicBezTo>
                    <a:pt x="6680" y="4353"/>
                    <a:pt x="6751" y="4425"/>
                    <a:pt x="6847" y="4425"/>
                  </a:cubicBezTo>
                  <a:lnTo>
                    <a:pt x="7156" y="4425"/>
                  </a:lnTo>
                  <a:cubicBezTo>
                    <a:pt x="7382" y="4413"/>
                    <a:pt x="7918" y="4330"/>
                    <a:pt x="8335" y="3877"/>
                  </a:cubicBezTo>
                  <a:cubicBezTo>
                    <a:pt x="10669" y="1377"/>
                    <a:pt x="10669" y="1377"/>
                    <a:pt x="10669" y="1353"/>
                  </a:cubicBezTo>
                  <a:cubicBezTo>
                    <a:pt x="10883" y="1151"/>
                    <a:pt x="11121" y="627"/>
                    <a:pt x="10704" y="210"/>
                  </a:cubicBezTo>
                  <a:cubicBezTo>
                    <a:pt x="10539" y="60"/>
                    <a:pt x="10365" y="0"/>
                    <a:pt x="101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26"/>
          <p:cNvGrpSpPr/>
          <p:nvPr/>
        </p:nvGrpSpPr>
        <p:grpSpPr>
          <a:xfrm>
            <a:off x="6312295" y="1136251"/>
            <a:ext cx="336512" cy="335048"/>
            <a:chOff x="3996113" y="4291176"/>
            <a:chExt cx="336512" cy="335048"/>
          </a:xfrm>
        </p:grpSpPr>
        <p:sp>
          <p:nvSpPr>
            <p:cNvPr id="155" name="Google Shape;155;p26"/>
            <p:cNvSpPr/>
            <p:nvPr/>
          </p:nvSpPr>
          <p:spPr>
            <a:xfrm>
              <a:off x="4082143" y="4323386"/>
              <a:ext cx="111810" cy="219833"/>
            </a:xfrm>
            <a:custGeom>
              <a:avLst/>
              <a:gdLst/>
              <a:ahLst/>
              <a:cxnLst/>
              <a:rect l="l" t="t" r="r" b="b"/>
              <a:pathLst>
                <a:path w="3513" h="6907" extrusionOk="0">
                  <a:moveTo>
                    <a:pt x="1751" y="322"/>
                  </a:moveTo>
                  <a:cubicBezTo>
                    <a:pt x="1846" y="322"/>
                    <a:pt x="1929" y="394"/>
                    <a:pt x="1929" y="501"/>
                  </a:cubicBezTo>
                  <a:lnTo>
                    <a:pt x="1929" y="942"/>
                  </a:lnTo>
                  <a:cubicBezTo>
                    <a:pt x="1929" y="1037"/>
                    <a:pt x="2001" y="1096"/>
                    <a:pt x="2084" y="1096"/>
                  </a:cubicBezTo>
                  <a:cubicBezTo>
                    <a:pt x="2691" y="1108"/>
                    <a:pt x="3179" y="1596"/>
                    <a:pt x="3179" y="2204"/>
                  </a:cubicBezTo>
                  <a:lnTo>
                    <a:pt x="3179" y="2525"/>
                  </a:lnTo>
                  <a:cubicBezTo>
                    <a:pt x="3179" y="2608"/>
                    <a:pt x="3108" y="2704"/>
                    <a:pt x="3001" y="2704"/>
                  </a:cubicBezTo>
                  <a:cubicBezTo>
                    <a:pt x="2917" y="2704"/>
                    <a:pt x="2822" y="2620"/>
                    <a:pt x="2822" y="2525"/>
                  </a:cubicBezTo>
                  <a:lnTo>
                    <a:pt x="2822" y="2204"/>
                  </a:lnTo>
                  <a:cubicBezTo>
                    <a:pt x="2834" y="1787"/>
                    <a:pt x="2501" y="1454"/>
                    <a:pt x="2060" y="1454"/>
                  </a:cubicBezTo>
                  <a:lnTo>
                    <a:pt x="1608" y="1454"/>
                  </a:lnTo>
                  <a:cubicBezTo>
                    <a:pt x="1096" y="1454"/>
                    <a:pt x="679" y="1870"/>
                    <a:pt x="679" y="2370"/>
                  </a:cubicBezTo>
                  <a:cubicBezTo>
                    <a:pt x="679" y="2882"/>
                    <a:pt x="1096" y="3299"/>
                    <a:pt x="1608" y="3299"/>
                  </a:cubicBezTo>
                  <a:lnTo>
                    <a:pt x="1917" y="3299"/>
                  </a:lnTo>
                  <a:cubicBezTo>
                    <a:pt x="2620" y="3299"/>
                    <a:pt x="3191" y="3859"/>
                    <a:pt x="3191" y="4573"/>
                  </a:cubicBezTo>
                  <a:cubicBezTo>
                    <a:pt x="3191" y="5216"/>
                    <a:pt x="2715" y="5764"/>
                    <a:pt x="2084" y="5835"/>
                  </a:cubicBezTo>
                  <a:cubicBezTo>
                    <a:pt x="2001" y="5859"/>
                    <a:pt x="1941" y="5918"/>
                    <a:pt x="1941" y="5990"/>
                  </a:cubicBezTo>
                  <a:lnTo>
                    <a:pt x="1941" y="6454"/>
                  </a:lnTo>
                  <a:cubicBezTo>
                    <a:pt x="1941" y="6538"/>
                    <a:pt x="1870" y="6633"/>
                    <a:pt x="1762" y="6633"/>
                  </a:cubicBezTo>
                  <a:cubicBezTo>
                    <a:pt x="1667" y="6633"/>
                    <a:pt x="1584" y="6549"/>
                    <a:pt x="1584" y="6454"/>
                  </a:cubicBezTo>
                  <a:lnTo>
                    <a:pt x="1584" y="6002"/>
                  </a:lnTo>
                  <a:cubicBezTo>
                    <a:pt x="1584" y="5918"/>
                    <a:pt x="1512" y="5859"/>
                    <a:pt x="1441" y="5859"/>
                  </a:cubicBezTo>
                  <a:cubicBezTo>
                    <a:pt x="834" y="5835"/>
                    <a:pt x="334" y="5347"/>
                    <a:pt x="334" y="4740"/>
                  </a:cubicBezTo>
                  <a:cubicBezTo>
                    <a:pt x="334" y="4644"/>
                    <a:pt x="417" y="4561"/>
                    <a:pt x="512" y="4561"/>
                  </a:cubicBezTo>
                  <a:cubicBezTo>
                    <a:pt x="608" y="4561"/>
                    <a:pt x="691" y="4633"/>
                    <a:pt x="691" y="4740"/>
                  </a:cubicBezTo>
                  <a:cubicBezTo>
                    <a:pt x="691" y="5156"/>
                    <a:pt x="1036" y="5502"/>
                    <a:pt x="1453" y="5502"/>
                  </a:cubicBezTo>
                  <a:lnTo>
                    <a:pt x="1929" y="5502"/>
                  </a:lnTo>
                  <a:cubicBezTo>
                    <a:pt x="2441" y="5502"/>
                    <a:pt x="2858" y="5085"/>
                    <a:pt x="2858" y="4573"/>
                  </a:cubicBezTo>
                  <a:cubicBezTo>
                    <a:pt x="2858" y="4073"/>
                    <a:pt x="2441" y="3656"/>
                    <a:pt x="1929" y="3656"/>
                  </a:cubicBezTo>
                  <a:lnTo>
                    <a:pt x="1608" y="3656"/>
                  </a:lnTo>
                  <a:cubicBezTo>
                    <a:pt x="905" y="3656"/>
                    <a:pt x="322" y="3085"/>
                    <a:pt x="322" y="2370"/>
                  </a:cubicBezTo>
                  <a:cubicBezTo>
                    <a:pt x="322" y="1727"/>
                    <a:pt x="798" y="1180"/>
                    <a:pt x="1441" y="1108"/>
                  </a:cubicBezTo>
                  <a:cubicBezTo>
                    <a:pt x="1512" y="1096"/>
                    <a:pt x="1572" y="1037"/>
                    <a:pt x="1572" y="953"/>
                  </a:cubicBezTo>
                  <a:lnTo>
                    <a:pt x="1572" y="501"/>
                  </a:lnTo>
                  <a:cubicBezTo>
                    <a:pt x="1572" y="406"/>
                    <a:pt x="1643" y="322"/>
                    <a:pt x="1751" y="322"/>
                  </a:cubicBezTo>
                  <a:close/>
                  <a:moveTo>
                    <a:pt x="1762" y="1"/>
                  </a:moveTo>
                  <a:cubicBezTo>
                    <a:pt x="1500" y="1"/>
                    <a:pt x="1274" y="227"/>
                    <a:pt x="1274" y="501"/>
                  </a:cubicBezTo>
                  <a:lnTo>
                    <a:pt x="1274" y="823"/>
                  </a:lnTo>
                  <a:cubicBezTo>
                    <a:pt x="548" y="977"/>
                    <a:pt x="24" y="1608"/>
                    <a:pt x="24" y="2370"/>
                  </a:cubicBezTo>
                  <a:cubicBezTo>
                    <a:pt x="24" y="3251"/>
                    <a:pt x="738" y="3954"/>
                    <a:pt x="1608" y="3954"/>
                  </a:cubicBezTo>
                  <a:lnTo>
                    <a:pt x="1917" y="3954"/>
                  </a:lnTo>
                  <a:cubicBezTo>
                    <a:pt x="2262" y="3954"/>
                    <a:pt x="2524" y="4216"/>
                    <a:pt x="2524" y="4561"/>
                  </a:cubicBezTo>
                  <a:cubicBezTo>
                    <a:pt x="2524" y="4906"/>
                    <a:pt x="2262" y="5168"/>
                    <a:pt x="1917" y="5168"/>
                  </a:cubicBezTo>
                  <a:lnTo>
                    <a:pt x="1441" y="5168"/>
                  </a:lnTo>
                  <a:cubicBezTo>
                    <a:pt x="1191" y="5168"/>
                    <a:pt x="977" y="4966"/>
                    <a:pt x="977" y="4704"/>
                  </a:cubicBezTo>
                  <a:cubicBezTo>
                    <a:pt x="977" y="4442"/>
                    <a:pt x="750" y="4216"/>
                    <a:pt x="488" y="4216"/>
                  </a:cubicBezTo>
                  <a:cubicBezTo>
                    <a:pt x="215" y="4216"/>
                    <a:pt x="0" y="4442"/>
                    <a:pt x="0" y="4704"/>
                  </a:cubicBezTo>
                  <a:cubicBezTo>
                    <a:pt x="0" y="5442"/>
                    <a:pt x="548" y="6037"/>
                    <a:pt x="1250" y="6121"/>
                  </a:cubicBezTo>
                  <a:lnTo>
                    <a:pt x="1250" y="6418"/>
                  </a:lnTo>
                  <a:cubicBezTo>
                    <a:pt x="1250" y="6692"/>
                    <a:pt x="1465" y="6907"/>
                    <a:pt x="1739" y="6907"/>
                  </a:cubicBezTo>
                  <a:cubicBezTo>
                    <a:pt x="2001" y="6907"/>
                    <a:pt x="2227" y="6692"/>
                    <a:pt x="2227" y="6418"/>
                  </a:cubicBezTo>
                  <a:lnTo>
                    <a:pt x="2227" y="6121"/>
                  </a:lnTo>
                  <a:cubicBezTo>
                    <a:pt x="2953" y="5978"/>
                    <a:pt x="3477" y="5335"/>
                    <a:pt x="3477" y="4573"/>
                  </a:cubicBezTo>
                  <a:cubicBezTo>
                    <a:pt x="3477" y="3692"/>
                    <a:pt x="2763" y="3001"/>
                    <a:pt x="1905" y="3001"/>
                  </a:cubicBezTo>
                  <a:lnTo>
                    <a:pt x="1608" y="3001"/>
                  </a:lnTo>
                  <a:cubicBezTo>
                    <a:pt x="1262" y="3001"/>
                    <a:pt x="989" y="2728"/>
                    <a:pt x="989" y="2382"/>
                  </a:cubicBezTo>
                  <a:cubicBezTo>
                    <a:pt x="989" y="2037"/>
                    <a:pt x="1262" y="1775"/>
                    <a:pt x="1608" y="1775"/>
                  </a:cubicBezTo>
                  <a:lnTo>
                    <a:pt x="2084" y="1775"/>
                  </a:lnTo>
                  <a:cubicBezTo>
                    <a:pt x="2334" y="1775"/>
                    <a:pt x="2536" y="1989"/>
                    <a:pt x="2536" y="2239"/>
                  </a:cubicBezTo>
                  <a:lnTo>
                    <a:pt x="2536" y="2549"/>
                  </a:lnTo>
                  <a:cubicBezTo>
                    <a:pt x="2524" y="2799"/>
                    <a:pt x="2751" y="3013"/>
                    <a:pt x="3013" y="3013"/>
                  </a:cubicBezTo>
                  <a:cubicBezTo>
                    <a:pt x="3286" y="3013"/>
                    <a:pt x="3513" y="2787"/>
                    <a:pt x="3513" y="2525"/>
                  </a:cubicBezTo>
                  <a:lnTo>
                    <a:pt x="3513" y="2204"/>
                  </a:lnTo>
                  <a:cubicBezTo>
                    <a:pt x="3513" y="1477"/>
                    <a:pt x="2953" y="882"/>
                    <a:pt x="2262" y="799"/>
                  </a:cubicBezTo>
                  <a:lnTo>
                    <a:pt x="2262" y="501"/>
                  </a:lnTo>
                  <a:cubicBezTo>
                    <a:pt x="2262" y="227"/>
                    <a:pt x="2036" y="1"/>
                    <a:pt x="1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4226894" y="4523485"/>
              <a:ext cx="52324" cy="51942"/>
            </a:xfrm>
            <a:custGeom>
              <a:avLst/>
              <a:gdLst/>
              <a:ahLst/>
              <a:cxnLst/>
              <a:rect l="l" t="t" r="r" b="b"/>
              <a:pathLst>
                <a:path w="1644" h="1632" extrusionOk="0">
                  <a:moveTo>
                    <a:pt x="822" y="310"/>
                  </a:moveTo>
                  <a:cubicBezTo>
                    <a:pt x="1108" y="310"/>
                    <a:pt x="1322" y="536"/>
                    <a:pt x="1322" y="822"/>
                  </a:cubicBezTo>
                  <a:cubicBezTo>
                    <a:pt x="1322" y="1096"/>
                    <a:pt x="1108" y="1322"/>
                    <a:pt x="822" y="1322"/>
                  </a:cubicBezTo>
                  <a:cubicBezTo>
                    <a:pt x="536" y="1322"/>
                    <a:pt x="310" y="1096"/>
                    <a:pt x="310" y="822"/>
                  </a:cubicBezTo>
                  <a:cubicBezTo>
                    <a:pt x="310" y="536"/>
                    <a:pt x="536" y="310"/>
                    <a:pt x="822" y="310"/>
                  </a:cubicBezTo>
                  <a:close/>
                  <a:moveTo>
                    <a:pt x="822" y="0"/>
                  </a:moveTo>
                  <a:cubicBezTo>
                    <a:pt x="370" y="0"/>
                    <a:pt x="0" y="370"/>
                    <a:pt x="0" y="822"/>
                  </a:cubicBezTo>
                  <a:cubicBezTo>
                    <a:pt x="0" y="1263"/>
                    <a:pt x="370" y="1632"/>
                    <a:pt x="822" y="1632"/>
                  </a:cubicBezTo>
                  <a:cubicBezTo>
                    <a:pt x="1263" y="1632"/>
                    <a:pt x="1644" y="1263"/>
                    <a:pt x="1644" y="822"/>
                  </a:cubicBezTo>
                  <a:cubicBezTo>
                    <a:pt x="1644" y="370"/>
                    <a:pt x="1263" y="0"/>
                    <a:pt x="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3996113" y="4291176"/>
              <a:ext cx="336512" cy="335048"/>
            </a:xfrm>
            <a:custGeom>
              <a:avLst/>
              <a:gdLst/>
              <a:ahLst/>
              <a:cxnLst/>
              <a:rect l="l" t="t" r="r" b="b"/>
              <a:pathLst>
                <a:path w="10573" h="10527" extrusionOk="0">
                  <a:moveTo>
                    <a:pt x="8216" y="5930"/>
                  </a:moveTo>
                  <a:lnTo>
                    <a:pt x="8335" y="6537"/>
                  </a:lnTo>
                  <a:cubicBezTo>
                    <a:pt x="8359" y="6597"/>
                    <a:pt x="8394" y="6645"/>
                    <a:pt x="8442" y="6657"/>
                  </a:cubicBezTo>
                  <a:cubicBezTo>
                    <a:pt x="8502" y="6668"/>
                    <a:pt x="8549" y="6692"/>
                    <a:pt x="8609" y="6716"/>
                  </a:cubicBezTo>
                  <a:cubicBezTo>
                    <a:pt x="8631" y="6729"/>
                    <a:pt x="8653" y="6734"/>
                    <a:pt x="8674" y="6734"/>
                  </a:cubicBezTo>
                  <a:cubicBezTo>
                    <a:pt x="8710" y="6734"/>
                    <a:pt x="8745" y="6719"/>
                    <a:pt x="8775" y="6704"/>
                  </a:cubicBezTo>
                  <a:lnTo>
                    <a:pt x="9252" y="6311"/>
                  </a:lnTo>
                  <a:lnTo>
                    <a:pt x="9561" y="6585"/>
                  </a:lnTo>
                  <a:lnTo>
                    <a:pt x="9264" y="7121"/>
                  </a:lnTo>
                  <a:cubicBezTo>
                    <a:pt x="9228" y="7157"/>
                    <a:pt x="9228" y="7216"/>
                    <a:pt x="9264" y="7276"/>
                  </a:cubicBezTo>
                  <a:cubicBezTo>
                    <a:pt x="9287" y="7323"/>
                    <a:pt x="9323" y="7371"/>
                    <a:pt x="9347" y="7430"/>
                  </a:cubicBezTo>
                  <a:cubicBezTo>
                    <a:pt x="9383" y="7478"/>
                    <a:pt x="9430" y="7514"/>
                    <a:pt x="9490" y="7514"/>
                  </a:cubicBezTo>
                  <a:lnTo>
                    <a:pt x="10109" y="7538"/>
                  </a:lnTo>
                  <a:lnTo>
                    <a:pt x="10180" y="7942"/>
                  </a:lnTo>
                  <a:lnTo>
                    <a:pt x="9645" y="8157"/>
                  </a:lnTo>
                  <a:cubicBezTo>
                    <a:pt x="9585" y="8181"/>
                    <a:pt x="9561" y="8240"/>
                    <a:pt x="9549" y="8276"/>
                  </a:cubicBezTo>
                  <a:cubicBezTo>
                    <a:pt x="9549" y="8335"/>
                    <a:pt x="9526" y="8383"/>
                    <a:pt x="9514" y="8442"/>
                  </a:cubicBezTo>
                  <a:cubicBezTo>
                    <a:pt x="9502" y="8502"/>
                    <a:pt x="9514" y="8562"/>
                    <a:pt x="9561" y="8597"/>
                  </a:cubicBezTo>
                  <a:lnTo>
                    <a:pt x="10014" y="8990"/>
                  </a:lnTo>
                  <a:lnTo>
                    <a:pt x="9811" y="9347"/>
                  </a:lnTo>
                  <a:lnTo>
                    <a:pt x="9228" y="9157"/>
                  </a:lnTo>
                  <a:cubicBezTo>
                    <a:pt x="9213" y="9154"/>
                    <a:pt x="9198" y="9152"/>
                    <a:pt x="9184" y="9152"/>
                  </a:cubicBezTo>
                  <a:cubicBezTo>
                    <a:pt x="9141" y="9152"/>
                    <a:pt x="9103" y="9166"/>
                    <a:pt x="9085" y="9193"/>
                  </a:cubicBezTo>
                  <a:cubicBezTo>
                    <a:pt x="9037" y="9228"/>
                    <a:pt x="8990" y="9264"/>
                    <a:pt x="8954" y="9288"/>
                  </a:cubicBezTo>
                  <a:cubicBezTo>
                    <a:pt x="8906" y="9324"/>
                    <a:pt x="8871" y="9383"/>
                    <a:pt x="8895" y="9443"/>
                  </a:cubicBezTo>
                  <a:lnTo>
                    <a:pt x="8978" y="10050"/>
                  </a:lnTo>
                  <a:lnTo>
                    <a:pt x="8597" y="10181"/>
                  </a:lnTo>
                  <a:lnTo>
                    <a:pt x="8264" y="9669"/>
                  </a:lnTo>
                  <a:cubicBezTo>
                    <a:pt x="8228" y="9621"/>
                    <a:pt x="8192" y="9585"/>
                    <a:pt x="8133" y="9585"/>
                  </a:cubicBezTo>
                  <a:lnTo>
                    <a:pt x="7954" y="9585"/>
                  </a:lnTo>
                  <a:cubicBezTo>
                    <a:pt x="7894" y="9585"/>
                    <a:pt x="7847" y="9621"/>
                    <a:pt x="7811" y="9669"/>
                  </a:cubicBezTo>
                  <a:lnTo>
                    <a:pt x="7490" y="10181"/>
                  </a:lnTo>
                  <a:lnTo>
                    <a:pt x="7097" y="10050"/>
                  </a:lnTo>
                  <a:lnTo>
                    <a:pt x="7192" y="9443"/>
                  </a:lnTo>
                  <a:cubicBezTo>
                    <a:pt x="7204" y="9383"/>
                    <a:pt x="7180" y="9324"/>
                    <a:pt x="7132" y="9288"/>
                  </a:cubicBezTo>
                  <a:cubicBezTo>
                    <a:pt x="7085" y="9264"/>
                    <a:pt x="7037" y="9216"/>
                    <a:pt x="7001" y="9193"/>
                  </a:cubicBezTo>
                  <a:cubicBezTo>
                    <a:pt x="6970" y="9161"/>
                    <a:pt x="6933" y="9145"/>
                    <a:pt x="6897" y="9145"/>
                  </a:cubicBezTo>
                  <a:cubicBezTo>
                    <a:pt x="6880" y="9145"/>
                    <a:pt x="6863" y="9149"/>
                    <a:pt x="6847" y="9157"/>
                  </a:cubicBezTo>
                  <a:lnTo>
                    <a:pt x="6275" y="9347"/>
                  </a:lnTo>
                  <a:lnTo>
                    <a:pt x="6061" y="8990"/>
                  </a:lnTo>
                  <a:lnTo>
                    <a:pt x="6525" y="8597"/>
                  </a:lnTo>
                  <a:cubicBezTo>
                    <a:pt x="6573" y="8550"/>
                    <a:pt x="6585" y="8502"/>
                    <a:pt x="6573" y="8442"/>
                  </a:cubicBezTo>
                  <a:cubicBezTo>
                    <a:pt x="6549" y="8383"/>
                    <a:pt x="6537" y="8335"/>
                    <a:pt x="6537" y="8276"/>
                  </a:cubicBezTo>
                  <a:cubicBezTo>
                    <a:pt x="6537" y="8216"/>
                    <a:pt x="6489" y="8169"/>
                    <a:pt x="6430" y="8157"/>
                  </a:cubicBezTo>
                  <a:lnTo>
                    <a:pt x="5847" y="7942"/>
                  </a:lnTo>
                  <a:lnTo>
                    <a:pt x="5930" y="7538"/>
                  </a:lnTo>
                  <a:lnTo>
                    <a:pt x="6549" y="7514"/>
                  </a:lnTo>
                  <a:cubicBezTo>
                    <a:pt x="6609" y="7514"/>
                    <a:pt x="6656" y="7490"/>
                    <a:pt x="6680" y="7430"/>
                  </a:cubicBezTo>
                  <a:cubicBezTo>
                    <a:pt x="6716" y="7383"/>
                    <a:pt x="6740" y="7323"/>
                    <a:pt x="6775" y="7276"/>
                  </a:cubicBezTo>
                  <a:cubicBezTo>
                    <a:pt x="6811" y="7240"/>
                    <a:pt x="6811" y="7180"/>
                    <a:pt x="6775" y="7121"/>
                  </a:cubicBezTo>
                  <a:lnTo>
                    <a:pt x="6478" y="6585"/>
                  </a:lnTo>
                  <a:lnTo>
                    <a:pt x="6787" y="6311"/>
                  </a:lnTo>
                  <a:lnTo>
                    <a:pt x="7263" y="6704"/>
                  </a:lnTo>
                  <a:cubicBezTo>
                    <a:pt x="7293" y="6719"/>
                    <a:pt x="7327" y="6729"/>
                    <a:pt x="7363" y="6729"/>
                  </a:cubicBezTo>
                  <a:cubicBezTo>
                    <a:pt x="7385" y="6729"/>
                    <a:pt x="7407" y="6725"/>
                    <a:pt x="7430" y="6716"/>
                  </a:cubicBezTo>
                  <a:cubicBezTo>
                    <a:pt x="7478" y="6704"/>
                    <a:pt x="7537" y="6668"/>
                    <a:pt x="7597" y="6657"/>
                  </a:cubicBezTo>
                  <a:cubicBezTo>
                    <a:pt x="7656" y="6645"/>
                    <a:pt x="7680" y="6597"/>
                    <a:pt x="7704" y="6537"/>
                  </a:cubicBezTo>
                  <a:lnTo>
                    <a:pt x="7823" y="5930"/>
                  </a:lnTo>
                  <a:close/>
                  <a:moveTo>
                    <a:pt x="4454" y="1"/>
                  </a:moveTo>
                  <a:cubicBezTo>
                    <a:pt x="3739" y="1"/>
                    <a:pt x="3025" y="180"/>
                    <a:pt x="2382" y="513"/>
                  </a:cubicBezTo>
                  <a:cubicBezTo>
                    <a:pt x="2310" y="561"/>
                    <a:pt x="2287" y="644"/>
                    <a:pt x="2322" y="715"/>
                  </a:cubicBezTo>
                  <a:cubicBezTo>
                    <a:pt x="2354" y="770"/>
                    <a:pt x="2405" y="799"/>
                    <a:pt x="2458" y="799"/>
                  </a:cubicBezTo>
                  <a:cubicBezTo>
                    <a:pt x="2485" y="799"/>
                    <a:pt x="2512" y="791"/>
                    <a:pt x="2537" y="775"/>
                  </a:cubicBezTo>
                  <a:cubicBezTo>
                    <a:pt x="3132" y="465"/>
                    <a:pt x="3787" y="299"/>
                    <a:pt x="4454" y="299"/>
                  </a:cubicBezTo>
                  <a:cubicBezTo>
                    <a:pt x="6728" y="299"/>
                    <a:pt x="8597" y="2168"/>
                    <a:pt x="8597" y="4442"/>
                  </a:cubicBezTo>
                  <a:cubicBezTo>
                    <a:pt x="8597" y="4847"/>
                    <a:pt x="8537" y="5228"/>
                    <a:pt x="8430" y="5621"/>
                  </a:cubicBezTo>
                  <a:lnTo>
                    <a:pt x="7740" y="5621"/>
                  </a:lnTo>
                  <a:cubicBezTo>
                    <a:pt x="7668" y="5621"/>
                    <a:pt x="7609" y="5656"/>
                    <a:pt x="7597" y="5728"/>
                  </a:cubicBezTo>
                  <a:lnTo>
                    <a:pt x="7466" y="6371"/>
                  </a:lnTo>
                  <a:lnTo>
                    <a:pt x="7442" y="6371"/>
                  </a:lnTo>
                  <a:lnTo>
                    <a:pt x="6942" y="5966"/>
                  </a:lnTo>
                  <a:cubicBezTo>
                    <a:pt x="6912" y="5948"/>
                    <a:pt x="6879" y="5939"/>
                    <a:pt x="6847" y="5939"/>
                  </a:cubicBezTo>
                  <a:cubicBezTo>
                    <a:pt x="6814" y="5939"/>
                    <a:pt x="6781" y="5948"/>
                    <a:pt x="6751" y="5966"/>
                  </a:cubicBezTo>
                  <a:lnTo>
                    <a:pt x="6239" y="6407"/>
                  </a:lnTo>
                  <a:cubicBezTo>
                    <a:pt x="6180" y="6442"/>
                    <a:pt x="6168" y="6537"/>
                    <a:pt x="6216" y="6597"/>
                  </a:cubicBezTo>
                  <a:lnTo>
                    <a:pt x="6525" y="7180"/>
                  </a:lnTo>
                  <a:cubicBezTo>
                    <a:pt x="6525" y="7180"/>
                    <a:pt x="6525" y="7192"/>
                    <a:pt x="6513" y="7192"/>
                  </a:cubicBezTo>
                  <a:lnTo>
                    <a:pt x="5858" y="7204"/>
                  </a:lnTo>
                  <a:cubicBezTo>
                    <a:pt x="5775" y="7204"/>
                    <a:pt x="5716" y="7264"/>
                    <a:pt x="5704" y="7335"/>
                  </a:cubicBezTo>
                  <a:lnTo>
                    <a:pt x="5585" y="7990"/>
                  </a:lnTo>
                  <a:cubicBezTo>
                    <a:pt x="5573" y="8073"/>
                    <a:pt x="5620" y="8145"/>
                    <a:pt x="5680" y="8157"/>
                  </a:cubicBezTo>
                  <a:lnTo>
                    <a:pt x="6013" y="8288"/>
                  </a:lnTo>
                  <a:cubicBezTo>
                    <a:pt x="5525" y="8502"/>
                    <a:pt x="5001" y="8585"/>
                    <a:pt x="4454" y="8585"/>
                  </a:cubicBezTo>
                  <a:cubicBezTo>
                    <a:pt x="2179" y="8585"/>
                    <a:pt x="322" y="6728"/>
                    <a:pt x="322" y="4454"/>
                  </a:cubicBezTo>
                  <a:cubicBezTo>
                    <a:pt x="322" y="3168"/>
                    <a:pt x="894" y="2001"/>
                    <a:pt x="1894" y="1203"/>
                  </a:cubicBezTo>
                  <a:cubicBezTo>
                    <a:pt x="1965" y="1144"/>
                    <a:pt x="1965" y="1061"/>
                    <a:pt x="1929" y="989"/>
                  </a:cubicBezTo>
                  <a:cubicBezTo>
                    <a:pt x="1895" y="942"/>
                    <a:pt x="1850" y="921"/>
                    <a:pt x="1804" y="921"/>
                  </a:cubicBezTo>
                  <a:cubicBezTo>
                    <a:pt x="1769" y="921"/>
                    <a:pt x="1734" y="933"/>
                    <a:pt x="1703" y="953"/>
                  </a:cubicBezTo>
                  <a:cubicBezTo>
                    <a:pt x="632" y="1799"/>
                    <a:pt x="1" y="3085"/>
                    <a:pt x="1" y="4454"/>
                  </a:cubicBezTo>
                  <a:cubicBezTo>
                    <a:pt x="1" y="5645"/>
                    <a:pt x="465" y="6764"/>
                    <a:pt x="1298" y="7597"/>
                  </a:cubicBezTo>
                  <a:cubicBezTo>
                    <a:pt x="2132" y="8431"/>
                    <a:pt x="3251" y="8883"/>
                    <a:pt x="4442" y="8883"/>
                  </a:cubicBezTo>
                  <a:cubicBezTo>
                    <a:pt x="5001" y="8883"/>
                    <a:pt x="5537" y="8788"/>
                    <a:pt x="6049" y="8585"/>
                  </a:cubicBezTo>
                  <a:lnTo>
                    <a:pt x="6049" y="8585"/>
                  </a:lnTo>
                  <a:lnTo>
                    <a:pt x="5775" y="8823"/>
                  </a:lnTo>
                  <a:cubicBezTo>
                    <a:pt x="5716" y="8871"/>
                    <a:pt x="5704" y="8966"/>
                    <a:pt x="5751" y="9026"/>
                  </a:cubicBezTo>
                  <a:lnTo>
                    <a:pt x="6073" y="9585"/>
                  </a:lnTo>
                  <a:cubicBezTo>
                    <a:pt x="6101" y="9632"/>
                    <a:pt x="6158" y="9664"/>
                    <a:pt x="6211" y="9664"/>
                  </a:cubicBezTo>
                  <a:cubicBezTo>
                    <a:pt x="6225" y="9664"/>
                    <a:pt x="6239" y="9662"/>
                    <a:pt x="6251" y="9657"/>
                  </a:cubicBezTo>
                  <a:lnTo>
                    <a:pt x="6882" y="9455"/>
                  </a:lnTo>
                  <a:cubicBezTo>
                    <a:pt x="6882" y="9455"/>
                    <a:pt x="6894" y="9455"/>
                    <a:pt x="6894" y="9466"/>
                  </a:cubicBezTo>
                  <a:lnTo>
                    <a:pt x="6787" y="10121"/>
                  </a:lnTo>
                  <a:cubicBezTo>
                    <a:pt x="6775" y="10193"/>
                    <a:pt x="6823" y="10276"/>
                    <a:pt x="6894" y="10288"/>
                  </a:cubicBezTo>
                  <a:lnTo>
                    <a:pt x="7525" y="10514"/>
                  </a:lnTo>
                  <a:cubicBezTo>
                    <a:pt x="7537" y="10514"/>
                    <a:pt x="7549" y="10526"/>
                    <a:pt x="7585" y="10526"/>
                  </a:cubicBezTo>
                  <a:cubicBezTo>
                    <a:pt x="7644" y="10526"/>
                    <a:pt x="7680" y="10490"/>
                    <a:pt x="7716" y="10455"/>
                  </a:cubicBezTo>
                  <a:lnTo>
                    <a:pt x="8061" y="9883"/>
                  </a:lnTo>
                  <a:lnTo>
                    <a:pt x="8073" y="9883"/>
                  </a:lnTo>
                  <a:lnTo>
                    <a:pt x="8418" y="10455"/>
                  </a:lnTo>
                  <a:cubicBezTo>
                    <a:pt x="8445" y="10499"/>
                    <a:pt x="8497" y="10523"/>
                    <a:pt x="8547" y="10523"/>
                  </a:cubicBezTo>
                  <a:cubicBezTo>
                    <a:pt x="8565" y="10523"/>
                    <a:pt x="8582" y="10520"/>
                    <a:pt x="8597" y="10514"/>
                  </a:cubicBezTo>
                  <a:lnTo>
                    <a:pt x="9216" y="10288"/>
                  </a:lnTo>
                  <a:cubicBezTo>
                    <a:pt x="9287" y="10252"/>
                    <a:pt x="9323" y="10193"/>
                    <a:pt x="9323" y="10121"/>
                  </a:cubicBezTo>
                  <a:lnTo>
                    <a:pt x="9216" y="9466"/>
                  </a:lnTo>
                  <a:cubicBezTo>
                    <a:pt x="9216" y="9466"/>
                    <a:pt x="9228" y="9466"/>
                    <a:pt x="9228" y="9455"/>
                  </a:cubicBezTo>
                  <a:lnTo>
                    <a:pt x="9859" y="9657"/>
                  </a:lnTo>
                  <a:cubicBezTo>
                    <a:pt x="9878" y="9666"/>
                    <a:pt x="9897" y="9671"/>
                    <a:pt x="9916" y="9671"/>
                  </a:cubicBezTo>
                  <a:cubicBezTo>
                    <a:pt x="9966" y="9671"/>
                    <a:pt x="10011" y="9638"/>
                    <a:pt x="10038" y="9585"/>
                  </a:cubicBezTo>
                  <a:lnTo>
                    <a:pt x="10359" y="9026"/>
                  </a:lnTo>
                  <a:cubicBezTo>
                    <a:pt x="10395" y="8966"/>
                    <a:pt x="10395" y="8871"/>
                    <a:pt x="10335" y="8823"/>
                  </a:cubicBezTo>
                  <a:lnTo>
                    <a:pt x="9847" y="8395"/>
                  </a:lnTo>
                  <a:lnTo>
                    <a:pt x="9847" y="8383"/>
                  </a:lnTo>
                  <a:lnTo>
                    <a:pt x="10454" y="8145"/>
                  </a:lnTo>
                  <a:cubicBezTo>
                    <a:pt x="10460" y="8146"/>
                    <a:pt x="10465" y="8146"/>
                    <a:pt x="10470" y="8146"/>
                  </a:cubicBezTo>
                  <a:cubicBezTo>
                    <a:pt x="10532" y="8146"/>
                    <a:pt x="10572" y="8080"/>
                    <a:pt x="10561" y="8014"/>
                  </a:cubicBezTo>
                  <a:lnTo>
                    <a:pt x="10442" y="7359"/>
                  </a:lnTo>
                  <a:cubicBezTo>
                    <a:pt x="10419" y="7288"/>
                    <a:pt x="10359" y="7240"/>
                    <a:pt x="10288" y="7228"/>
                  </a:cubicBezTo>
                  <a:lnTo>
                    <a:pt x="9633" y="7204"/>
                  </a:lnTo>
                  <a:cubicBezTo>
                    <a:pt x="9633" y="7204"/>
                    <a:pt x="9633" y="7192"/>
                    <a:pt x="9621" y="7192"/>
                  </a:cubicBezTo>
                  <a:lnTo>
                    <a:pt x="9930" y="6609"/>
                  </a:lnTo>
                  <a:cubicBezTo>
                    <a:pt x="9966" y="6549"/>
                    <a:pt x="9942" y="6466"/>
                    <a:pt x="9907" y="6418"/>
                  </a:cubicBezTo>
                  <a:lnTo>
                    <a:pt x="9395" y="5990"/>
                  </a:lnTo>
                  <a:cubicBezTo>
                    <a:pt x="9365" y="5966"/>
                    <a:pt x="9332" y="5954"/>
                    <a:pt x="9299" y="5954"/>
                  </a:cubicBezTo>
                  <a:cubicBezTo>
                    <a:pt x="9267" y="5954"/>
                    <a:pt x="9234" y="5966"/>
                    <a:pt x="9204" y="5990"/>
                  </a:cubicBezTo>
                  <a:lnTo>
                    <a:pt x="8692" y="6395"/>
                  </a:lnTo>
                  <a:lnTo>
                    <a:pt x="8680" y="6395"/>
                  </a:lnTo>
                  <a:lnTo>
                    <a:pt x="8609" y="6049"/>
                  </a:lnTo>
                  <a:lnTo>
                    <a:pt x="8609" y="6037"/>
                  </a:lnTo>
                  <a:cubicBezTo>
                    <a:pt x="8799" y="5525"/>
                    <a:pt x="8895" y="5002"/>
                    <a:pt x="8895" y="4454"/>
                  </a:cubicBezTo>
                  <a:cubicBezTo>
                    <a:pt x="8895" y="3263"/>
                    <a:pt x="8430" y="2144"/>
                    <a:pt x="7597" y="1311"/>
                  </a:cubicBezTo>
                  <a:cubicBezTo>
                    <a:pt x="6763" y="477"/>
                    <a:pt x="5644" y="1"/>
                    <a:pt x="4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6758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1424D3-9CD5-57CB-1259-03FE1F1F12B3}"/>
              </a:ext>
            </a:extLst>
          </p:cNvPr>
          <p:cNvSpPr>
            <a:spLocks noGrp="1"/>
          </p:cNvSpPr>
          <p:nvPr>
            <p:ph type="title"/>
          </p:nvPr>
        </p:nvSpPr>
        <p:spPr/>
        <p:txBody>
          <a:bodyPr/>
          <a:lstStyle/>
          <a:p>
            <a:r>
              <a:rPr lang="de-DE" dirty="0">
                <a:solidFill>
                  <a:srgbClr val="0070C0"/>
                </a:solidFill>
              </a:rPr>
              <a:t>Nutzwertanalyse – Allgemeines</a:t>
            </a:r>
          </a:p>
        </p:txBody>
      </p:sp>
      <p:sp>
        <p:nvSpPr>
          <p:cNvPr id="4" name="Untertitel 3">
            <a:extLst>
              <a:ext uri="{FF2B5EF4-FFF2-40B4-BE49-F238E27FC236}">
                <a16:creationId xmlns:a16="http://schemas.microsoft.com/office/drawing/2014/main" id="{C5F4D1E1-9605-4972-1E7C-8CB956FB2C03}"/>
              </a:ext>
            </a:extLst>
          </p:cNvPr>
          <p:cNvSpPr>
            <a:spLocks noGrp="1"/>
          </p:cNvSpPr>
          <p:nvPr>
            <p:ph type="subTitle" idx="2"/>
          </p:nvPr>
        </p:nvSpPr>
        <p:spPr/>
        <p:txBody>
          <a:bodyPr/>
          <a:lstStyle/>
          <a:p>
            <a:r>
              <a:rPr lang="de-DE" sz="1400" dirty="0">
                <a:solidFill>
                  <a:srgbClr val="000000"/>
                </a:solidFill>
              </a:rPr>
              <a:t>Kriterien</a:t>
            </a:r>
          </a:p>
          <a:p>
            <a:r>
              <a:rPr lang="de-DE" sz="1400" dirty="0">
                <a:solidFill>
                  <a:srgbClr val="000000"/>
                </a:solidFill>
              </a:rPr>
              <a:t>Gewichtung</a:t>
            </a:r>
          </a:p>
          <a:p>
            <a:r>
              <a:rPr lang="de-DE" sz="1400" dirty="0">
                <a:solidFill>
                  <a:srgbClr val="000000"/>
                </a:solidFill>
              </a:rPr>
              <a:t>Bewertung</a:t>
            </a:r>
          </a:p>
        </p:txBody>
      </p:sp>
      <p:sp>
        <p:nvSpPr>
          <p:cNvPr id="5" name="Untertitel 4">
            <a:extLst>
              <a:ext uri="{FF2B5EF4-FFF2-40B4-BE49-F238E27FC236}">
                <a16:creationId xmlns:a16="http://schemas.microsoft.com/office/drawing/2014/main" id="{D280FBB3-5915-FE67-ED06-EF065AD33B8E}"/>
              </a:ext>
            </a:extLst>
          </p:cNvPr>
          <p:cNvSpPr>
            <a:spLocks noGrp="1"/>
          </p:cNvSpPr>
          <p:nvPr>
            <p:ph type="subTitle" idx="3"/>
          </p:nvPr>
        </p:nvSpPr>
        <p:spPr>
          <a:xfrm>
            <a:off x="5797446" y="2848775"/>
            <a:ext cx="2919412" cy="1587900"/>
          </a:xfrm>
        </p:spPr>
        <p:txBody>
          <a:bodyPr/>
          <a:lstStyle/>
          <a:p>
            <a:r>
              <a:rPr lang="de-DE" sz="1400" dirty="0">
                <a:solidFill>
                  <a:srgbClr val="000000"/>
                </a:solidFill>
              </a:rPr>
              <a:t>+ nicht monetäre Einflüsse</a:t>
            </a:r>
          </a:p>
          <a:p>
            <a:r>
              <a:rPr lang="de-DE" sz="1400" dirty="0">
                <a:solidFill>
                  <a:srgbClr val="000000"/>
                </a:solidFill>
              </a:rPr>
              <a:t>- subjektiv</a:t>
            </a:r>
          </a:p>
          <a:p>
            <a:r>
              <a:rPr lang="de-DE" sz="1400" dirty="0">
                <a:solidFill>
                  <a:srgbClr val="000000"/>
                </a:solidFill>
              </a:rPr>
              <a:t>=&gt; mehrere Versionen</a:t>
            </a:r>
          </a:p>
        </p:txBody>
      </p:sp>
      <p:sp>
        <p:nvSpPr>
          <p:cNvPr id="6" name="Untertitel 5">
            <a:extLst>
              <a:ext uri="{FF2B5EF4-FFF2-40B4-BE49-F238E27FC236}">
                <a16:creationId xmlns:a16="http://schemas.microsoft.com/office/drawing/2014/main" id="{4B2AEB81-7A7E-6D06-C524-C79960AE8E7A}"/>
              </a:ext>
            </a:extLst>
          </p:cNvPr>
          <p:cNvSpPr>
            <a:spLocks noGrp="1"/>
          </p:cNvSpPr>
          <p:nvPr>
            <p:ph type="subTitle" idx="4"/>
          </p:nvPr>
        </p:nvSpPr>
        <p:spPr>
          <a:xfrm>
            <a:off x="341317" y="2353959"/>
            <a:ext cx="3091066" cy="495300"/>
          </a:xfrm>
        </p:spPr>
        <p:txBody>
          <a:bodyPr/>
          <a:lstStyle/>
          <a:p>
            <a:r>
              <a:rPr lang="de-DE" dirty="0">
                <a:solidFill>
                  <a:srgbClr val="0070C0"/>
                </a:solidFill>
              </a:rPr>
              <a:t>Entscheidungsfindung</a:t>
            </a:r>
          </a:p>
        </p:txBody>
      </p:sp>
      <p:sp>
        <p:nvSpPr>
          <p:cNvPr id="7" name="Untertitel 6">
            <a:extLst>
              <a:ext uri="{FF2B5EF4-FFF2-40B4-BE49-F238E27FC236}">
                <a16:creationId xmlns:a16="http://schemas.microsoft.com/office/drawing/2014/main" id="{82FAD509-2388-B775-1BFF-385F21FA04DF}"/>
              </a:ext>
            </a:extLst>
          </p:cNvPr>
          <p:cNvSpPr>
            <a:spLocks noGrp="1"/>
          </p:cNvSpPr>
          <p:nvPr>
            <p:ph type="subTitle" idx="5"/>
          </p:nvPr>
        </p:nvSpPr>
        <p:spPr/>
        <p:txBody>
          <a:bodyPr/>
          <a:lstStyle/>
          <a:p>
            <a:r>
              <a:rPr lang="de-DE" dirty="0">
                <a:solidFill>
                  <a:srgbClr val="0070C0"/>
                </a:solidFill>
              </a:rPr>
              <a:t>Aufbau</a:t>
            </a:r>
          </a:p>
        </p:txBody>
      </p:sp>
      <p:sp>
        <p:nvSpPr>
          <p:cNvPr id="8" name="Untertitel 7">
            <a:extLst>
              <a:ext uri="{FF2B5EF4-FFF2-40B4-BE49-F238E27FC236}">
                <a16:creationId xmlns:a16="http://schemas.microsoft.com/office/drawing/2014/main" id="{4F83F358-F4AB-8B31-CC5B-FBF83CDDE027}"/>
              </a:ext>
            </a:extLst>
          </p:cNvPr>
          <p:cNvSpPr>
            <a:spLocks noGrp="1"/>
          </p:cNvSpPr>
          <p:nvPr>
            <p:ph type="subTitle" idx="6"/>
          </p:nvPr>
        </p:nvSpPr>
        <p:spPr/>
        <p:txBody>
          <a:bodyPr/>
          <a:lstStyle/>
          <a:p>
            <a:r>
              <a:rPr lang="de-DE" dirty="0">
                <a:solidFill>
                  <a:srgbClr val="0070C0"/>
                </a:solidFill>
              </a:rPr>
              <a:t>Vor- &amp; Nachteile</a:t>
            </a:r>
          </a:p>
        </p:txBody>
      </p:sp>
      <p:sp>
        <p:nvSpPr>
          <p:cNvPr id="9" name="Untertitel 3">
            <a:extLst>
              <a:ext uri="{FF2B5EF4-FFF2-40B4-BE49-F238E27FC236}">
                <a16:creationId xmlns:a16="http://schemas.microsoft.com/office/drawing/2014/main" id="{1A62B6DB-AD32-7082-DCDF-0BBA362A1C27}"/>
              </a:ext>
            </a:extLst>
          </p:cNvPr>
          <p:cNvSpPr txBox="1">
            <a:spLocks/>
          </p:cNvSpPr>
          <p:nvPr/>
        </p:nvSpPr>
        <p:spPr>
          <a:xfrm>
            <a:off x="473186" y="2848775"/>
            <a:ext cx="2431876" cy="1587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1pPr>
            <a:lvl2pPr marL="914400" marR="0" lvl="1"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2pPr>
            <a:lvl3pPr marL="1371600" marR="0" lvl="2"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3pPr>
            <a:lvl4pPr marL="1828800" marR="0" lvl="3"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4pPr>
            <a:lvl5pPr marL="2286000" marR="0" lvl="4"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5pPr>
            <a:lvl6pPr marL="2743200" marR="0" lvl="5"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6pPr>
            <a:lvl7pPr marL="3200400" marR="0" lvl="6"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7pPr>
            <a:lvl8pPr marL="3657600" marR="0" lvl="7"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8pPr>
            <a:lvl9pPr marL="4114800" marR="0" lvl="8" indent="-304800" algn="ctr" rtl="0">
              <a:lnSpc>
                <a:spcPct val="100000"/>
              </a:lnSpc>
              <a:spcBef>
                <a:spcPts val="0"/>
              </a:spcBef>
              <a:spcAft>
                <a:spcPts val="0"/>
              </a:spcAft>
              <a:buClr>
                <a:schemeClr val="dk1"/>
              </a:buClr>
              <a:buSzPts val="1200"/>
              <a:buFont typeface="Roboto"/>
              <a:buNone/>
              <a:defRPr sz="1200" b="0" i="0" u="none" strike="noStrike" cap="none">
                <a:solidFill>
                  <a:schemeClr val="dk1"/>
                </a:solidFill>
                <a:latin typeface="Roboto"/>
                <a:ea typeface="Roboto"/>
                <a:cs typeface="Roboto"/>
                <a:sym typeface="Roboto"/>
              </a:defRPr>
            </a:lvl9pPr>
          </a:lstStyle>
          <a:p>
            <a:r>
              <a:rPr lang="de-DE" sz="1400" dirty="0">
                <a:solidFill>
                  <a:srgbClr val="000000"/>
                </a:solidFill>
              </a:rPr>
              <a:t>Gegenüberstellung </a:t>
            </a:r>
            <a:r>
              <a:rPr lang="de-DE" sz="1400">
                <a:solidFill>
                  <a:srgbClr val="000000"/>
                </a:solidFill>
              </a:rPr>
              <a:t>mehrerer Optionen </a:t>
            </a:r>
            <a:r>
              <a:rPr lang="de-DE" sz="1400">
                <a:solidFill>
                  <a:schemeClr val="bg1"/>
                </a:solidFill>
              </a:rPr>
              <a:t> </a:t>
            </a:r>
            <a:r>
              <a:rPr lang="de-DE" sz="1400" dirty="0" err="1">
                <a:solidFill>
                  <a:schemeClr val="bg1"/>
                </a:solidFill>
              </a:rPr>
              <a:t>aa</a:t>
            </a:r>
            <a:endParaRPr lang="de-DE" sz="1400" dirty="0">
              <a:solidFill>
                <a:schemeClr val="bg1"/>
              </a:solidFill>
            </a:endParaRPr>
          </a:p>
        </p:txBody>
      </p:sp>
    </p:spTree>
    <p:extLst>
      <p:ext uri="{BB962C8B-B14F-4D97-AF65-F5344CB8AC3E}">
        <p14:creationId xmlns:p14="http://schemas.microsoft.com/office/powerpoint/2010/main" val="1192513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0070C0"/>
                </a:solidFill>
              </a:rPr>
              <a:t>Nutzwertanalyse – Verkaufsplattform</a:t>
            </a:r>
            <a:endParaRPr dirty="0">
              <a:solidFill>
                <a:srgbClr val="0070C0"/>
              </a:solidFill>
            </a:endParaRPr>
          </a:p>
        </p:txBody>
      </p:sp>
      <p:cxnSp>
        <p:nvCxnSpPr>
          <p:cNvPr id="425" name="Google Shape;425;p43"/>
          <p:cNvCxnSpPr/>
          <p:nvPr/>
        </p:nvCxnSpPr>
        <p:spPr>
          <a:xfrm>
            <a:off x="929975" y="0"/>
            <a:ext cx="0" cy="534600"/>
          </a:xfrm>
          <a:prstGeom prst="straightConnector1">
            <a:avLst/>
          </a:prstGeom>
          <a:noFill/>
          <a:ln w="28575" cap="flat" cmpd="sng">
            <a:solidFill>
              <a:srgbClr val="0070C0"/>
            </a:solidFill>
            <a:prstDash val="solid"/>
            <a:round/>
            <a:headEnd type="none" w="med" len="med"/>
            <a:tailEnd type="none" w="med" len="med"/>
          </a:ln>
        </p:spPr>
      </p:cxnSp>
      <p:sp>
        <p:nvSpPr>
          <p:cNvPr id="12" name="Textfeld 11">
            <a:extLst>
              <a:ext uri="{FF2B5EF4-FFF2-40B4-BE49-F238E27FC236}">
                <a16:creationId xmlns:a16="http://schemas.microsoft.com/office/drawing/2014/main" id="{674D23B0-D8C6-B248-9826-2D2E240188B4}"/>
              </a:ext>
            </a:extLst>
          </p:cNvPr>
          <p:cNvSpPr txBox="1"/>
          <p:nvPr/>
        </p:nvSpPr>
        <p:spPr>
          <a:xfrm>
            <a:off x="720126" y="1262695"/>
            <a:ext cx="5878901" cy="3266985"/>
          </a:xfrm>
          <a:prstGeom prst="rect">
            <a:avLst/>
          </a:prstGeom>
          <a:noFill/>
        </p:spPr>
        <p:txBody>
          <a:bodyPr wrap="square" rtlCol="0">
            <a:spAutoFit/>
          </a:bodyPr>
          <a:lstStyle/>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Kosten</a:t>
            </a:r>
          </a:p>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Logistischer Aufwand</a:t>
            </a:r>
          </a:p>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Rücksendungen</a:t>
            </a:r>
          </a:p>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Kompatibilität mit Stückzahlgröße</a:t>
            </a:r>
          </a:p>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Benutzerfreundlichkeit</a:t>
            </a:r>
          </a:p>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Unterstützung</a:t>
            </a:r>
          </a:p>
          <a:p>
            <a:pPr>
              <a:lnSpc>
                <a:spcPct val="150000"/>
              </a:lnSpc>
            </a:pPr>
            <a:r>
              <a:rPr lang="de-DE" sz="2000" dirty="0">
                <a:solidFill>
                  <a:srgbClr val="0070C0"/>
                </a:solidFill>
                <a:latin typeface="Urbanist" panose="020B0604020202020204" charset="0"/>
                <a:ea typeface="Roboto" panose="02000000000000000000" pitchFamily="2" charset="0"/>
                <a:cs typeface="Urbanist" panose="020B0604020202020204" charset="0"/>
              </a:rPr>
              <a:t>Anpassbarkeit</a:t>
            </a:r>
            <a:endParaRPr lang="de-DE" dirty="0">
              <a:solidFill>
                <a:srgbClr val="0070C0"/>
              </a:solidFill>
              <a:latin typeface="Urbanist" panose="020B0604020202020204" charset="0"/>
              <a:ea typeface="Roboto" panose="02000000000000000000" pitchFamily="2" charset="0"/>
              <a:cs typeface="Urbanist" panose="020B0604020202020204" charset="0"/>
            </a:endParaRPr>
          </a:p>
        </p:txBody>
      </p:sp>
    </p:spTree>
    <p:extLst>
      <p:ext uri="{BB962C8B-B14F-4D97-AF65-F5344CB8AC3E}">
        <p14:creationId xmlns:p14="http://schemas.microsoft.com/office/powerpoint/2010/main" val="1878160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720000" y="3979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Nutzwertanalyse – Trending</a:t>
            </a:r>
            <a:endParaRPr dirty="0">
              <a:solidFill>
                <a:srgbClr val="0070C0"/>
              </a:solidFill>
            </a:endParaRPr>
          </a:p>
        </p:txBody>
      </p:sp>
      <p:pic>
        <p:nvPicPr>
          <p:cNvPr id="10" name="Grafik 9">
            <a:extLst>
              <a:ext uri="{FF2B5EF4-FFF2-40B4-BE49-F238E27FC236}">
                <a16:creationId xmlns:a16="http://schemas.microsoft.com/office/drawing/2014/main" id="{714313BF-A826-0A7B-607A-19929AC8F935}"/>
              </a:ext>
            </a:extLst>
          </p:cNvPr>
          <p:cNvPicPr>
            <a:picLocks noChangeAspect="1"/>
          </p:cNvPicPr>
          <p:nvPr/>
        </p:nvPicPr>
        <p:blipFill>
          <a:blip r:embed="rId4"/>
          <a:stretch>
            <a:fillRect/>
          </a:stretch>
        </p:blipFill>
        <p:spPr>
          <a:xfrm>
            <a:off x="1522082" y="1425959"/>
            <a:ext cx="6099836" cy="3453864"/>
          </a:xfrm>
          <a:prstGeom prst="rect">
            <a:avLst/>
          </a:prstGeom>
        </p:spPr>
      </p:pic>
    </p:spTree>
    <p:extLst>
      <p:ext uri="{BB962C8B-B14F-4D97-AF65-F5344CB8AC3E}">
        <p14:creationId xmlns:p14="http://schemas.microsoft.com/office/powerpoint/2010/main" val="3600197504"/>
      </p:ext>
    </p:extLst>
  </p:cSld>
  <p:clrMapOvr>
    <a:overrideClrMapping bg1="lt1" tx1="dk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Nutzwertanalyse – Ergebnisse</a:t>
            </a:r>
            <a:endParaRPr dirty="0">
              <a:solidFill>
                <a:srgbClr val="0070C0"/>
              </a:solidFill>
            </a:endParaRPr>
          </a:p>
        </p:txBody>
      </p:sp>
      <p:sp>
        <p:nvSpPr>
          <p:cNvPr id="279" name="Google Shape;279;p34"/>
          <p:cNvSpPr txBox="1">
            <a:spLocks noGrp="1"/>
          </p:cNvSpPr>
          <p:nvPr>
            <p:ph type="subTitle" idx="1"/>
          </p:nvPr>
        </p:nvSpPr>
        <p:spPr>
          <a:xfrm>
            <a:off x="287748" y="2574452"/>
            <a:ext cx="2551368" cy="1163400"/>
          </a:xfrm>
          <a:prstGeom prst="rect">
            <a:avLst/>
          </a:prstGeom>
        </p:spPr>
        <p:txBody>
          <a:bodyPr spcFirstLastPara="1" wrap="square" lIns="91425" tIns="91425" rIns="91425" bIns="91425" anchor="t" anchorCtr="0">
            <a:noAutofit/>
          </a:bodyPr>
          <a:lstStyle/>
          <a:p>
            <a:pPr marL="457200" lvl="1" indent="0" algn="l">
              <a:buClrTx/>
            </a:pPr>
            <a:r>
              <a:rPr lang="de-DE" sz="1400" dirty="0">
                <a:solidFill>
                  <a:srgbClr val="000000"/>
                </a:solidFill>
              </a:rPr>
              <a:t>Amazon: 246 Punkte</a:t>
            </a:r>
          </a:p>
          <a:p>
            <a:pPr marL="457200" lvl="1" indent="0" algn="l">
              <a:buClrTx/>
            </a:pPr>
            <a:r>
              <a:rPr lang="de-DE" sz="1400" dirty="0">
                <a:solidFill>
                  <a:srgbClr val="000000"/>
                </a:solidFill>
              </a:rPr>
              <a:t>Etsy: 181 Punkte</a:t>
            </a:r>
          </a:p>
          <a:p>
            <a:pPr marL="457200" lvl="1" indent="0" algn="l">
              <a:buClrTx/>
            </a:pPr>
            <a:r>
              <a:rPr lang="de-DE" sz="1400" dirty="0">
                <a:solidFill>
                  <a:srgbClr val="000000"/>
                </a:solidFill>
              </a:rPr>
              <a:t>Onlineshop: 207 Punkte</a:t>
            </a:r>
            <a:endParaRPr sz="1400" dirty="0">
              <a:solidFill>
                <a:srgbClr val="000000"/>
              </a:solidFill>
            </a:endParaRPr>
          </a:p>
        </p:txBody>
      </p:sp>
      <p:sp>
        <p:nvSpPr>
          <p:cNvPr id="280" name="Google Shape;280;p34"/>
          <p:cNvSpPr txBox="1">
            <a:spLocks noGrp="1"/>
          </p:cNvSpPr>
          <p:nvPr>
            <p:ph type="subTitle" idx="2"/>
          </p:nvPr>
        </p:nvSpPr>
        <p:spPr>
          <a:xfrm>
            <a:off x="3124470" y="2574452"/>
            <a:ext cx="2563080" cy="1163400"/>
          </a:xfrm>
          <a:prstGeom prst="rect">
            <a:avLst/>
          </a:prstGeom>
        </p:spPr>
        <p:txBody>
          <a:bodyPr spcFirstLastPara="1" wrap="square" lIns="91425" tIns="91425" rIns="91425" bIns="91425" anchor="t" anchorCtr="0">
            <a:noAutofit/>
          </a:bodyPr>
          <a:lstStyle/>
          <a:p>
            <a:pPr marL="457200" lvl="1" indent="0" algn="l">
              <a:buClrTx/>
            </a:pPr>
            <a:r>
              <a:rPr lang="de-DE" sz="1400" dirty="0">
                <a:solidFill>
                  <a:srgbClr val="000000"/>
                </a:solidFill>
              </a:rPr>
              <a:t>Amazon: 213 Punkte</a:t>
            </a:r>
          </a:p>
          <a:p>
            <a:pPr marL="457200" lvl="1" indent="0" algn="l">
              <a:buClrTx/>
            </a:pPr>
            <a:r>
              <a:rPr lang="de-DE" sz="1400" dirty="0">
                <a:solidFill>
                  <a:srgbClr val="000000"/>
                </a:solidFill>
              </a:rPr>
              <a:t>Etsy: 207 Punkte</a:t>
            </a:r>
          </a:p>
          <a:p>
            <a:pPr marL="457200" lvl="1" indent="0" algn="l">
              <a:buClrTx/>
            </a:pPr>
            <a:r>
              <a:rPr lang="de-DE" sz="1400" dirty="0">
                <a:solidFill>
                  <a:srgbClr val="000000"/>
                </a:solidFill>
              </a:rPr>
              <a:t>Onlineshop: 199 Punkte</a:t>
            </a:r>
          </a:p>
        </p:txBody>
      </p:sp>
      <p:sp>
        <p:nvSpPr>
          <p:cNvPr id="283" name="Google Shape;283;p34"/>
          <p:cNvSpPr txBox="1">
            <a:spLocks noGrp="1"/>
          </p:cNvSpPr>
          <p:nvPr>
            <p:ph type="subTitle" idx="7"/>
          </p:nvPr>
        </p:nvSpPr>
        <p:spPr>
          <a:xfrm>
            <a:off x="446682" y="1837803"/>
            <a:ext cx="22335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Basic</a:t>
            </a:r>
            <a:endParaRPr dirty="0">
              <a:solidFill>
                <a:srgbClr val="0070C0"/>
              </a:solidFill>
            </a:endParaRPr>
          </a:p>
        </p:txBody>
      </p:sp>
      <p:sp>
        <p:nvSpPr>
          <p:cNvPr id="284" name="Google Shape;284;p34"/>
          <p:cNvSpPr txBox="1">
            <a:spLocks noGrp="1"/>
          </p:cNvSpPr>
          <p:nvPr>
            <p:ph type="subTitle" idx="8"/>
          </p:nvPr>
        </p:nvSpPr>
        <p:spPr>
          <a:xfrm>
            <a:off x="3456450" y="1837803"/>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Trending</a:t>
            </a:r>
            <a:endParaRPr dirty="0">
              <a:solidFill>
                <a:srgbClr val="0070C0"/>
              </a:solidFill>
            </a:endParaRPr>
          </a:p>
        </p:txBody>
      </p:sp>
      <p:sp>
        <p:nvSpPr>
          <p:cNvPr id="285" name="Google Shape;285;p34"/>
          <p:cNvSpPr txBox="1">
            <a:spLocks noGrp="1"/>
          </p:cNvSpPr>
          <p:nvPr>
            <p:ph type="subTitle" idx="9"/>
          </p:nvPr>
        </p:nvSpPr>
        <p:spPr>
          <a:xfrm>
            <a:off x="6107371" y="1837803"/>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Personal</a:t>
            </a:r>
            <a:endParaRPr dirty="0">
              <a:solidFill>
                <a:srgbClr val="0070C0"/>
              </a:solidFill>
            </a:endParaRPr>
          </a:p>
        </p:txBody>
      </p:sp>
      <p:sp>
        <p:nvSpPr>
          <p:cNvPr id="286" name="Google Shape;286;p34"/>
          <p:cNvSpPr txBox="1">
            <a:spLocks noGrp="1"/>
          </p:cNvSpPr>
          <p:nvPr>
            <p:ph type="subTitle" idx="5"/>
          </p:nvPr>
        </p:nvSpPr>
        <p:spPr>
          <a:xfrm>
            <a:off x="5915707" y="2574452"/>
            <a:ext cx="2614429" cy="1163400"/>
          </a:xfrm>
          <a:prstGeom prst="rect">
            <a:avLst/>
          </a:prstGeom>
        </p:spPr>
        <p:txBody>
          <a:bodyPr spcFirstLastPara="1" wrap="square" lIns="91425" tIns="91425" rIns="91425" bIns="91425" anchor="t" anchorCtr="0">
            <a:noAutofit/>
          </a:bodyPr>
          <a:lstStyle/>
          <a:p>
            <a:pPr marL="457200" lvl="1" indent="0" algn="l">
              <a:buClrTx/>
            </a:pPr>
            <a:r>
              <a:rPr lang="de-DE" sz="1400" dirty="0">
                <a:solidFill>
                  <a:srgbClr val="000000"/>
                </a:solidFill>
              </a:rPr>
              <a:t>Amazon: 179 Punkte</a:t>
            </a:r>
          </a:p>
          <a:p>
            <a:pPr marL="457200" lvl="1" indent="0" algn="l">
              <a:buClrTx/>
            </a:pPr>
            <a:r>
              <a:rPr lang="de-DE" sz="1400" dirty="0">
                <a:solidFill>
                  <a:srgbClr val="000000"/>
                </a:solidFill>
              </a:rPr>
              <a:t>Etsy: 199 Punkte</a:t>
            </a:r>
          </a:p>
          <a:p>
            <a:pPr marL="457200" lvl="1" indent="0" algn="l">
              <a:buClrTx/>
            </a:pPr>
            <a:r>
              <a:rPr lang="de-DE" sz="1400" dirty="0">
                <a:solidFill>
                  <a:srgbClr val="000000"/>
                </a:solidFill>
              </a:rPr>
              <a:t>Onlineshop: 256 Punkte</a:t>
            </a:r>
          </a:p>
        </p:txBody>
      </p:sp>
      <p:cxnSp>
        <p:nvCxnSpPr>
          <p:cNvPr id="291" name="Google Shape;291;p34"/>
          <p:cNvCxnSpPr>
            <a:endCxn id="278" idx="0"/>
          </p:cNvCxnSpPr>
          <p:nvPr/>
        </p:nvCxnSpPr>
        <p:spPr>
          <a:xfrm>
            <a:off x="4572000" y="-45475"/>
            <a:ext cx="0" cy="490500"/>
          </a:xfrm>
          <a:prstGeom prst="straightConnector1">
            <a:avLst/>
          </a:prstGeom>
          <a:noFill/>
          <a:ln w="28575" cap="flat" cmpd="sng">
            <a:solidFill>
              <a:srgbClr val="0070C0"/>
            </a:solidFill>
            <a:prstDash val="solid"/>
            <a:round/>
            <a:headEnd type="none" w="med" len="med"/>
            <a:tailEnd type="none" w="med" len="med"/>
          </a:ln>
        </p:spPr>
      </p:cxnSp>
      <p:cxnSp>
        <p:nvCxnSpPr>
          <p:cNvPr id="292" name="Google Shape;292;p34"/>
          <p:cNvCxnSpPr>
            <a:cxnSpLocks/>
          </p:cNvCxnSpPr>
          <p:nvPr/>
        </p:nvCxnSpPr>
        <p:spPr>
          <a:xfrm>
            <a:off x="4572000" y="4603854"/>
            <a:ext cx="0" cy="543600"/>
          </a:xfrm>
          <a:prstGeom prst="straightConnector1">
            <a:avLst/>
          </a:prstGeom>
          <a:noFill/>
          <a:ln w="28575" cap="flat" cmpd="sng">
            <a:solidFill>
              <a:srgbClr val="0070C0"/>
            </a:solidFill>
            <a:prstDash val="solid"/>
            <a:round/>
            <a:headEnd type="none" w="med" len="med"/>
            <a:tailEnd type="none" w="med" len="med"/>
          </a:ln>
        </p:spPr>
      </p:cxnSp>
    </p:spTree>
    <p:extLst>
      <p:ext uri="{BB962C8B-B14F-4D97-AF65-F5344CB8AC3E}">
        <p14:creationId xmlns:p14="http://schemas.microsoft.com/office/powerpoint/2010/main" val="160612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0070C0"/>
                </a:solidFill>
              </a:rPr>
              <a:t>Logistik – Allgemeines</a:t>
            </a:r>
            <a:endParaRPr dirty="0">
              <a:solidFill>
                <a:srgbClr val="0070C0"/>
              </a:solidFill>
            </a:endParaRPr>
          </a:p>
        </p:txBody>
      </p:sp>
      <p:cxnSp>
        <p:nvCxnSpPr>
          <p:cNvPr id="425" name="Google Shape;425;p43"/>
          <p:cNvCxnSpPr/>
          <p:nvPr/>
        </p:nvCxnSpPr>
        <p:spPr>
          <a:xfrm>
            <a:off x="929975" y="0"/>
            <a:ext cx="0" cy="534600"/>
          </a:xfrm>
          <a:prstGeom prst="straightConnector1">
            <a:avLst/>
          </a:prstGeom>
          <a:noFill/>
          <a:ln w="28575" cap="flat" cmpd="sng">
            <a:solidFill>
              <a:srgbClr val="0070C0"/>
            </a:solidFill>
            <a:prstDash val="solid"/>
            <a:round/>
            <a:headEnd type="none" w="med" len="med"/>
            <a:tailEnd type="none" w="med" len="med"/>
          </a:ln>
        </p:spPr>
      </p:cxnSp>
      <p:sp>
        <p:nvSpPr>
          <p:cNvPr id="12" name="Textfeld 11">
            <a:extLst>
              <a:ext uri="{FF2B5EF4-FFF2-40B4-BE49-F238E27FC236}">
                <a16:creationId xmlns:a16="http://schemas.microsoft.com/office/drawing/2014/main" id="{674D23B0-D8C6-B248-9826-2D2E240188B4}"/>
              </a:ext>
            </a:extLst>
          </p:cNvPr>
          <p:cNvSpPr txBox="1"/>
          <p:nvPr/>
        </p:nvSpPr>
        <p:spPr>
          <a:xfrm>
            <a:off x="720126" y="1262695"/>
            <a:ext cx="3852125" cy="400110"/>
          </a:xfrm>
          <a:prstGeom prst="rect">
            <a:avLst/>
          </a:prstGeom>
          <a:noFill/>
        </p:spPr>
        <p:txBody>
          <a:bodyPr wrap="square" rtlCol="0">
            <a:spAutoFit/>
          </a:bodyPr>
          <a:lstStyle/>
          <a:p>
            <a:r>
              <a:rPr lang="de-DE" sz="2000" dirty="0">
                <a:solidFill>
                  <a:srgbClr val="0070C0"/>
                </a:solidFill>
                <a:latin typeface="Urbanist" panose="020B0604020202020204" charset="0"/>
                <a:ea typeface="Roboto" panose="02000000000000000000" pitchFamily="2" charset="0"/>
                <a:cs typeface="Urbanist" panose="020B0604020202020204" charset="0"/>
              </a:rPr>
              <a:t>Spediteur</a:t>
            </a:r>
            <a:endParaRPr lang="de-DE" dirty="0">
              <a:solidFill>
                <a:srgbClr val="0070C0"/>
              </a:solidFill>
              <a:latin typeface="Urbanist" panose="020B0604020202020204" charset="0"/>
              <a:ea typeface="Roboto" panose="02000000000000000000" pitchFamily="2" charset="0"/>
              <a:cs typeface="Urbanist" panose="020B0604020202020204" charset="0"/>
            </a:endParaRPr>
          </a:p>
        </p:txBody>
      </p:sp>
      <p:sp>
        <p:nvSpPr>
          <p:cNvPr id="13" name="Textfeld 12">
            <a:extLst>
              <a:ext uri="{FF2B5EF4-FFF2-40B4-BE49-F238E27FC236}">
                <a16:creationId xmlns:a16="http://schemas.microsoft.com/office/drawing/2014/main" id="{A29954DD-98BF-4694-6F15-010D92A04844}"/>
              </a:ext>
            </a:extLst>
          </p:cNvPr>
          <p:cNvSpPr txBox="1"/>
          <p:nvPr/>
        </p:nvSpPr>
        <p:spPr>
          <a:xfrm>
            <a:off x="720001" y="2369256"/>
            <a:ext cx="3852125" cy="400110"/>
          </a:xfrm>
          <a:prstGeom prst="rect">
            <a:avLst/>
          </a:prstGeom>
          <a:noFill/>
        </p:spPr>
        <p:txBody>
          <a:bodyPr wrap="square" rtlCol="0">
            <a:spAutoFit/>
          </a:bodyPr>
          <a:lstStyle/>
          <a:p>
            <a:r>
              <a:rPr lang="de-DE" sz="2000" dirty="0">
                <a:solidFill>
                  <a:srgbClr val="0070C0"/>
                </a:solidFill>
                <a:latin typeface="Urbanist" panose="020B0604020202020204" charset="0"/>
                <a:ea typeface="Roboto" panose="02000000000000000000" pitchFamily="2" charset="0"/>
                <a:cs typeface="Urbanist" panose="020B0604020202020204" charset="0"/>
              </a:rPr>
              <a:t>Große Warenbewegungen</a:t>
            </a:r>
          </a:p>
        </p:txBody>
      </p:sp>
      <p:sp>
        <p:nvSpPr>
          <p:cNvPr id="14" name="Textfeld 13">
            <a:extLst>
              <a:ext uri="{FF2B5EF4-FFF2-40B4-BE49-F238E27FC236}">
                <a16:creationId xmlns:a16="http://schemas.microsoft.com/office/drawing/2014/main" id="{5DAF14B9-ECF7-905A-4AB1-DDB633C6A464}"/>
              </a:ext>
            </a:extLst>
          </p:cNvPr>
          <p:cNvSpPr txBox="1"/>
          <p:nvPr/>
        </p:nvSpPr>
        <p:spPr>
          <a:xfrm>
            <a:off x="720000" y="3420437"/>
            <a:ext cx="3852125" cy="400110"/>
          </a:xfrm>
          <a:prstGeom prst="rect">
            <a:avLst/>
          </a:prstGeom>
          <a:noFill/>
        </p:spPr>
        <p:txBody>
          <a:bodyPr wrap="square" rtlCol="0">
            <a:spAutoFit/>
          </a:bodyPr>
          <a:lstStyle/>
          <a:p>
            <a:r>
              <a:rPr lang="de-DE" sz="2000" dirty="0">
                <a:solidFill>
                  <a:srgbClr val="0070C0"/>
                </a:solidFill>
                <a:latin typeface="Urbanist" panose="020B0604020202020204" charset="0"/>
                <a:ea typeface="Roboto" panose="02000000000000000000" pitchFamily="2" charset="0"/>
                <a:cs typeface="Urbanist" panose="020B0604020202020204" charset="0"/>
              </a:rPr>
              <a:t>Kleine Warenbewegungen</a:t>
            </a:r>
          </a:p>
        </p:txBody>
      </p:sp>
      <p:sp>
        <p:nvSpPr>
          <p:cNvPr id="16" name="Textfeld 15">
            <a:extLst>
              <a:ext uri="{FF2B5EF4-FFF2-40B4-BE49-F238E27FC236}">
                <a16:creationId xmlns:a16="http://schemas.microsoft.com/office/drawing/2014/main" id="{2EFA49D0-5BC1-B37D-35BC-47CFAF5BB3E1}"/>
              </a:ext>
            </a:extLst>
          </p:cNvPr>
          <p:cNvSpPr txBox="1"/>
          <p:nvPr/>
        </p:nvSpPr>
        <p:spPr>
          <a:xfrm>
            <a:off x="720000" y="1588939"/>
            <a:ext cx="1725152" cy="584775"/>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Transport</a:t>
            </a:r>
          </a:p>
          <a:p>
            <a:r>
              <a:rPr lang="de-DE" sz="1600" dirty="0">
                <a:latin typeface="Roboto" panose="02000000000000000000" pitchFamily="2" charset="0"/>
                <a:ea typeface="Roboto" panose="02000000000000000000" pitchFamily="2" charset="0"/>
                <a:cs typeface="Roboto" panose="02000000000000000000" pitchFamily="2" charset="0"/>
              </a:rPr>
              <a:t>Nebenleistungen</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7" name="Textfeld 16">
            <a:extLst>
              <a:ext uri="{FF2B5EF4-FFF2-40B4-BE49-F238E27FC236}">
                <a16:creationId xmlns:a16="http://schemas.microsoft.com/office/drawing/2014/main" id="{C30FBE6F-FF87-28B0-9E64-6528507B6420}"/>
              </a:ext>
            </a:extLst>
          </p:cNvPr>
          <p:cNvSpPr txBox="1"/>
          <p:nvPr/>
        </p:nvSpPr>
        <p:spPr>
          <a:xfrm>
            <a:off x="720000" y="2689324"/>
            <a:ext cx="1055097" cy="584775"/>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Zoll</a:t>
            </a:r>
          </a:p>
          <a:p>
            <a:r>
              <a:rPr lang="de-DE" sz="1600" dirty="0">
                <a:latin typeface="Roboto" panose="02000000000000000000" pitchFamily="2" charset="0"/>
                <a:ea typeface="Roboto" panose="02000000000000000000" pitchFamily="2" charset="0"/>
                <a:cs typeface="Roboto" panose="02000000000000000000" pitchFamily="2" charset="0"/>
              </a:rPr>
              <a:t>Spediteur</a:t>
            </a:r>
            <a:endParaRPr lang="de-DE" dirty="0">
              <a:latin typeface="Roboto" panose="02000000000000000000" pitchFamily="2" charset="0"/>
              <a:ea typeface="Roboto" panose="02000000000000000000" pitchFamily="2" charset="0"/>
              <a:cs typeface="Roboto" panose="02000000000000000000" pitchFamily="2" charset="0"/>
            </a:endParaRPr>
          </a:p>
        </p:txBody>
      </p:sp>
      <p:sp>
        <p:nvSpPr>
          <p:cNvPr id="18" name="Textfeld 17">
            <a:extLst>
              <a:ext uri="{FF2B5EF4-FFF2-40B4-BE49-F238E27FC236}">
                <a16:creationId xmlns:a16="http://schemas.microsoft.com/office/drawing/2014/main" id="{7510E990-8BA9-BCFD-4CA7-CA114810B45D}"/>
              </a:ext>
            </a:extLst>
          </p:cNvPr>
          <p:cNvSpPr txBox="1"/>
          <p:nvPr/>
        </p:nvSpPr>
        <p:spPr>
          <a:xfrm>
            <a:off x="720000" y="3734329"/>
            <a:ext cx="2223686" cy="584775"/>
          </a:xfrm>
          <a:prstGeom prst="rect">
            <a:avLst/>
          </a:prstGeom>
          <a:noFill/>
        </p:spPr>
        <p:txBody>
          <a:bodyPr wrap="none" rtlCol="0">
            <a:spAutoFit/>
          </a:bodyPr>
          <a:lstStyle/>
          <a:p>
            <a:r>
              <a:rPr lang="de-DE" sz="1600" dirty="0">
                <a:latin typeface="Roboto" panose="02000000000000000000" pitchFamily="2" charset="0"/>
                <a:ea typeface="Roboto" panose="02000000000000000000" pitchFamily="2" charset="0"/>
                <a:cs typeface="Roboto" panose="02000000000000000000" pitchFamily="2" charset="0"/>
              </a:rPr>
              <a:t>Kein Zoll</a:t>
            </a:r>
          </a:p>
          <a:p>
            <a:r>
              <a:rPr lang="de-DE" sz="1600" dirty="0">
                <a:latin typeface="Roboto" panose="02000000000000000000" pitchFamily="2" charset="0"/>
                <a:ea typeface="Roboto" panose="02000000000000000000" pitchFamily="2" charset="0"/>
                <a:cs typeface="Roboto" panose="02000000000000000000" pitchFamily="2" charset="0"/>
              </a:rPr>
              <a:t>Einfache Paketdienste</a:t>
            </a:r>
            <a:endParaRPr lang="de-DE"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686288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720000" y="3979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Logistik – Darstellung</a:t>
            </a:r>
            <a:endParaRPr dirty="0">
              <a:solidFill>
                <a:srgbClr val="0070C0"/>
              </a:solidFill>
            </a:endParaRPr>
          </a:p>
        </p:txBody>
      </p:sp>
      <p:pic>
        <p:nvPicPr>
          <p:cNvPr id="3" name="Grafik 2">
            <a:extLst>
              <a:ext uri="{FF2B5EF4-FFF2-40B4-BE49-F238E27FC236}">
                <a16:creationId xmlns:a16="http://schemas.microsoft.com/office/drawing/2014/main" id="{9A7B55FA-9269-F539-9409-D697638A6103}"/>
              </a:ext>
            </a:extLst>
          </p:cNvPr>
          <p:cNvPicPr>
            <a:picLocks noChangeAspect="1"/>
          </p:cNvPicPr>
          <p:nvPr/>
        </p:nvPicPr>
        <p:blipFill>
          <a:blip r:embed="rId3"/>
          <a:stretch>
            <a:fillRect/>
          </a:stretch>
        </p:blipFill>
        <p:spPr>
          <a:xfrm>
            <a:off x="1706906" y="1171774"/>
            <a:ext cx="5730188" cy="3376718"/>
          </a:xfrm>
          <a:prstGeom prst="rect">
            <a:avLst/>
          </a:prstGeom>
        </p:spPr>
      </p:pic>
    </p:spTree>
    <p:extLst>
      <p:ext uri="{BB962C8B-B14F-4D97-AF65-F5344CB8AC3E}">
        <p14:creationId xmlns:p14="http://schemas.microsoft.com/office/powerpoint/2010/main" val="3103008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720000" y="3979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Logistik – Onlinehandel</a:t>
            </a:r>
            <a:endParaRPr dirty="0">
              <a:solidFill>
                <a:srgbClr val="0070C0"/>
              </a:solidFill>
            </a:endParaRPr>
          </a:p>
        </p:txBody>
      </p:sp>
      <p:pic>
        <p:nvPicPr>
          <p:cNvPr id="2" name="Inhaltsplatzhalter 3" descr="Ein Bild, das Screenshot, Diagramm, Design enthält.&#10;&#10;Automatisch generierte Beschreibung">
            <a:extLst>
              <a:ext uri="{FF2B5EF4-FFF2-40B4-BE49-F238E27FC236}">
                <a16:creationId xmlns:a16="http://schemas.microsoft.com/office/drawing/2014/main" id="{A0B1F9FD-5283-FB08-7215-680C793CAF71}"/>
              </a:ext>
            </a:extLst>
          </p:cNvPr>
          <p:cNvPicPr>
            <a:picLocks noChangeAspect="1"/>
          </p:cNvPicPr>
          <p:nvPr/>
        </p:nvPicPr>
        <p:blipFill>
          <a:blip r:embed="rId3"/>
          <a:stretch>
            <a:fillRect/>
          </a:stretch>
        </p:blipFill>
        <p:spPr>
          <a:xfrm>
            <a:off x="1987873" y="1145540"/>
            <a:ext cx="5168254" cy="3600000"/>
          </a:xfrm>
          <a:prstGeom prst="rect">
            <a:avLst/>
          </a:prstGeom>
          <a:noFill/>
          <a:ln>
            <a:noFill/>
          </a:ln>
        </p:spPr>
      </p:pic>
    </p:spTree>
    <p:extLst>
      <p:ext uri="{BB962C8B-B14F-4D97-AF65-F5344CB8AC3E}">
        <p14:creationId xmlns:p14="http://schemas.microsoft.com/office/powerpoint/2010/main" val="18405329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251EB2-B839-A4C2-669C-FF0251B4A565}"/>
              </a:ext>
            </a:extLst>
          </p:cNvPr>
          <p:cNvSpPr>
            <a:spLocks noGrp="1"/>
          </p:cNvSpPr>
          <p:nvPr>
            <p:ph type="title"/>
          </p:nvPr>
        </p:nvSpPr>
        <p:spPr/>
        <p:txBody>
          <a:bodyPr/>
          <a:lstStyle/>
          <a:p>
            <a:r>
              <a:rPr lang="de-DE" dirty="0">
                <a:solidFill>
                  <a:srgbClr val="0070C0"/>
                </a:solidFill>
              </a:rPr>
              <a:t>Logistik – Rücksendungen</a:t>
            </a:r>
          </a:p>
        </p:txBody>
      </p:sp>
      <p:sp>
        <p:nvSpPr>
          <p:cNvPr id="3" name="Untertitel 2">
            <a:extLst>
              <a:ext uri="{FF2B5EF4-FFF2-40B4-BE49-F238E27FC236}">
                <a16:creationId xmlns:a16="http://schemas.microsoft.com/office/drawing/2014/main" id="{1056890B-3D20-1BCE-1F9B-8B0F6F8B8280}"/>
              </a:ext>
            </a:extLst>
          </p:cNvPr>
          <p:cNvSpPr>
            <a:spLocks noGrp="1"/>
          </p:cNvSpPr>
          <p:nvPr>
            <p:ph type="subTitle" idx="1"/>
          </p:nvPr>
        </p:nvSpPr>
        <p:spPr/>
        <p:txBody>
          <a:bodyPr/>
          <a:lstStyle/>
          <a:p>
            <a:endParaRPr lang="de-DE" dirty="0"/>
          </a:p>
        </p:txBody>
      </p:sp>
      <p:sp>
        <p:nvSpPr>
          <p:cNvPr id="4" name="Untertitel 3">
            <a:extLst>
              <a:ext uri="{FF2B5EF4-FFF2-40B4-BE49-F238E27FC236}">
                <a16:creationId xmlns:a16="http://schemas.microsoft.com/office/drawing/2014/main" id="{7C21FEAA-5654-743D-E451-38FD6767204F}"/>
              </a:ext>
            </a:extLst>
          </p:cNvPr>
          <p:cNvSpPr>
            <a:spLocks noGrp="1"/>
          </p:cNvSpPr>
          <p:nvPr>
            <p:ph type="subTitle" idx="2"/>
          </p:nvPr>
        </p:nvSpPr>
        <p:spPr/>
        <p:txBody>
          <a:bodyPr/>
          <a:lstStyle/>
          <a:p>
            <a:endParaRPr lang="de-DE" dirty="0"/>
          </a:p>
        </p:txBody>
      </p:sp>
      <p:sp>
        <p:nvSpPr>
          <p:cNvPr id="5" name="Untertitel 4">
            <a:extLst>
              <a:ext uri="{FF2B5EF4-FFF2-40B4-BE49-F238E27FC236}">
                <a16:creationId xmlns:a16="http://schemas.microsoft.com/office/drawing/2014/main" id="{0651E212-7055-22E4-5B4F-F6CA1E64C9EC}"/>
              </a:ext>
            </a:extLst>
          </p:cNvPr>
          <p:cNvSpPr>
            <a:spLocks noGrp="1"/>
          </p:cNvSpPr>
          <p:nvPr>
            <p:ph type="subTitle" idx="3"/>
          </p:nvPr>
        </p:nvSpPr>
        <p:spPr>
          <a:xfrm>
            <a:off x="1286674" y="1274529"/>
            <a:ext cx="2505600" cy="526500"/>
          </a:xfrm>
        </p:spPr>
        <p:txBody>
          <a:bodyPr/>
          <a:lstStyle/>
          <a:p>
            <a:r>
              <a:rPr lang="de-DE" dirty="0">
                <a:solidFill>
                  <a:srgbClr val="0070C0"/>
                </a:solidFill>
              </a:rPr>
              <a:t>Basic / Trending</a:t>
            </a:r>
          </a:p>
        </p:txBody>
      </p:sp>
      <p:sp>
        <p:nvSpPr>
          <p:cNvPr id="6" name="Untertitel 5">
            <a:extLst>
              <a:ext uri="{FF2B5EF4-FFF2-40B4-BE49-F238E27FC236}">
                <a16:creationId xmlns:a16="http://schemas.microsoft.com/office/drawing/2014/main" id="{F293D007-D4BE-22B7-283A-F38DFCACC41F}"/>
              </a:ext>
            </a:extLst>
          </p:cNvPr>
          <p:cNvSpPr>
            <a:spLocks noGrp="1"/>
          </p:cNvSpPr>
          <p:nvPr>
            <p:ph type="subTitle" idx="4"/>
          </p:nvPr>
        </p:nvSpPr>
        <p:spPr>
          <a:xfrm>
            <a:off x="5253862" y="1274529"/>
            <a:ext cx="2505600" cy="526500"/>
          </a:xfrm>
        </p:spPr>
        <p:txBody>
          <a:bodyPr/>
          <a:lstStyle/>
          <a:p>
            <a:r>
              <a:rPr lang="de-DE" dirty="0">
                <a:solidFill>
                  <a:srgbClr val="0070C0"/>
                </a:solidFill>
              </a:rPr>
              <a:t>Personal</a:t>
            </a:r>
          </a:p>
        </p:txBody>
      </p:sp>
      <p:pic>
        <p:nvPicPr>
          <p:cNvPr id="7" name="Grafik 6">
            <a:extLst>
              <a:ext uri="{FF2B5EF4-FFF2-40B4-BE49-F238E27FC236}">
                <a16:creationId xmlns:a16="http://schemas.microsoft.com/office/drawing/2014/main" id="{852A5ABD-AA03-59A4-5361-1F26017EDC43}"/>
              </a:ext>
            </a:extLst>
          </p:cNvPr>
          <p:cNvPicPr>
            <a:picLocks noChangeAspect="1"/>
          </p:cNvPicPr>
          <p:nvPr/>
        </p:nvPicPr>
        <p:blipFill>
          <a:blip r:embed="rId2"/>
          <a:stretch>
            <a:fillRect/>
          </a:stretch>
        </p:blipFill>
        <p:spPr>
          <a:xfrm>
            <a:off x="506948" y="1801029"/>
            <a:ext cx="4065052" cy="2758182"/>
          </a:xfrm>
          <a:prstGeom prst="rect">
            <a:avLst/>
          </a:prstGeom>
        </p:spPr>
      </p:pic>
      <p:pic>
        <p:nvPicPr>
          <p:cNvPr id="8" name="Grafik 7">
            <a:extLst>
              <a:ext uri="{FF2B5EF4-FFF2-40B4-BE49-F238E27FC236}">
                <a16:creationId xmlns:a16="http://schemas.microsoft.com/office/drawing/2014/main" id="{31922DF5-A597-60B8-E039-B1AE3FE184E5}"/>
              </a:ext>
            </a:extLst>
          </p:cNvPr>
          <p:cNvPicPr>
            <a:picLocks noChangeAspect="1"/>
          </p:cNvPicPr>
          <p:nvPr/>
        </p:nvPicPr>
        <p:blipFill>
          <a:blip r:embed="rId3"/>
          <a:stretch>
            <a:fillRect/>
          </a:stretch>
        </p:blipFill>
        <p:spPr>
          <a:xfrm>
            <a:off x="4572000" y="1801029"/>
            <a:ext cx="4200599" cy="2758182"/>
          </a:xfrm>
          <a:prstGeom prst="rect">
            <a:avLst/>
          </a:prstGeom>
        </p:spPr>
      </p:pic>
    </p:spTree>
    <p:extLst>
      <p:ext uri="{BB962C8B-B14F-4D97-AF65-F5344CB8AC3E}">
        <p14:creationId xmlns:p14="http://schemas.microsoft.com/office/powerpoint/2010/main" val="582055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Logistik – stationärer Handel</a:t>
            </a:r>
            <a:endParaRPr dirty="0">
              <a:solidFill>
                <a:srgbClr val="0070C0"/>
              </a:solidFill>
            </a:endParaRPr>
          </a:p>
        </p:txBody>
      </p:sp>
      <p:sp>
        <p:nvSpPr>
          <p:cNvPr id="279" name="Google Shape;279;p34"/>
          <p:cNvSpPr txBox="1">
            <a:spLocks noGrp="1"/>
          </p:cNvSpPr>
          <p:nvPr>
            <p:ph type="subTitle" idx="1"/>
          </p:nvPr>
        </p:nvSpPr>
        <p:spPr>
          <a:xfrm>
            <a:off x="121494" y="2574452"/>
            <a:ext cx="3002976" cy="1163400"/>
          </a:xfrm>
          <a:prstGeom prst="rect">
            <a:avLst/>
          </a:prstGeom>
        </p:spPr>
        <p:txBody>
          <a:bodyPr spcFirstLastPara="1" wrap="square" lIns="91425" tIns="91425" rIns="91425" bIns="91425" anchor="t" anchorCtr="0">
            <a:noAutofit/>
          </a:bodyPr>
          <a:lstStyle/>
          <a:p>
            <a:pPr marL="742950" lvl="1" indent="-285750" algn="l">
              <a:buClrTx/>
              <a:buFont typeface="Arial" panose="020B0604020202020204" pitchFamily="34" charset="0"/>
              <a:buChar char="•"/>
            </a:pPr>
            <a:r>
              <a:rPr lang="de-DE" sz="1400" dirty="0">
                <a:solidFill>
                  <a:srgbClr val="000000"/>
                </a:solidFill>
              </a:rPr>
              <a:t>Eigener Verkaufsraum</a:t>
            </a:r>
          </a:p>
          <a:p>
            <a:pPr marL="742950" lvl="1" indent="-285750" algn="l">
              <a:buClrTx/>
              <a:buFont typeface="Arial" panose="020B0604020202020204" pitchFamily="34" charset="0"/>
              <a:buChar char="•"/>
            </a:pPr>
            <a:r>
              <a:rPr lang="de-DE" sz="1400" dirty="0">
                <a:solidFill>
                  <a:srgbClr val="000000"/>
                </a:solidFill>
              </a:rPr>
              <a:t>Bedrucken als Showeffekt</a:t>
            </a:r>
          </a:p>
          <a:p>
            <a:pPr marL="742950" lvl="1" indent="-285750" algn="l">
              <a:buClrTx/>
              <a:buFont typeface="Arial" panose="020B0604020202020204" pitchFamily="34" charset="0"/>
              <a:buChar char="•"/>
            </a:pPr>
            <a:r>
              <a:rPr lang="de-DE" sz="1400" dirty="0">
                <a:solidFill>
                  <a:srgbClr val="000000"/>
                </a:solidFill>
              </a:rPr>
              <a:t>Lagerraum integriert</a:t>
            </a:r>
            <a:endParaRPr sz="1400" dirty="0">
              <a:solidFill>
                <a:srgbClr val="000000"/>
              </a:solidFill>
            </a:endParaRPr>
          </a:p>
        </p:txBody>
      </p:sp>
      <p:sp>
        <p:nvSpPr>
          <p:cNvPr id="280" name="Google Shape;280;p34"/>
          <p:cNvSpPr txBox="1">
            <a:spLocks noGrp="1"/>
          </p:cNvSpPr>
          <p:nvPr>
            <p:ph type="subTitle" idx="2"/>
          </p:nvPr>
        </p:nvSpPr>
        <p:spPr>
          <a:xfrm>
            <a:off x="3124470" y="2574452"/>
            <a:ext cx="2563080" cy="1163400"/>
          </a:xfrm>
          <a:prstGeom prst="rect">
            <a:avLst/>
          </a:prstGeom>
        </p:spPr>
        <p:txBody>
          <a:bodyPr spcFirstLastPara="1" wrap="square" lIns="91425" tIns="91425" rIns="91425" bIns="91425" anchor="t" anchorCtr="0">
            <a:noAutofit/>
          </a:bodyPr>
          <a:lstStyle/>
          <a:p>
            <a:pPr marL="742950" lvl="1" indent="-285750" algn="l">
              <a:buClrTx/>
              <a:buFont typeface="Arial" panose="020B0604020202020204" pitchFamily="34" charset="0"/>
              <a:buChar char="•"/>
            </a:pPr>
            <a:r>
              <a:rPr lang="de-DE" sz="1400" dirty="0">
                <a:solidFill>
                  <a:srgbClr val="000000"/>
                </a:solidFill>
              </a:rPr>
              <a:t>Gutbesuchte Plätze</a:t>
            </a:r>
          </a:p>
          <a:p>
            <a:pPr marL="742950" lvl="1" indent="-285750" algn="l">
              <a:buClrTx/>
              <a:buFont typeface="Arial" panose="020B0604020202020204" pitchFamily="34" charset="0"/>
              <a:buChar char="•"/>
            </a:pPr>
            <a:r>
              <a:rPr lang="de-DE" sz="1400" dirty="0">
                <a:solidFill>
                  <a:srgbClr val="000000"/>
                </a:solidFill>
              </a:rPr>
              <a:t>Geringere Kosten</a:t>
            </a:r>
          </a:p>
          <a:p>
            <a:pPr marL="457200" lvl="1" indent="0" algn="l">
              <a:buClrTx/>
            </a:pPr>
            <a:endParaRPr lang="de-DE" sz="1400" dirty="0">
              <a:solidFill>
                <a:srgbClr val="000000"/>
              </a:solidFill>
            </a:endParaRPr>
          </a:p>
        </p:txBody>
      </p:sp>
      <p:sp>
        <p:nvSpPr>
          <p:cNvPr id="283" name="Google Shape;283;p34"/>
          <p:cNvSpPr txBox="1">
            <a:spLocks noGrp="1"/>
          </p:cNvSpPr>
          <p:nvPr>
            <p:ph type="subTitle" idx="7"/>
          </p:nvPr>
        </p:nvSpPr>
        <p:spPr>
          <a:xfrm>
            <a:off x="446682" y="1837803"/>
            <a:ext cx="22335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Geschäft</a:t>
            </a:r>
            <a:endParaRPr dirty="0">
              <a:solidFill>
                <a:srgbClr val="0070C0"/>
              </a:solidFill>
            </a:endParaRPr>
          </a:p>
        </p:txBody>
      </p:sp>
      <p:sp>
        <p:nvSpPr>
          <p:cNvPr id="284" name="Google Shape;284;p34"/>
          <p:cNvSpPr txBox="1">
            <a:spLocks noGrp="1"/>
          </p:cNvSpPr>
          <p:nvPr>
            <p:ph type="subTitle" idx="8"/>
          </p:nvPr>
        </p:nvSpPr>
        <p:spPr>
          <a:xfrm>
            <a:off x="3290460" y="1837803"/>
            <a:ext cx="256308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Verkaufsautomaten</a:t>
            </a:r>
            <a:endParaRPr dirty="0">
              <a:solidFill>
                <a:srgbClr val="0070C0"/>
              </a:solidFill>
            </a:endParaRPr>
          </a:p>
        </p:txBody>
      </p:sp>
      <p:sp>
        <p:nvSpPr>
          <p:cNvPr id="285" name="Google Shape;285;p34"/>
          <p:cNvSpPr txBox="1">
            <a:spLocks noGrp="1"/>
          </p:cNvSpPr>
          <p:nvPr>
            <p:ph type="subTitle" idx="9"/>
          </p:nvPr>
        </p:nvSpPr>
        <p:spPr>
          <a:xfrm>
            <a:off x="6107371" y="1837803"/>
            <a:ext cx="2231100" cy="495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0070C0"/>
                </a:solidFill>
              </a:rPr>
              <a:t>Kombination</a:t>
            </a:r>
            <a:endParaRPr dirty="0">
              <a:solidFill>
                <a:srgbClr val="0070C0"/>
              </a:solidFill>
            </a:endParaRPr>
          </a:p>
        </p:txBody>
      </p:sp>
      <p:sp>
        <p:nvSpPr>
          <p:cNvPr id="286" name="Google Shape;286;p34"/>
          <p:cNvSpPr txBox="1">
            <a:spLocks noGrp="1"/>
          </p:cNvSpPr>
          <p:nvPr>
            <p:ph type="subTitle" idx="5"/>
          </p:nvPr>
        </p:nvSpPr>
        <p:spPr>
          <a:xfrm>
            <a:off x="5915707" y="2574452"/>
            <a:ext cx="2614429" cy="1163400"/>
          </a:xfrm>
          <a:prstGeom prst="rect">
            <a:avLst/>
          </a:prstGeom>
        </p:spPr>
        <p:txBody>
          <a:bodyPr spcFirstLastPara="1" wrap="square" lIns="91425" tIns="91425" rIns="91425" bIns="91425" anchor="t" anchorCtr="0">
            <a:noAutofit/>
          </a:bodyPr>
          <a:lstStyle/>
          <a:p>
            <a:pPr marL="742950" lvl="1" indent="-285750" algn="l">
              <a:buClrTx/>
              <a:buFont typeface="Arial" panose="020B0604020202020204" pitchFamily="34" charset="0"/>
              <a:buChar char="•"/>
            </a:pPr>
            <a:r>
              <a:rPr lang="de-DE" sz="1400" dirty="0">
                <a:solidFill>
                  <a:srgbClr val="000000"/>
                </a:solidFill>
              </a:rPr>
              <a:t>Geschäft</a:t>
            </a:r>
          </a:p>
          <a:p>
            <a:pPr marL="742950" lvl="1" indent="-285750" algn="l">
              <a:buClrTx/>
              <a:buFont typeface="Arial" panose="020B0604020202020204" pitchFamily="34" charset="0"/>
              <a:buChar char="•"/>
            </a:pPr>
            <a:r>
              <a:rPr lang="de-DE" sz="1400" dirty="0">
                <a:solidFill>
                  <a:srgbClr val="000000"/>
                </a:solidFill>
              </a:rPr>
              <a:t>Verkaufsautomaten</a:t>
            </a:r>
          </a:p>
        </p:txBody>
      </p:sp>
      <p:cxnSp>
        <p:nvCxnSpPr>
          <p:cNvPr id="291" name="Google Shape;291;p34"/>
          <p:cNvCxnSpPr>
            <a:endCxn id="278" idx="0"/>
          </p:cNvCxnSpPr>
          <p:nvPr/>
        </p:nvCxnSpPr>
        <p:spPr>
          <a:xfrm>
            <a:off x="4572000" y="-45475"/>
            <a:ext cx="0" cy="490500"/>
          </a:xfrm>
          <a:prstGeom prst="straightConnector1">
            <a:avLst/>
          </a:prstGeom>
          <a:noFill/>
          <a:ln w="28575" cap="flat" cmpd="sng">
            <a:solidFill>
              <a:srgbClr val="0070C0"/>
            </a:solidFill>
            <a:prstDash val="solid"/>
            <a:round/>
            <a:headEnd type="none" w="med" len="med"/>
            <a:tailEnd type="none" w="med" len="med"/>
          </a:ln>
        </p:spPr>
      </p:cxnSp>
      <p:cxnSp>
        <p:nvCxnSpPr>
          <p:cNvPr id="292" name="Google Shape;292;p34"/>
          <p:cNvCxnSpPr>
            <a:cxnSpLocks/>
          </p:cNvCxnSpPr>
          <p:nvPr/>
        </p:nvCxnSpPr>
        <p:spPr>
          <a:xfrm>
            <a:off x="4572000" y="4603854"/>
            <a:ext cx="0" cy="543600"/>
          </a:xfrm>
          <a:prstGeom prst="straightConnector1">
            <a:avLst/>
          </a:prstGeom>
          <a:noFill/>
          <a:ln w="28575" cap="flat" cmpd="sng">
            <a:solidFill>
              <a:srgbClr val="0070C0"/>
            </a:solidFill>
            <a:prstDash val="solid"/>
            <a:round/>
            <a:headEnd type="none" w="med" len="med"/>
            <a:tailEnd type="none" w="med" len="med"/>
          </a:ln>
        </p:spPr>
      </p:cxnSp>
    </p:spTree>
    <p:extLst>
      <p:ext uri="{BB962C8B-B14F-4D97-AF65-F5344CB8AC3E}">
        <p14:creationId xmlns:p14="http://schemas.microsoft.com/office/powerpoint/2010/main" val="266947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720000" y="39796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70C0"/>
                </a:solidFill>
              </a:rPr>
              <a:t>Logistik – stationärer Handel</a:t>
            </a:r>
            <a:endParaRPr dirty="0">
              <a:solidFill>
                <a:srgbClr val="0070C0"/>
              </a:solidFill>
            </a:endParaRPr>
          </a:p>
        </p:txBody>
      </p:sp>
      <p:pic>
        <p:nvPicPr>
          <p:cNvPr id="3" name="Inhaltsplatzhalter 3" descr="Ein Bild, das Diagramm, Text, Plan, Screenshot enthält.&#10;&#10;Automatisch generierte Beschreibung">
            <a:extLst>
              <a:ext uri="{FF2B5EF4-FFF2-40B4-BE49-F238E27FC236}">
                <a16:creationId xmlns:a16="http://schemas.microsoft.com/office/drawing/2014/main" id="{103AF760-5B70-E44F-B809-177D68C58333}"/>
              </a:ext>
            </a:extLst>
          </p:cNvPr>
          <p:cNvPicPr>
            <a:picLocks noChangeAspect="1"/>
          </p:cNvPicPr>
          <p:nvPr/>
        </p:nvPicPr>
        <p:blipFill>
          <a:blip r:embed="rId3"/>
          <a:stretch>
            <a:fillRect/>
          </a:stretch>
        </p:blipFill>
        <p:spPr>
          <a:xfrm>
            <a:off x="1912081" y="1145540"/>
            <a:ext cx="5319837" cy="3600000"/>
          </a:xfrm>
          <a:prstGeom prst="rect">
            <a:avLst/>
          </a:prstGeom>
          <a:noFill/>
          <a:ln>
            <a:noFill/>
          </a:ln>
        </p:spPr>
      </p:pic>
    </p:spTree>
    <p:extLst>
      <p:ext uri="{BB962C8B-B14F-4D97-AF65-F5344CB8AC3E}">
        <p14:creationId xmlns:p14="http://schemas.microsoft.com/office/powerpoint/2010/main" val="2815983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6"/>
          <p:cNvSpPr/>
          <p:nvPr/>
        </p:nvSpPr>
        <p:spPr>
          <a:xfrm>
            <a:off x="2230100" y="295950"/>
            <a:ext cx="4683900" cy="4710300"/>
          </a:xfrm>
          <a:prstGeom prst="ellipse">
            <a:avLst/>
          </a:prstGeom>
          <a:solidFill>
            <a:srgbClr val="EAEE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0" name="Google Shape;130;p26"/>
          <p:cNvSpPr txBox="1">
            <a:spLocks noGrp="1"/>
          </p:cNvSpPr>
          <p:nvPr>
            <p:ph type="ctrTitle"/>
          </p:nvPr>
        </p:nvSpPr>
        <p:spPr>
          <a:xfrm>
            <a:off x="1179876" y="1696877"/>
            <a:ext cx="6784200" cy="1749746"/>
          </a:xfrm>
          <a:prstGeom prst="rect">
            <a:avLst/>
          </a:prstGeom>
          <a:noFill/>
        </p:spPr>
        <p:txBody>
          <a:bodyPr spcFirstLastPara="1" wrap="square" lIns="91425" tIns="91425" rIns="91425" bIns="91425" anchor="b" anchorCtr="0">
            <a:noAutofit/>
          </a:bodyPr>
          <a:lstStyle/>
          <a:p>
            <a:pPr marL="0" lvl="0" indent="0" algn="ctr" rtl="0">
              <a:spcBef>
                <a:spcPts val="0"/>
              </a:spcBef>
              <a:spcAft>
                <a:spcPts val="0"/>
              </a:spcAft>
              <a:buNone/>
            </a:pPr>
            <a:r>
              <a:rPr lang="en" sz="5400" dirty="0">
                <a:solidFill>
                  <a:srgbClr val="0070C0"/>
                </a:solidFill>
              </a:rPr>
              <a:t>Vielen Dank für Ihre Aufmerksamkeit</a:t>
            </a:r>
            <a:endParaRPr lang="en-US" sz="5400" dirty="0">
              <a:solidFill>
                <a:srgbClr val="0070C0"/>
              </a:solidFill>
            </a:endParaRPr>
          </a:p>
        </p:txBody>
      </p:sp>
      <p:cxnSp>
        <p:nvCxnSpPr>
          <p:cNvPr id="132" name="Google Shape;132;p26"/>
          <p:cNvCxnSpPr>
            <a:cxnSpLocks/>
          </p:cNvCxnSpPr>
          <p:nvPr/>
        </p:nvCxnSpPr>
        <p:spPr>
          <a:xfrm>
            <a:off x="4571975" y="0"/>
            <a:ext cx="0" cy="1171200"/>
          </a:xfrm>
          <a:prstGeom prst="straightConnector1">
            <a:avLst/>
          </a:prstGeom>
          <a:noFill/>
          <a:ln w="28575" cap="flat" cmpd="sng">
            <a:solidFill>
              <a:srgbClr val="0070C0"/>
            </a:solidFill>
            <a:prstDash val="solid"/>
            <a:round/>
            <a:headEnd type="none" w="med" len="med"/>
            <a:tailEnd type="none" w="med" len="med"/>
          </a:ln>
        </p:spPr>
      </p:cxnSp>
    </p:spTree>
    <p:extLst>
      <p:ext uri="{BB962C8B-B14F-4D97-AF65-F5344CB8AC3E}">
        <p14:creationId xmlns:p14="http://schemas.microsoft.com/office/powerpoint/2010/main" val="4219190040"/>
      </p:ext>
    </p:extLst>
  </p:cSld>
  <p:clrMapOvr>
    <a:masterClrMapping/>
  </p:clrMapOvr>
</p:sld>
</file>

<file path=ppt/theme/theme1.xml><?xml version="1.0" encoding="utf-8"?>
<a:theme xmlns:a="http://schemas.openxmlformats.org/drawingml/2006/main" name="Pricing Strategies Proposal by Slidesgo">
  <a:themeElements>
    <a:clrScheme name="Simple Light">
      <a:dk1>
        <a:srgbClr val="005E88"/>
      </a:dk1>
      <a:lt1>
        <a:srgbClr val="F3F3F3"/>
      </a:lt1>
      <a:dk2>
        <a:srgbClr val="E8E8E8"/>
      </a:dk2>
      <a:lt2>
        <a:srgbClr val="99B5CE"/>
      </a:lt2>
      <a:accent1>
        <a:srgbClr val="297AB8"/>
      </a:accent1>
      <a:accent2>
        <a:srgbClr val="063C53"/>
      </a:accent2>
      <a:accent3>
        <a:srgbClr val="FFFFFF"/>
      </a:accent3>
      <a:accent4>
        <a:srgbClr val="FFFFFF"/>
      </a:accent4>
      <a:accent5>
        <a:srgbClr val="FFFFFF"/>
      </a:accent5>
      <a:accent6>
        <a:srgbClr val="FFFFFF"/>
      </a:accent6>
      <a:hlink>
        <a:srgbClr val="005E8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imple Light">
    <a:dk1>
      <a:srgbClr val="005E88"/>
    </a:dk1>
    <a:lt1>
      <a:srgbClr val="F3F3F3"/>
    </a:lt1>
    <a:dk2>
      <a:srgbClr val="E8E8E8"/>
    </a:dk2>
    <a:lt2>
      <a:srgbClr val="99B5CE"/>
    </a:lt2>
    <a:accent1>
      <a:srgbClr val="297AB8"/>
    </a:accent1>
    <a:accent2>
      <a:srgbClr val="063C53"/>
    </a:accent2>
    <a:accent3>
      <a:srgbClr val="FFFFFF"/>
    </a:accent3>
    <a:accent4>
      <a:srgbClr val="FFFFFF"/>
    </a:accent4>
    <a:accent5>
      <a:srgbClr val="FFFFFF"/>
    </a:accent5>
    <a:accent6>
      <a:srgbClr val="FFFFFF"/>
    </a:accent6>
    <a:hlink>
      <a:srgbClr val="005E88"/>
    </a:hlink>
    <a:folHlink>
      <a:srgbClr val="0097A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1C71E48BB533F4BACD64BDE71FDC35F" ma:contentTypeVersion="10" ma:contentTypeDescription="Ein neues Dokument erstellen." ma:contentTypeScope="" ma:versionID="e49c3ef81613feaeaff324bd34e82e33">
  <xsd:schema xmlns:xsd="http://www.w3.org/2001/XMLSchema" xmlns:xs="http://www.w3.org/2001/XMLSchema" xmlns:p="http://schemas.microsoft.com/office/2006/metadata/properties" xmlns:ns3="c46c3de9-69df-49ab-b59e-fe59cf17e05c" xmlns:ns4="2ed12f0c-9afe-4e1d-bd85-1c74f327380a" targetNamespace="http://schemas.microsoft.com/office/2006/metadata/properties" ma:root="true" ma:fieldsID="bf54301f7094522d6b64068623cf4bf9" ns3:_="" ns4:_="">
    <xsd:import namespace="c46c3de9-69df-49ab-b59e-fe59cf17e05c"/>
    <xsd:import namespace="2ed12f0c-9afe-4e1d-bd85-1c74f327380a"/>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6c3de9-69df-49ab-b59e-fe59cf17e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d12f0c-9afe-4e1d-bd85-1c74f327380a" elementFormDefault="qualified">
    <xsd:import namespace="http://schemas.microsoft.com/office/2006/documentManagement/types"/>
    <xsd:import namespace="http://schemas.microsoft.com/office/infopath/2007/PartnerControls"/>
    <xsd:element name="SharedWithUsers" ma:index="1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Freigegeben für - Details" ma:internalName="SharedWithDetails" ma:readOnly="true">
      <xsd:simpleType>
        <xsd:restriction base="dms:Note">
          <xsd:maxLength value="255"/>
        </xsd:restriction>
      </xsd:simpleType>
    </xsd:element>
    <xsd:element name="SharingHintHash" ma:index="14"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c46c3de9-69df-49ab-b59e-fe59cf17e05c" xsi:nil="true"/>
  </documentManagement>
</p:properties>
</file>

<file path=customXml/itemProps1.xml><?xml version="1.0" encoding="utf-8"?>
<ds:datastoreItem xmlns:ds="http://schemas.openxmlformats.org/officeDocument/2006/customXml" ds:itemID="{773F03FA-6E11-4658-8BBF-8B6A072BC49B}">
  <ds:schemaRefs>
    <ds:schemaRef ds:uri="2ed12f0c-9afe-4e1d-bd85-1c74f327380a"/>
    <ds:schemaRef ds:uri="c46c3de9-69df-49ab-b59e-fe59cf17e0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DFD16DE-6577-4FA9-9956-4331AC41EF09}">
  <ds:schemaRefs>
    <ds:schemaRef ds:uri="http://schemas.microsoft.com/sharepoint/v3/contenttype/forms"/>
  </ds:schemaRefs>
</ds:datastoreItem>
</file>

<file path=customXml/itemProps3.xml><?xml version="1.0" encoding="utf-8"?>
<ds:datastoreItem xmlns:ds="http://schemas.openxmlformats.org/officeDocument/2006/customXml" ds:itemID="{37348720-FEE9-4214-83C9-F62F903EFE2D}">
  <ds:schemaRefs>
    <ds:schemaRef ds:uri="2ed12f0c-9afe-4e1d-bd85-1c74f327380a"/>
    <ds:schemaRef ds:uri="c46c3de9-69df-49ab-b59e-fe59cf17e05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1482</Words>
  <Application>Microsoft Office PowerPoint</Application>
  <PresentationFormat>Bildschirmpräsentation (16:9)</PresentationFormat>
  <Paragraphs>267</Paragraphs>
  <Slides>31</Slides>
  <Notes>28</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31</vt:i4>
      </vt:variant>
    </vt:vector>
  </HeadingPairs>
  <TitlesOfParts>
    <vt:vector size="38" baseType="lpstr">
      <vt:lpstr>Roboto</vt:lpstr>
      <vt:lpstr>Calibri</vt:lpstr>
      <vt:lpstr>Bebas Neue</vt:lpstr>
      <vt:lpstr>Anaheim</vt:lpstr>
      <vt:lpstr>Arial</vt:lpstr>
      <vt:lpstr>Urbanist</vt:lpstr>
      <vt:lpstr>Pricing Strategies Proposal by Slidesgo</vt:lpstr>
      <vt:lpstr>TechAccessories Recht, Online-Handel und Marketing</vt:lpstr>
      <vt:lpstr>TechAccessories Marketing</vt:lpstr>
      <vt:lpstr>Überblick – Produkte</vt:lpstr>
      <vt:lpstr>Zielgruppe und Zielgruppenanalyse</vt:lpstr>
      <vt:lpstr>Buyers Personas – Basic</vt:lpstr>
      <vt:lpstr>Marketingtools – Allgemein</vt:lpstr>
      <vt:lpstr>Marketingtool – AIDA-Modell</vt:lpstr>
      <vt:lpstr>AIDA-Modell – Trending, online</vt:lpstr>
      <vt:lpstr>Marketingtool – 4P’s</vt:lpstr>
      <vt:lpstr>Marketing-Mix – Basic, stationär</vt:lpstr>
      <vt:lpstr>Vielen Dank für Ihre Aufmerksamkeit</vt:lpstr>
      <vt:lpstr>TechAccessories Rechtliche Grundlagen</vt:lpstr>
      <vt:lpstr>Auswahl der Rechtsformen</vt:lpstr>
      <vt:lpstr>Gegenüberstellung:  Einzelunternehmen und GmbH</vt:lpstr>
      <vt:lpstr>TechAccessories: Online vs Stationär</vt:lpstr>
      <vt:lpstr>Informationspflichten</vt:lpstr>
      <vt:lpstr>Umtausch vs Rücktritt </vt:lpstr>
      <vt:lpstr>Der Kauf </vt:lpstr>
      <vt:lpstr>Vielen Dank für Ihre Aufmerksamkeit</vt:lpstr>
      <vt:lpstr>TechAccessories Online-Handel</vt:lpstr>
      <vt:lpstr>Nutzwertanalyse – Allgemeines</vt:lpstr>
      <vt:lpstr>Nutzwertanalyse – Verkaufsplattform</vt:lpstr>
      <vt:lpstr>Nutzwertanalyse – Trending</vt:lpstr>
      <vt:lpstr>Nutzwertanalyse – Ergebnisse</vt:lpstr>
      <vt:lpstr>Logistik – Allgemeines</vt:lpstr>
      <vt:lpstr>Logistik – Darstellung</vt:lpstr>
      <vt:lpstr>Logistik – Onlinehandel</vt:lpstr>
      <vt:lpstr>Logistik – Rücksendungen</vt:lpstr>
      <vt:lpstr>Logistik – stationärer Handel</vt:lpstr>
      <vt:lpstr>Logistik – stationärer Handel</vt:lpstr>
      <vt:lpstr>Vielen Dank für Ihre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TechAccessories Rechtliche Grundlagen</dc:title>
  <dc:creator>Win 10</dc:creator>
  <cp:lastModifiedBy>Bobchev Eva, SchülerIn</cp:lastModifiedBy>
  <cp:revision>135</cp:revision>
  <dcterms:modified xsi:type="dcterms:W3CDTF">2024-04-23T13:29:18Z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0x010100D1C71E48BB533F4BACD64BDE71FDC35F</vt:lpwstr>
  </property>
</Properties>
</file>